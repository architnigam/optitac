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44f4fef024dc9" /><Relationship Type="http://schemas.openxmlformats.org/officeDocument/2006/relationships/extended-properties" Target="/docProps/app.xml" Id="Rc94e354404cf46ad" /><Relationship Type="http://schemas.openxmlformats.org/officeDocument/2006/relationships/officeDocument" Target="/ppt/presentation.xml" Id="R0c282787b72242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6e28a45a0b41a4"/>
  </p:sldMasterIdLst>
  <p:notesMasterIdLst>
    <p:notesMasterId xmlns:r="http://schemas.openxmlformats.org/officeDocument/2006/relationships" r:id="R3869f913f4e44c12"/>
  </p:notesMasterIdLst>
  <p:sldIdLst>
    <p:sldId xmlns:r="http://schemas.openxmlformats.org/officeDocument/2006/relationships" id="256" r:id="R7f189f70760e4820"/>
    <p:sldId xmlns:r="http://schemas.openxmlformats.org/officeDocument/2006/relationships" id="257" r:id="R1504d19a47554c57"/>
    <p:sldId xmlns:r="http://schemas.openxmlformats.org/officeDocument/2006/relationships" id="258" r:id="R609921c81d6c4e48"/>
    <p:sldId xmlns:r="http://schemas.openxmlformats.org/officeDocument/2006/relationships" id="259" r:id="R19dc04459579462d"/>
    <p:sldId xmlns:r="http://schemas.openxmlformats.org/officeDocument/2006/relationships" id="260" r:id="Rcdde3ae8a9d44361"/>
    <p:sldId xmlns:r="http://schemas.openxmlformats.org/officeDocument/2006/relationships" id="261" r:id="R58def34b43104e72"/>
    <p:sldId xmlns:r="http://schemas.openxmlformats.org/officeDocument/2006/relationships" id="262" r:id="R88efe3898acb4e87"/>
    <p:sldId xmlns:r="http://schemas.openxmlformats.org/officeDocument/2006/relationships" id="263" r:id="Re201910f14f74f9b"/>
    <p:sldId xmlns:r="http://schemas.openxmlformats.org/officeDocument/2006/relationships" id="264" r:id="Ra755c3eaa5574592"/>
    <p:sldId xmlns:r="http://schemas.openxmlformats.org/officeDocument/2006/relationships" id="265" r:id="R8121588a55274d65"/>
    <p:sldId xmlns:r="http://schemas.openxmlformats.org/officeDocument/2006/relationships" id="266" r:id="R2e83898693364309"/>
    <p:sldId xmlns:r="http://schemas.openxmlformats.org/officeDocument/2006/relationships" id="267" r:id="R77b69dd798bf4961"/>
    <p:sldId xmlns:r="http://schemas.openxmlformats.org/officeDocument/2006/relationships" id="268" r:id="R2c52af8d24874418"/>
    <p:sldId xmlns:r="http://schemas.openxmlformats.org/officeDocument/2006/relationships" id="269" r:id="Rbf3eac8c5d424ab0"/>
    <p:sldId xmlns:r="http://schemas.openxmlformats.org/officeDocument/2006/relationships" id="270" r:id="Re5f4f8d04e8d4bd7"/>
    <p:sldId xmlns:r="http://schemas.openxmlformats.org/officeDocument/2006/relationships" id="271" r:id="R3da74744a91f408e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92b32d2eac4c95" /><Relationship Type="http://schemas.openxmlformats.org/officeDocument/2006/relationships/slideMaster" Target="/ppt/slideMasters/slideMaster1.xml" Id="Red6e28a45a0b41a4" /><Relationship Type="http://schemas.openxmlformats.org/officeDocument/2006/relationships/notesMaster" Target="/ppt/notesMasters/notesMaster1.xml" Id="R3869f913f4e44c12" /><Relationship Type="http://schemas.openxmlformats.org/officeDocument/2006/relationships/presProps" Target="/ppt/presProps.xml" Id="R8c7a966862d341ea" /><Relationship Type="http://schemas.openxmlformats.org/officeDocument/2006/relationships/viewProps" Target="/ppt/viewProps.xml" Id="R44d0ea31fee345e6" /><Relationship Type="http://schemas.openxmlformats.org/officeDocument/2006/relationships/tableStyles" Target="/ppt/tableStyles.xml" Id="R2bb04001b2cb4225" /><Relationship Type="http://schemas.openxmlformats.org/officeDocument/2006/relationships/slide" Target="/ppt/slides/slide1.xml" Id="R7f189f70760e4820" /><Relationship Type="http://schemas.openxmlformats.org/officeDocument/2006/relationships/slide" Target="/ppt/slides/slide2.xml" Id="R1504d19a47554c57" /><Relationship Type="http://schemas.openxmlformats.org/officeDocument/2006/relationships/slide" Target="/ppt/slides/slide3.xml" Id="R609921c81d6c4e48" /><Relationship Type="http://schemas.openxmlformats.org/officeDocument/2006/relationships/slide" Target="/ppt/slides/slide4.xml" Id="R19dc04459579462d" /><Relationship Type="http://schemas.openxmlformats.org/officeDocument/2006/relationships/slide" Target="/ppt/slides/slide5.xml" Id="Rcdde3ae8a9d44361" /><Relationship Type="http://schemas.openxmlformats.org/officeDocument/2006/relationships/slide" Target="/ppt/slides/slide6.xml" Id="R58def34b43104e72" /><Relationship Type="http://schemas.openxmlformats.org/officeDocument/2006/relationships/slide" Target="/ppt/slides/slide7.xml" Id="R88efe3898acb4e87" /><Relationship Type="http://schemas.openxmlformats.org/officeDocument/2006/relationships/slide" Target="/ppt/slides/slide8.xml" Id="Re201910f14f74f9b" /><Relationship Type="http://schemas.openxmlformats.org/officeDocument/2006/relationships/slide" Target="/ppt/slides/slide9.xml" Id="Ra755c3eaa5574592" /><Relationship Type="http://schemas.openxmlformats.org/officeDocument/2006/relationships/slide" Target="/ppt/slides/slide10.xml" Id="R8121588a55274d65" /><Relationship Type="http://schemas.openxmlformats.org/officeDocument/2006/relationships/slide" Target="/ppt/slides/slide11.xml" Id="R2e83898693364309" /><Relationship Type="http://schemas.openxmlformats.org/officeDocument/2006/relationships/slide" Target="/ppt/slides/slide12.xml" Id="R77b69dd798bf4961" /><Relationship Type="http://schemas.openxmlformats.org/officeDocument/2006/relationships/slide" Target="/ppt/slides/slide13.xml" Id="R2c52af8d24874418" /><Relationship Type="http://schemas.openxmlformats.org/officeDocument/2006/relationships/slide" Target="/ppt/slides/slide14.xml" Id="Rbf3eac8c5d424ab0" /><Relationship Type="http://schemas.openxmlformats.org/officeDocument/2006/relationships/slide" Target="/ppt/slides/slide15.xml" Id="Re5f4f8d04e8d4bd7" /><Relationship Type="http://schemas.openxmlformats.org/officeDocument/2006/relationships/slide" Target="/ppt/slides/slide16.xml" Id="R3da74744a91f40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6ace367c4443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ptiTAC">
  <a:themeElements>
    <a:clrScheme name="OptiTAC">
      <a:dk1>
        <a:srgbClr val="20282D"/>
      </a:dk1>
      <a:lt1>
        <a:srgbClr val="FAFAF7"/>
      </a:lt1>
      <a:dk2>
        <a:srgbClr val="31586D"/>
      </a:dk2>
      <a:lt2>
        <a:srgbClr val="FFFFFF"/>
      </a:lt2>
      <a:accent1>
        <a:srgbClr val="31586D"/>
      </a:accent1>
      <a:accent2>
        <a:srgbClr val="68747B"/>
      </a:accent2>
      <a:accent3>
        <a:srgbClr val="2E7D5B"/>
      </a:accent3>
      <a:accent4>
        <a:srgbClr val="B5483A"/>
      </a:accent4>
      <a:accent5>
        <a:srgbClr val="1B2226"/>
      </a:accent5>
      <a:accent6>
        <a:srgbClr val="D5D9DB"/>
      </a:accent6>
      <a:hlink>
        <a:srgbClr val="31586D"/>
      </a:hlink>
      <a:folHlink>
        <a:srgbClr val="68747B"/>
      </a:folHlink>
    </a:clrScheme>
    <a:fontScheme name="OptiTA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ptiTAC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7e8c9204f4b6f" /><Relationship Type="http://schemas.openxmlformats.org/officeDocument/2006/relationships/notesMaster" Target="/ppt/notesMasters/notesMaster1.xml" Id="R28c9453fb7f740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66759f84174864" /><Relationship Type="http://schemas.openxmlformats.org/officeDocument/2006/relationships/notesMaster" Target="/ppt/notesMasters/notesMaster1.xml" Id="R48e0f78f5e2948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55ab65e6e43cc" /><Relationship Type="http://schemas.openxmlformats.org/officeDocument/2006/relationships/notesMaster" Target="/ppt/notesMasters/notesMaster1.xml" Id="R931ae74ce10940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7c99335f404d83" /><Relationship Type="http://schemas.openxmlformats.org/officeDocument/2006/relationships/notesMaster" Target="/ppt/notesMasters/notesMaster1.xml" Id="Ra996d6d7858d44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3c8ce7f114282" /><Relationship Type="http://schemas.openxmlformats.org/officeDocument/2006/relationships/notesMaster" Target="/ppt/notesMasters/notesMaster1.xml" Id="Rfa0e4e47e6bd4c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614c0d14da430f" /><Relationship Type="http://schemas.openxmlformats.org/officeDocument/2006/relationships/notesMaster" Target="/ppt/notesMasters/notesMaster1.xml" Id="Rd95f5c96418846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c07af86a6c4971" /><Relationship Type="http://schemas.openxmlformats.org/officeDocument/2006/relationships/notesMaster" Target="/ppt/notesMasters/notesMaster1.xml" Id="R16069852f8a54a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b612cede64481" /><Relationship Type="http://schemas.openxmlformats.org/officeDocument/2006/relationships/notesMaster" Target="/ppt/notesMasters/notesMaster1.xml" Id="R45517b87d9bf48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d91d3c86f04ca4" /><Relationship Type="http://schemas.openxmlformats.org/officeDocument/2006/relationships/notesMaster" Target="/ppt/notesMasters/notesMaster1.xml" Id="R63802531417d48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4b0fea36074c02" /><Relationship Type="http://schemas.openxmlformats.org/officeDocument/2006/relationships/notesMaster" Target="/ppt/notesMasters/notesMaster1.xml" Id="R02d9e2205e914e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8e9b3ac862430e" /><Relationship Type="http://schemas.openxmlformats.org/officeDocument/2006/relationships/notesMaster" Target="/ppt/notesMasters/notesMaster1.xml" Id="Rb76f067d99e74c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bf0332d16f4cf5" /><Relationship Type="http://schemas.openxmlformats.org/officeDocument/2006/relationships/notesMaster" Target="/ppt/notesMasters/notesMaster1.xml" Id="Rf2b9793b2dfb4a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819ad4a33446ae" /><Relationship Type="http://schemas.openxmlformats.org/officeDocument/2006/relationships/notesMaster" Target="/ppt/notesMasters/notesMaster1.xml" Id="R2de51fd0ac1f4f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679b3c2e464b3e" /><Relationship Type="http://schemas.openxmlformats.org/officeDocument/2006/relationships/notesMaster" Target="/ppt/notesMasters/notesMaster1.xml" Id="Rccc280d1ea0a4e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972d2fe05049ce" /><Relationship Type="http://schemas.openxmlformats.org/officeDocument/2006/relationships/notesMaster" Target="/ppt/notesMasters/notesMaster1.xml" Id="R0fcb2d9fec1a49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ae3939b1f1452b" /><Relationship Type="http://schemas.openxmlformats.org/officeDocument/2006/relationships/notesMaster" Target="/ppt/notesMasters/notesMaster1.xml" Id="R77973d257d9c42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docs/research/evidence-portfolios.md. Recorded results are from the repository documentation dated 28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91fcc28ad47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def38d5ed4e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a148f2d4a4f2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ONLY"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25DED9-E0FC-4CBE-BEE4-C023C5556108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6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1F851EB-416B-4F56-AB87-FBFC0ACE2E5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47120" y="635508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SLIDE"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D72F81-6B7C-485B-A93A-36659961597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731520" y="91440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83C73F9-5665-47FD-B820-EE354996EA8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47120" y="635508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2dc071dc544d4" /><Relationship Type="http://schemas.openxmlformats.org/officeDocument/2006/relationships/slideLayout" Target="/ppt/slideLayouts/slideLayout1.xml" Id="R5cde2db9e0274b0a" /><Relationship Type="http://schemas.openxmlformats.org/officeDocument/2006/relationships/slideLayout" Target="/ppt/slideLayouts/slideLayout2.xml" Id="R828e237d49db4a55" /><Relationship Type="http://schemas.openxmlformats.org/officeDocument/2006/relationships/slideLayout" Target="/ppt/slideLayouts/slideLayout3.xml" Id="Re8cf121a5649438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A60222-A336-497D-A1DB-4B3180BC117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47120" y="635508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de2db9e0274b0a"/>
    <p:sldLayoutId xmlns:r="http://schemas.openxmlformats.org/officeDocument/2006/relationships" id="2147483650" r:id="R828e237d49db4a55"/>
    <p:sldLayoutId xmlns:r="http://schemas.openxmlformats.org/officeDocument/2006/relationships" id="2147483651" r:id="Re8cf121a5649438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ptiTAC">
  <a:themeElements>
    <a:clrScheme name="OptiTAC">
      <a:dk1>
        <a:srgbClr val="20282D"/>
      </a:dk1>
      <a:lt1>
        <a:srgbClr val="FAFAF7"/>
      </a:lt1>
      <a:dk2>
        <a:srgbClr val="31586D"/>
      </a:dk2>
      <a:lt2>
        <a:srgbClr val="FFFFFF"/>
      </a:lt2>
      <a:accent1>
        <a:srgbClr val="31586D"/>
      </a:accent1>
      <a:accent2>
        <a:srgbClr val="68747B"/>
      </a:accent2>
      <a:accent3>
        <a:srgbClr val="2E7D5B"/>
      </a:accent3>
      <a:accent4>
        <a:srgbClr val="B5483A"/>
      </a:accent4>
      <a:accent5>
        <a:srgbClr val="1B2226"/>
      </a:accent5>
      <a:accent6>
        <a:srgbClr val="D5D9DB"/>
      </a:accent6>
      <a:hlink>
        <a:srgbClr val="31586D"/>
      </a:hlink>
      <a:folHlink>
        <a:srgbClr val="68747B"/>
      </a:folHlink>
    </a:clrScheme>
    <a:fontScheme name="OptiTA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ptiTAC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247340bbc14733" /><Relationship Type="http://schemas.openxmlformats.org/officeDocument/2006/relationships/notesSlide" Target="/ppt/notesSlides/notesSlide1.xml" Id="R0af499dcc1c840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b727fa96dc4c39" /><Relationship Type="http://schemas.openxmlformats.org/officeDocument/2006/relationships/notesSlide" Target="/ppt/notesSlides/notesSlide2.xml" Id="Rf41ee1e40145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359feed2744e1" /><Relationship Type="http://schemas.openxmlformats.org/officeDocument/2006/relationships/notesSlide" Target="/ppt/notesSlides/notesSlide3.xml" Id="Rbf3e74a3ba5342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bf362b6d8140b4" /><Relationship Type="http://schemas.openxmlformats.org/officeDocument/2006/relationships/notesSlide" Target="/ppt/notesSlides/notesSlide4.xml" Id="Rfb34ebb88c314b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4fe9a1a4d4df4" /><Relationship Type="http://schemas.openxmlformats.org/officeDocument/2006/relationships/notesSlide" Target="/ppt/notesSlides/notesSlide5.xml" Id="R72709e905eb942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ce9f291ede4e7a" /><Relationship Type="http://schemas.openxmlformats.org/officeDocument/2006/relationships/notesSlide" Target="/ppt/notesSlides/notesSlide6.xml" Id="R445f9da398304c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f152085c14f7a" /><Relationship Type="http://schemas.openxmlformats.org/officeDocument/2006/relationships/notesSlide" Target="/ppt/notesSlides/notesSlide7.xml" Id="R6bb27279c1f248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8450d838484c05" /><Relationship Type="http://schemas.openxmlformats.org/officeDocument/2006/relationships/notesSlide" Target="/ppt/notesSlides/notesSlide8.xml" Id="Rde8b625735a34c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2e902596d54a9f" /><Relationship Type="http://schemas.openxmlformats.org/officeDocument/2006/relationships/notesSlide" Target="/ppt/notesSlides/notesSlide9.xml" Id="R97852e18e75f42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878dc644a54339" /><Relationship Type="http://schemas.openxmlformats.org/officeDocument/2006/relationships/notesSlide" Target="/ppt/notesSlides/notesSlide10.xml" Id="R321ddbf488d749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c21c270e448d2" /><Relationship Type="http://schemas.openxmlformats.org/officeDocument/2006/relationships/notesSlide" Target="/ppt/notesSlides/notesSlide11.xml" Id="R13bc093a44e548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508667c874f9f" /><Relationship Type="http://schemas.openxmlformats.org/officeDocument/2006/relationships/notesSlide" Target="/ppt/notesSlides/notesSlide12.xml" Id="R2d28e43eddfb42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5040e8bdcd45ef" /><Relationship Type="http://schemas.openxmlformats.org/officeDocument/2006/relationships/notesSlide" Target="/ppt/notesSlides/notesSlide13.xml" Id="Rd74d6300d79844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bc205b6e540ff" /><Relationship Type="http://schemas.openxmlformats.org/officeDocument/2006/relationships/notesSlide" Target="/ppt/notesSlides/notesSlide14.xml" Id="R18e081fd3e8342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647570f8f49ce" /><Relationship Type="http://schemas.openxmlformats.org/officeDocument/2006/relationships/notesSlide" Target="/ppt/notesSlides/notesSlide15.xml" Id="R626b5b0e821941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c671d5c4e44d46" /><Relationship Type="http://schemas.openxmlformats.org/officeDocument/2006/relationships/notesSlide" Target="/ppt/notesSlides/notesSlide16.xml" Id="R1485007a0d5441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142CD1-2EBA-4440-87F4-DAA4ED447239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731520" y="91440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chemeClr val="tx1"/>
                </a:solidFill>
              </a:rPr>
              <a:t>OptiTAC</a:t>
            </a:r>
            <a:endParaRPr sz="4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BE4213-3D61-43AE-8C4B-678C462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852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0282D"/>
                </a:solidFill>
              </a:rPr>
              <a:t>Compiler Optimization Analysis, Explanation and Validation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C926C3-2CB7-4BBC-AC94-60069C04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/>
          </a:p>
        </p:txBody>
      </p:sp>
      <p:sp>
        <p:nvSpPr>
          <p:cNvPr id="5" name="Member accent">
            <a:extLst xmlns:a="http://schemas.openxmlformats.org/drawingml/2006/main">
              <a:ext uri="{FF2B5EF4-FFF2-40B4-BE49-F238E27FC236}">
                <a16:creationId xmlns:a16="http://schemas.microsoft.com/office/drawing/2014/main" id="{5E6C8F1B-FB6A-4B61-BEA0-8B19797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FAFED2-4925-4E46-951E-4AB9936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490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0282D"/>
                </a:solidFill>
              </a:rPr>
              <a:t>Archit Nigam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5980EF2-C6DC-4CD2-B2DA-D15AA14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233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8747B"/>
                </a:solidFill>
              </a:rPr>
              <a:t>Register Number: 24BCI0230</a:t>
            </a:r>
            <a:endParaRPr sz="1200"/>
          </a:p>
        </p:txBody>
      </p:sp>
      <p:sp>
        <p:nvSpPr>
          <p:cNvPr id="8" name="Member accent">
            <a:extLst xmlns:a="http://schemas.openxmlformats.org/drawingml/2006/main">
              <a:ext uri="{FF2B5EF4-FFF2-40B4-BE49-F238E27FC236}">
                <a16:creationId xmlns:a16="http://schemas.microsoft.com/office/drawing/2014/main" id="{67909C68-7975-48EC-A29C-B2F8450C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41C6C5F-7284-4E62-9A7A-FE2F2574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348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0282D"/>
                </a:solidFill>
              </a:rPr>
              <a:t>Nettem Ronith Kumar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D446396-7EFB-4D5A-A53F-8F9D2101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091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8747B"/>
                </a:solidFill>
              </a:rPr>
              <a:t>Register Number: 24BCT0285</a:t>
            </a:r>
            <a:endParaRPr sz="1200"/>
          </a:p>
        </p:txBody>
      </p:sp>
      <p:sp>
        <p:nvSpPr>
          <p:cNvPr id="11" name="Member accent">
            <a:extLst xmlns:a="http://schemas.openxmlformats.org/drawingml/2006/main">
              <a:ext uri="{FF2B5EF4-FFF2-40B4-BE49-F238E27FC236}">
                <a16:creationId xmlns:a16="http://schemas.microsoft.com/office/drawing/2014/main" id="{559846CC-115A-492E-9FD5-96417068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206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92D5141-1A7D-420D-9609-6E4E579F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206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0282D"/>
                </a:solidFill>
              </a:rPr>
              <a:t>Pranshu Gupta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0097C25-424B-4085-9F9C-C92408C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949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8747B"/>
                </a:solidFill>
              </a:rPr>
              <a:t>Register Number: 24BCE2099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20134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BDA0B4-426C-4448-B65D-0B16CB72819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Problem Statement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6B22F7-9418-4BC6-8751-2E99F47B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Develop a compiler laboratory that exposes intermediate code, explains optimization decisions and checks program behavior on supplied and generated inputs.</a:t>
            </a: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7D0919-7021-49BA-BEC9-7053716F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Gaps we address</a:t>
            </a:r>
            <a:endParaRPr sz="1300"/>
          </a:p>
        </p:txBody>
      </p:sp>
      <p:sp>
        <p:nvSpPr>
          <p:cNvPr id="5" name="Card 1">
            <a:extLst xmlns:a="http://schemas.openxmlformats.org/drawingml/2006/main">
              <a:ext uri="{FF2B5EF4-FFF2-40B4-BE49-F238E27FC236}">
                <a16:creationId xmlns:a16="http://schemas.microsoft.com/office/drawing/2014/main" id="{551BDD60-A136-435E-B014-02C3FE2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6" name="Card accent">
            <a:extLst xmlns:a="http://schemas.openxmlformats.org/drawingml/2006/main">
              <a:ext uri="{FF2B5EF4-FFF2-40B4-BE49-F238E27FC236}">
                <a16:creationId xmlns:a16="http://schemas.microsoft.com/office/drawing/2014/main" id="{57F75FD2-1C70-4F0E-8F9E-CB68829B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A5A544-BB95-464B-982B-04E1D9D1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718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Black-box optimization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182E6E1-159A-424B-9BEC-B3ADFCFD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5661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Normal optimizers focus on producing optimized code and rarely show the intermediate steps.</a:t>
            </a:r>
            <a:endParaRPr sz="1400"/>
          </a:p>
        </p:txBody>
      </p:sp>
      <p:sp>
        <p:nvSpPr>
          <p:cNvPr id="9" name="Card 2">
            <a:extLst xmlns:a="http://schemas.openxmlformats.org/drawingml/2006/main">
              <a:ext uri="{FF2B5EF4-FFF2-40B4-BE49-F238E27FC236}">
                <a16:creationId xmlns:a16="http://schemas.microsoft.com/office/drawing/2014/main" id="{CBA0EB8C-1BAC-40FE-A4DC-1890B85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432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0" name="Card accent">
            <a:extLst xmlns:a="http://schemas.openxmlformats.org/drawingml/2006/main">
              <a:ext uri="{FF2B5EF4-FFF2-40B4-BE49-F238E27FC236}">
                <a16:creationId xmlns:a16="http://schemas.microsoft.com/office/drawing/2014/main" id="{2B0F59B5-B9A2-4614-BBCB-9FB8890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432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F49456-F8EF-47B1-8B06-61E5766F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9718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Unclear pass interactions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74F13C-9D9D-4237-9048-04130745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661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Even when a change is visible, the reason behind it and its effect on other optimizations stay hidden.</a:t>
            </a:r>
            <a:endParaRPr sz="1400"/>
          </a:p>
        </p:txBody>
      </p:sp>
      <p:sp>
        <p:nvSpPr>
          <p:cNvPr id="13" name="Card 3">
            <a:extLst xmlns:a="http://schemas.openxmlformats.org/drawingml/2006/main">
              <a:ext uri="{FF2B5EF4-FFF2-40B4-BE49-F238E27FC236}">
                <a16:creationId xmlns:a16="http://schemas.microsoft.com/office/drawing/2014/main" id="{A2AD8FF5-4D39-42F1-9814-D01EB63B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4" name="Card accent">
            <a:extLst xmlns:a="http://schemas.openxmlformats.org/drawingml/2006/main">
              <a:ext uri="{FF2B5EF4-FFF2-40B4-BE49-F238E27FC236}">
                <a16:creationId xmlns:a16="http://schemas.microsoft.com/office/drawing/2014/main" id="{8A798D82-9A6B-46BF-8762-A4E7292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A153F42-F001-4FA5-8ADD-324EB721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9718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Limited validation evidence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A347575-B326-4A80-B15B-29D7DB9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5661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 few example inputs may miss a wrong rewrite on an untested branch.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93850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F63478-BB2D-4A36-9AF4-FF5565219C4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Objectives</a:t>
            </a:r>
            <a:endParaRPr sz="2600"/>
          </a:p>
        </p:txBody>
      </p:sp>
      <p:sp>
        <p:nvSpPr>
          <p:cNvPr id="3" name="Number 1">
            <a:extLst xmlns:a="http://schemas.openxmlformats.org/drawingml/2006/main">
              <a:ext uri="{FF2B5EF4-FFF2-40B4-BE49-F238E27FC236}">
                <a16:creationId xmlns:a16="http://schemas.microsoft.com/office/drawing/2014/main" id="{64DE4981-6037-46D8-930A-0FA3864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9BFB09-B856-4C52-AFF6-8B02BBCB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11C0EB-C292-440D-B162-4BD2D3D5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Implement lexical, syntax and semantic analysis for a scalar C/C++ subset</a:t>
            </a:r>
            <a:endParaRPr sz="1800"/>
          </a:p>
        </p:txBody>
      </p:sp>
      <p:sp>
        <p:nvSpPr>
          <p:cNvPr id="6" name="Number 2">
            <a:extLst xmlns:a="http://schemas.openxmlformats.org/drawingml/2006/main">
              <a:ext uri="{FF2B5EF4-FFF2-40B4-BE49-F238E27FC236}">
                <a16:creationId xmlns:a16="http://schemas.microsoft.com/office/drawing/2014/main" id="{1BB67A60-956F-43AA-84EF-099EAF17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CAEBB2-8E54-4E22-A115-30BE7EB6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C1E4508-7A55-4F61-8E15-6D9A8C64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884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Generate typed TAC, control-flow blocks and live-variable information</a:t>
            </a:r>
            <a:endParaRPr sz="1800"/>
          </a:p>
        </p:txBody>
      </p:sp>
      <p:sp>
        <p:nvSpPr>
          <p:cNvPr id="9" name="Number 3">
            <a:extLst xmlns:a="http://schemas.openxmlformats.org/drawingml/2006/main">
              <a:ext uri="{FF2B5EF4-FFF2-40B4-BE49-F238E27FC236}">
                <a16:creationId xmlns:a16="http://schemas.microsoft.com/office/drawing/2014/main" id="{9C9494DF-437D-427A-90C6-9DA7D4AE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1CB0629-AB4E-4AA8-BF8B-F194C2D7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720AF5-6E3A-482D-90AB-915D14AB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608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Explore optimization pass orders using bounded, ML-guided search</a:t>
            </a:r>
            <a:endParaRPr sz="1800"/>
          </a:p>
        </p:txBody>
      </p:sp>
      <p:sp>
        <p:nvSpPr>
          <p:cNvPr id="12" name="Number 4">
            <a:extLst xmlns:a="http://schemas.openxmlformats.org/drawingml/2006/main">
              <a:ext uri="{FF2B5EF4-FFF2-40B4-BE49-F238E27FC236}">
                <a16:creationId xmlns:a16="http://schemas.microsoft.com/office/drawing/2014/main" id="{38D99B54-3322-4225-AECE-EEEA2ABE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77B06D-4D9E-44F9-9557-02CDF4F3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B0D671B-8106-4C61-AB58-C5459F36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332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Record transformations and explain interactions between passes</a:t>
            </a:r>
            <a:endParaRPr sz="1800"/>
          </a:p>
        </p:txBody>
      </p:sp>
      <p:sp>
        <p:nvSpPr>
          <p:cNvPr id="15" name="Number 5">
            <a:extLst xmlns:a="http://schemas.openxmlformats.org/drawingml/2006/main">
              <a:ext uri="{FF2B5EF4-FFF2-40B4-BE49-F238E27FC236}">
                <a16:creationId xmlns:a16="http://schemas.microsoft.com/office/drawing/2014/main" id="{5D068A8B-1C9D-45A8-8831-30500D3F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B2990C0-0CB9-492F-9505-F484618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5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F87BDC-8790-4546-B167-2DDE3AF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8056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Compare AST, original IR and optimized IR on defined test inputs</a:t>
            </a:r>
            <a:endParaRPr sz="1800"/>
          </a:p>
        </p:txBody>
      </p:sp>
      <p:sp>
        <p:nvSpPr>
          <p:cNvPr id="18" name="Number 6">
            <a:extLst xmlns:a="http://schemas.openxmlformats.org/drawingml/2006/main">
              <a:ext uri="{FF2B5EF4-FFF2-40B4-BE49-F238E27FC236}">
                <a16:creationId xmlns:a16="http://schemas.microsoft.com/office/drawing/2014/main" id="{89E6716E-DED2-4356-B981-20337A3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D98A351-B4D8-4606-AA5C-7795D504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6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F465DF-31A3-4E61-B77F-10C183F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0282D"/>
                </a:solidFill>
              </a:rPr>
              <a:t>Generate targeted probes and retain replayable failure evidence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0255108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DE8B65-CC20-4341-85C9-3A32D325885E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Project Overview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4F9EF5-4B1E-4A03-9EEC-95E8FD32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OptiTAC is a local compiler laboratory. Six stages connect the source program to tokens, syntax, types, intermediate code, optimization and results.</a:t>
            </a:r>
            <a:endParaRPr sz="1800"/>
          </a:p>
        </p:txBody>
      </p:sp>
      <p:sp>
        <p:nvSpPr>
          <p:cNvPr id="4" name="Card 1">
            <a:extLst xmlns:a="http://schemas.openxmlformats.org/drawingml/2006/main">
              <a:ext uri="{FF2B5EF4-FFF2-40B4-BE49-F238E27FC236}">
                <a16:creationId xmlns:a16="http://schemas.microsoft.com/office/drawing/2014/main" id="{6B7E7A56-A368-4715-BB5B-336A7F1B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5" name="Card accent">
            <a:extLst xmlns:a="http://schemas.openxmlformats.org/drawingml/2006/main">
              <a:ext uri="{FF2B5EF4-FFF2-40B4-BE49-F238E27FC236}">
                <a16:creationId xmlns:a16="http://schemas.microsoft.com/office/drawing/2014/main" id="{5228F9BF-3BBC-4711-9E65-AAC762F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1F60A9-7433-4CA1-A82D-ABE2017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1  Compile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5E37A2-EBD3-4D4B-8D17-2950E548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The scalar C/C++ subset lowers to typed three-address code.</a:t>
            </a:r>
            <a:endParaRPr sz="1400"/>
          </a:p>
        </p:txBody>
      </p:sp>
      <p:sp>
        <p:nvSpPr>
          <p:cNvPr id="8" name="Card 2">
            <a:extLst xmlns:a="http://schemas.openxmlformats.org/drawingml/2006/main">
              <a:ext uri="{FF2B5EF4-FFF2-40B4-BE49-F238E27FC236}">
                <a16:creationId xmlns:a16="http://schemas.microsoft.com/office/drawing/2014/main" id="{11C638B9-3025-46F3-AA9F-D75A081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9" name="Card accent">
            <a:extLst xmlns:a="http://schemas.openxmlformats.org/drawingml/2006/main">
              <a:ext uri="{FF2B5EF4-FFF2-40B4-BE49-F238E27FC236}">
                <a16:creationId xmlns:a16="http://schemas.microsoft.com/office/drawing/2014/main" id="{5C88C3A2-47EC-43F3-B1DA-07A2BAFC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98C593-DC13-440D-AF9E-D0FD9055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2  Optimize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01B5191-7D62-4F37-9A57-FBD9243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Bounded search explores orders of four optimization passes.</a:t>
            </a:r>
            <a:endParaRPr sz="1400"/>
          </a:p>
        </p:txBody>
      </p:sp>
      <p:sp>
        <p:nvSpPr>
          <p:cNvPr id="12" name="Card 3">
            <a:extLst xmlns:a="http://schemas.openxmlformats.org/drawingml/2006/main">
              <a:ext uri="{FF2B5EF4-FFF2-40B4-BE49-F238E27FC236}">
                <a16:creationId xmlns:a16="http://schemas.microsoft.com/office/drawing/2014/main" id="{A2749DD1-7846-40D5-A67B-5B0F9742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3" name="Card accent">
            <a:extLst xmlns:a="http://schemas.openxmlformats.org/drawingml/2006/main">
              <a:ext uri="{FF2B5EF4-FFF2-40B4-BE49-F238E27FC236}">
                <a16:creationId xmlns:a16="http://schemas.microsoft.com/office/drawing/2014/main" id="{410B43E5-7494-4D19-ADA8-21D93C1D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299EA94-17B4-4278-BEE4-5A2ED3E3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3  Explain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3235A27-6716-40A1-A1E7-C8458A3E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The system shows what changed and why it changed.</a:t>
            </a:r>
            <a:endParaRPr sz="1400"/>
          </a:p>
        </p:txBody>
      </p:sp>
      <p:sp>
        <p:nvSpPr>
          <p:cNvPr id="16" name="Card 4">
            <a:extLst xmlns:a="http://schemas.openxmlformats.org/drawingml/2006/main">
              <a:ext uri="{FF2B5EF4-FFF2-40B4-BE49-F238E27FC236}">
                <a16:creationId xmlns:a16="http://schemas.microsoft.com/office/drawing/2014/main" id="{4603EEC3-094F-4D55-B792-253EE53E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7" name="Card accent">
            <a:extLst xmlns:a="http://schemas.openxmlformats.org/drawingml/2006/main">
              <a:ext uri="{FF2B5EF4-FFF2-40B4-BE49-F238E27FC236}">
                <a16:creationId xmlns:a16="http://schemas.microsoft.com/office/drawing/2014/main" id="{FD15EF2F-1D13-4E91-AFEF-2042BC1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961C34C-A1FB-46B6-89E7-19C123B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4  Verify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AF4EE39-A094-4913-9E16-F739193C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AST and IR executions must agree on eligible test inputs.</a:t>
            </a:r>
            <a:endParaRPr sz="1400"/>
          </a:p>
        </p:txBody>
      </p:sp>
      <p:sp>
        <p:nvSpPr>
          <p:cNvPr id="20" name="Novelty banner">
            <a:extLst xmlns:a="http://schemas.openxmlformats.org/drawingml/2006/main">
              <a:ext uri="{FF2B5EF4-FFF2-40B4-BE49-F238E27FC236}">
                <a16:creationId xmlns:a16="http://schemas.microsoft.com/office/drawing/2014/main" id="{5170CD41-B67D-4F01-AA7F-2669BB6F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107899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55992D3-806E-4846-9930-350A448A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7760"/>
            <a:ext cx="102412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</a:rPr>
              <a:t>Project contribution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</a:rPr>
              <a:t>An inspectable optimization workflow with ML guidance, targeted tests and replayable evidence.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015977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01DA90-4F61-4AB8-A8D1-3F33737B2EB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Supported Language and Example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D0B02C-638A-40DF-877B-5401B91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Illustrative scalar program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227500-1031-4EC0-9CBA-41B73DE0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66928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int main() {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int a = 4;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int b = a * 2 + 1;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int c = b + 10;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return c;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}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456EE1-C3EA-45BD-9858-8AE7590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2344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Language features</a:t>
            </a:r>
            <a:endParaRPr sz="1300"/>
          </a:p>
        </p:txBody>
      </p:sp>
      <p:sp>
        <p:nvSpPr>
          <p:cNvPr id="7" name="Feature 1">
            <a:extLst xmlns:a="http://schemas.openxmlformats.org/drawingml/2006/main">
              <a:ext uri="{FF2B5EF4-FFF2-40B4-BE49-F238E27FC236}">
                <a16:creationId xmlns:a16="http://schemas.microsoft.com/office/drawing/2014/main" id="{E86F0008-BFBC-4438-97AA-1A3A1620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45920"/>
            <a:ext cx="42976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675B6D4-2BF5-47D6-B892-48F71F2E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773936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Types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71113B8-B6F2-4E18-8550-82469D27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21408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int, float, double, bool, char</a:t>
            </a:r>
            <a:endParaRPr sz="1400"/>
          </a:p>
        </p:txBody>
      </p:sp>
      <p:sp>
        <p:nvSpPr>
          <p:cNvPr id="10" name="Feature 2">
            <a:extLst xmlns:a="http://schemas.openxmlformats.org/drawingml/2006/main">
              <a:ext uri="{FF2B5EF4-FFF2-40B4-BE49-F238E27FC236}">
                <a16:creationId xmlns:a16="http://schemas.microsoft.com/office/drawing/2014/main" id="{74B73640-D99E-41C6-9FC2-220F706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88920"/>
            <a:ext cx="42976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655F82E-A598-4396-B1F1-98DF87C1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916936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Operators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FEBA30C-CAF7-4C6F-AABC-5489223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264408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Arithmetic, comparison, logical, bitwise</a:t>
            </a:r>
            <a:endParaRPr sz="1400"/>
          </a:p>
        </p:txBody>
      </p:sp>
      <p:sp>
        <p:nvSpPr>
          <p:cNvPr id="13" name="Feature 3">
            <a:extLst xmlns:a="http://schemas.openxmlformats.org/drawingml/2006/main">
              <a:ext uri="{FF2B5EF4-FFF2-40B4-BE49-F238E27FC236}">
                <a16:creationId xmlns:a16="http://schemas.microsoft.com/office/drawing/2014/main" id="{FD2897F4-5972-47EC-8799-80CF2393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931920"/>
            <a:ext cx="42976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2BF1632-FB33-47B0-A03A-FCF76BC9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059936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Statements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FEEC3C-49DE-4BCD-B47A-30F4B21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407408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Branches, loops, scalar functions and I/O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9255C6E-2DB7-4082-9A60-BA9D2B72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Visual execution excludes pointers, arrays, classes and templates. GCC artifacts support broader syntax separately.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770898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FD16ED-B247-48FA-B57C-68BBA099407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Architecture and Status</a:t>
            </a:r>
            <a:endParaRPr sz="2600"/>
          </a:p>
        </p:txBody>
      </p:sp>
      <p:sp>
        <p:nvSpPr>
          <p:cNvPr id="3" name="Stage 1">
            <a:extLst xmlns:a="http://schemas.openxmlformats.org/drawingml/2006/main">
              <a:ext uri="{FF2B5EF4-FFF2-40B4-BE49-F238E27FC236}">
                <a16:creationId xmlns:a16="http://schemas.microsoft.com/office/drawing/2014/main" id="{86A7CE1C-C12E-4861-A119-957A6431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C00697-BE9E-4084-BC15-D7D600D9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Source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(C/C++)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4BD802-BF03-44AE-B851-E249D1FE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6" name="Stage 2">
            <a:extLst xmlns:a="http://schemas.openxmlformats.org/drawingml/2006/main">
              <a:ext uri="{FF2B5EF4-FFF2-40B4-BE49-F238E27FC236}">
                <a16:creationId xmlns:a16="http://schemas.microsoft.com/office/drawing/2014/main" id="{A697EAB4-C357-4DE6-B4FC-F2381202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381A52-8612-4FDA-B86F-72A444F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Lexer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91D6C99-7D0D-4194-84FC-EABAA585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9" name="Stage 3">
            <a:extLst xmlns:a="http://schemas.openxmlformats.org/drawingml/2006/main">
              <a:ext uri="{FF2B5EF4-FFF2-40B4-BE49-F238E27FC236}">
                <a16:creationId xmlns:a16="http://schemas.microsoft.com/office/drawing/2014/main" id="{5CFA7086-1C32-46BD-A25B-EA1F600A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B5194D3-511D-420F-B8A8-C6F4A9A4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Parser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(AST)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7CBCDE-CE09-46BF-ACD1-D9D923FD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2" name="Stage 4">
            <a:extLst xmlns:a="http://schemas.openxmlformats.org/drawingml/2006/main">
              <a:ext uri="{FF2B5EF4-FFF2-40B4-BE49-F238E27FC236}">
                <a16:creationId xmlns:a16="http://schemas.microsoft.com/office/drawing/2014/main" id="{133EED4D-22C0-4E9D-B32C-5D705D89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E95FCC7-3D2C-4516-9102-AB51DF4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Semantic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Analysis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7EB75C-DFEF-4DFE-9694-9191C5DB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5" name="Stage 5">
            <a:extLst xmlns:a="http://schemas.openxmlformats.org/drawingml/2006/main">
              <a:ext uri="{FF2B5EF4-FFF2-40B4-BE49-F238E27FC236}">
                <a16:creationId xmlns:a16="http://schemas.microsoft.com/office/drawing/2014/main" id="{47FB5786-E7FE-4DF6-B83B-B533E92D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7767B2-4E2E-4460-890A-CCD1BB97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TAC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Generator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42FC6F-AC0C-407F-8847-F255442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8" name="Stage 6">
            <a:extLst xmlns:a="http://schemas.openxmlformats.org/drawingml/2006/main">
              <a:ext uri="{FF2B5EF4-FFF2-40B4-BE49-F238E27FC236}">
                <a16:creationId xmlns:a16="http://schemas.microsoft.com/office/drawing/2014/main" id="{E2EC969D-90EE-44FB-AB0A-D995DED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869FEB3-644C-4BF2-BDD6-DA7FF724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Optimizer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ED6E160-D189-4B4D-A017-3E295871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21" name="Stage 7">
            <a:extLst xmlns:a="http://schemas.openxmlformats.org/drawingml/2006/main">
              <a:ext uri="{FF2B5EF4-FFF2-40B4-BE49-F238E27FC236}">
                <a16:creationId xmlns:a16="http://schemas.microsoft.com/office/drawing/2014/main" id="{05B4246F-744D-4569-A840-C8B20E6A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9A1DADA-AD61-415F-BE11-B8898E67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Executor &amp;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Verifier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2A000C4-B70C-4D7E-BCD5-1D759F27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28600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31586D"/>
                </a:solidFill>
              </a:rPr>
              <a:t>Local analysis and bounded interpretation</a:t>
            </a:r>
            <a:endParaRPr sz="1100"/>
          </a:p>
        </p:txBody>
      </p:sp>
      <p:graphicFrame>
        <p:nvGraphicFramePr>
          <p:cNvPr id="24" name="Table 0">
            <a:extLst xmlns:a="http://schemas.openxmlformats.org/drawingml/2006/main">
              <a:ext uri="{FF2B5EF4-FFF2-40B4-BE49-F238E27FC236}">
                <a16:creationId xmlns:a16="http://schemas.microsoft.com/office/drawing/2014/main" id="{CE29C4B8-1C74-4487-9459-F606C579F5C1}"/>
              </a:ext>
            </a:extLst>
          </p:cNvPr>
          <p:cNvGraphicFramePr/>
          <p:nvPr/>
        </p:nvGraphicFramePr>
        <p:xfrm>
          <a:off xmlns:a="http://schemas.openxmlformats.org/drawingml/2006/main" x="594360" y="265176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1840"/>
                <a:gridCol w="5852160"/>
                <a:gridCol w="18288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does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Lexer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Positioned tokens and source selection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Parser + AST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Grammar, precedence and syntax tree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Semantic analysis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Lexical scopes and type checks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Typed IR + flow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TAC, basic blocks and liveness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Optimizer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Four passes with guarded route search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31586D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Execution + audit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AST/IR comparison and targeted probes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2423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8E3600E-241C-4297-947E-A3D57460C912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From Source to Three-Address Code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934685-80EB-4DEA-83DB-C61281E1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8747B"/>
                </a:solidFill>
              </a:rPr>
              <a:t>Example statement:  </a:t>
            </a:r>
            <a:r>
              <a:rPr sz="1600" b="1">
                <a:solidFill>
                  <a:srgbClr val="20282D"/>
                </a:solidFill>
                <a:latin typeface="Courier New"/>
                <a:ea typeface="Courier New"/>
                <a:cs typeface="Courier New"/>
              </a:rPr>
              <a:t>int b = a * 2 + 1;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A29E38-B1E3-4D11-8E8B-25660D18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1. Tokens</a:t>
            </a:r>
            <a:endParaRPr sz="1300"/>
          </a:p>
        </p:txBody>
      </p:sp>
      <p:sp>
        <p:nvSpPr>
          <p:cNvPr id="5" name="1. Tokens block">
            <a:extLst xmlns:a="http://schemas.openxmlformats.org/drawingml/2006/main">
              <a:ext uri="{FF2B5EF4-FFF2-40B4-BE49-F238E27FC236}">
                <a16:creationId xmlns:a16="http://schemas.microsoft.com/office/drawing/2014/main" id="{8D0ADA87-551C-4E9A-A59D-85368642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38328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77F361-E770-413B-992A-7BCA662D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30175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INT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ID(b)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ASSIGN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ID(a)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MUL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NUM(2)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PLUS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NUM(1)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SEMI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A37A70-FD85-4A90-9CA7-6A8E5ED1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3383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Lexer splits the text into meaningful units.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7C18EE-B4F9-4BDB-B05B-BDCF6C7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830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2. AST</a:t>
            </a:r>
            <a:endParaRPr sz="1300"/>
          </a:p>
        </p:txBody>
      </p:sp>
      <p:sp>
        <p:nvSpPr>
          <p:cNvPr id="9" name="2. AST block">
            <a:extLst xmlns:a="http://schemas.openxmlformats.org/drawingml/2006/main">
              <a:ext uri="{FF2B5EF4-FFF2-40B4-BE49-F238E27FC236}">
                <a16:creationId xmlns:a16="http://schemas.microsoft.com/office/drawing/2014/main" id="{130167B1-A9D2-4EBD-867F-ABAB78A0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48840"/>
            <a:ext cx="338328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98907F3-ABFB-468E-9ECB-24CE346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86000"/>
            <a:ext cx="30175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Decl(b)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Add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Mul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a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2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1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7D8399-5600-499F-8F19-CE617EE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800600"/>
            <a:ext cx="3383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Parser captures structure and operator precedence.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1F47E02-0BBD-400D-8DD4-1377353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7830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3. TAC</a:t>
            </a:r>
            <a:endParaRPr sz="1300"/>
          </a:p>
        </p:txBody>
      </p:sp>
      <p:sp>
        <p:nvSpPr>
          <p:cNvPr id="13" name="3. TAC block">
            <a:extLst xmlns:a="http://schemas.openxmlformats.org/drawingml/2006/main">
              <a:ext uri="{FF2B5EF4-FFF2-40B4-BE49-F238E27FC236}">
                <a16:creationId xmlns:a16="http://schemas.microsoft.com/office/drawing/2014/main" id="{E6A480DD-A5DD-4BD5-B9C5-3741C04E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148840"/>
            <a:ext cx="338328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840358D-8D02-4600-A0E3-54568525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0"/>
            <a:ext cx="30175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t1 = a * 2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t2 = t1 + 1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b = t2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32FED94-89EC-47CD-B2BA-F4554C8E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00600"/>
            <a:ext cx="3383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At most one operator per instruction, easy to optimize.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450917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0C6B16-BA33-4946-BD44-6DAFB0AFEC30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Optimization Techniques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F260F4-E1CE-4A2F-82BB-932B9B4F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8747B"/>
                </a:solidFill>
              </a:rPr>
              <a:t>Four implemented passes operate on typed IR. Every eligible candidate must pass observation checks.</a:t>
            </a:r>
            <a:endParaRPr sz="1600"/>
          </a:p>
        </p:txBody>
      </p:sp>
      <p:graphicFrame>
        <p:nvGraphicFramePr>
          <p:cNvPr id="9" name="Table 0">
            <a:extLst xmlns:a="http://schemas.openxmlformats.org/drawingml/2006/main">
              <a:ext uri="{FF2B5EF4-FFF2-40B4-BE49-F238E27FC236}">
                <a16:creationId xmlns:a16="http://schemas.microsoft.com/office/drawing/2014/main" id="{7AB31EA9-DC7F-4E01-82A6-3AB7C6FF7AFA}"/>
              </a:ext>
            </a:extLst>
          </p:cNvPr>
          <p:cNvGraphicFramePr/>
          <p:nvPr/>
        </p:nvGraphicFramePr>
        <p:xfrm>
          <a:off xmlns:a="http://schemas.openxmlformats.org/drawingml/2006/main" x="640080" y="1783080"/>
          <a:ext xmlns:a="http://schemas.openxmlformats.org/drawingml/2006/main" cx="1088136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4114800"/>
                <a:gridCol w="3291840"/>
                <a:gridCol w="1097280"/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/ condition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Conditional constants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Propagate known values and fold typed expressions.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Known a = 4 gives a * 2 = 8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Reachability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Remove instructions in unreachable blocks.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Constant-false branch becomes unreachable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Dead temporaries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Remove safe unused literals and copies.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Keep effects and potentially failing operations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68747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Jump cleanup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Simplify redundant control-flow instructions.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Remove an unnecessary jump to the next label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68747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1853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8251E5-7436-4E1E-82C4-E2C08934E2C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Illustrative TAC Transformation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EE2721-8CAD-4897-8230-618F8201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Original TAC</a:t>
            </a:r>
            <a:endParaRPr sz="1300"/>
          </a:p>
        </p:txBody>
      </p:sp>
      <p:sp>
        <p:nvSpPr>
          <p:cNvPr id="4" name="Original TAC">
            <a:extLst xmlns:a="http://schemas.openxmlformats.org/drawingml/2006/main">
              <a:ext uri="{FF2B5EF4-FFF2-40B4-BE49-F238E27FC236}">
                <a16:creationId xmlns:a16="http://schemas.microsoft.com/office/drawing/2014/main" id="{6502C948-C6EE-4582-8BDB-D8D9C1BB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12064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BA1797-D9FC-40AF-995B-AA680B15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475488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1  a = 4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2  t1 = a * 2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3  t2 = t1 + 1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4  b = t2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5  t3 = b + 10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6  c = t3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7  return c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B844AE-F7C9-4D18-9E8B-6BE5834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After Constant Propagation and Folding</a:t>
            </a:r>
            <a:endParaRPr sz="1300"/>
          </a:p>
        </p:txBody>
      </p:sp>
      <p:sp>
        <p:nvSpPr>
          <p:cNvPr id="7" name="Optimized TAC">
            <a:extLst xmlns:a="http://schemas.openxmlformats.org/drawingml/2006/main">
              <a:ext uri="{FF2B5EF4-FFF2-40B4-BE49-F238E27FC236}">
                <a16:creationId xmlns:a16="http://schemas.microsoft.com/office/drawing/2014/main" id="{3EF591F2-AFB3-4D10-B7F9-25AA6046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54480"/>
            <a:ext cx="52120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7CB311-ADB2-4499-8DCD-FADE5F8E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91640"/>
            <a:ext cx="484632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1  a = 4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2  t1 = 8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3  t2 = 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4  b = 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5  t3 = 19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6  c = 19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7  return 19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68E55E-B427-4394-9A39-080A1CE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1586D"/>
                </a:solidFill>
              </a:rPr>
              <a:t>This teaching example isolates propagation and folding. The active pipeline also removes unreachable code and safe unused temporaries. IR instruction count is not measured runtime.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533145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01F299-9499-4DCE-B55A-3EF453B29BA2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Optimization Log: Before, After, Reason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765E3E-CE25-4939-9EF2-DE050BC8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8747B"/>
                </a:solidFill>
              </a:rPr>
              <a:t>Every transformation is recorded so the user can see what changed and why.</a:t>
            </a:r>
            <a:endParaRPr sz="1500"/>
          </a:p>
        </p:txBody>
      </p:sp>
      <p:graphicFrame>
        <p:nvGraphicFramePr>
          <p:cNvPr id="11" name="Table 0">
            <a:extLst xmlns:a="http://schemas.openxmlformats.org/drawingml/2006/main">
              <a:ext uri="{FF2B5EF4-FFF2-40B4-BE49-F238E27FC236}">
                <a16:creationId xmlns:a16="http://schemas.microsoft.com/office/drawing/2014/main" id="{FF15F98B-C1C5-4726-B98E-DB8ACF0B44B2}"/>
              </a:ext>
            </a:extLst>
          </p:cNvPr>
          <p:cNvGraphicFramePr/>
          <p:nvPr/>
        </p:nvGraphicFramePr>
        <p:xfrm>
          <a:off xmlns:a="http://schemas.openxmlformats.org/drawingml/2006/main" x="640080" y="1600200"/>
          <a:ext xmlns:a="http://schemas.openxmlformats.org/drawingml/2006/main" cx="10881360" cy="424281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22960"/>
                <a:gridCol w="2926080"/>
                <a:gridCol w="4023360"/>
                <a:gridCol w="3108960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Optimization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→ After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t1 = a * 2  →  t1 = 4 * 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 is known to be 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t1 = 4 * 2  →  t1 = 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Both operands are constants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t2 = t1 + 1  →  t2 = 8 + 1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t1 is now the constant 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t2 = 8 + 1  →  t2 = 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Both operands are constants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t3 = b + 10  →  t3 = 9 + 10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 holds the constant 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t3 = 9 + 10  →  t3 = 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Both operands are constants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return c  →  return 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 holds the constant 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9971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6F22E21-034B-408A-96BD-8CEDFB5B3B92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Optimization Dependency Analysis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654F81-B6D9-42AF-AD8C-C2A86594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Propagation exposes constants for folding. Logs and omitted-pass replays help explain the selected route.</a:t>
            </a:r>
            <a:endParaRPr sz="1600"/>
          </a:p>
        </p:txBody>
      </p:sp>
      <p:sp>
        <p:nvSpPr>
          <p:cNvPr id="4" name="Chain node 1">
            <a:extLst xmlns:a="http://schemas.openxmlformats.org/drawingml/2006/main">
              <a:ext uri="{FF2B5EF4-FFF2-40B4-BE49-F238E27FC236}">
                <a16:creationId xmlns:a16="http://schemas.microsoft.com/office/drawing/2014/main" id="{C79EAA77-0B31-4BAE-82A1-31BAF57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6C9003-E92A-43F8-93BA-1519838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a → 4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0256FFC-6B71-407C-AF7E-9ABA8F3F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7" name="Chain node 2">
            <a:extLst xmlns:a="http://schemas.openxmlformats.org/drawingml/2006/main">
              <a:ext uri="{FF2B5EF4-FFF2-40B4-BE49-F238E27FC236}">
                <a16:creationId xmlns:a16="http://schemas.microsoft.com/office/drawing/2014/main" id="{F7E7972D-53BF-4057-B4B3-3AACB0B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FC29F4-3466-46F1-BF8A-B5C3927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ConstFold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t1 = 8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238A67F-77E0-4CC9-B9E4-B1720788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0" name="Chain node 3">
            <a:extLst xmlns:a="http://schemas.openxmlformats.org/drawingml/2006/main">
              <a:ext uri="{FF2B5EF4-FFF2-40B4-BE49-F238E27FC236}">
                <a16:creationId xmlns:a16="http://schemas.microsoft.com/office/drawing/2014/main" id="{69FC48BD-42D0-4CA4-8484-5B90E596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4EA4E3E-7471-4510-90F3-1CFFF3D8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t1 → t2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65874F4-5D6E-45E8-8BB2-0D5C2BBA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3" name="Chain node 4">
            <a:extLst xmlns:a="http://schemas.openxmlformats.org/drawingml/2006/main">
              <a:ext uri="{FF2B5EF4-FFF2-40B4-BE49-F238E27FC236}">
                <a16:creationId xmlns:a16="http://schemas.microsoft.com/office/drawing/2014/main" id="{EC8D70F4-3FC6-4B3C-9035-A41EEB84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1F7A12-A75F-40A4-B2E3-6814756D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ConstFold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t2 = 9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594065-C1F2-4638-9586-421A849E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6" name="Chain node 5">
            <a:extLst xmlns:a="http://schemas.openxmlformats.org/drawingml/2006/main">
              <a:ext uri="{FF2B5EF4-FFF2-40B4-BE49-F238E27FC236}">
                <a16:creationId xmlns:a16="http://schemas.microsoft.com/office/drawing/2014/main" id="{75B851AB-81CE-4AC9-A818-DC855CD3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0ECB685-AB83-4C66-965C-51DA62F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b → t3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DEBA879-2B8A-42EA-BA1A-84B52BCA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9" name="Chain node 6">
            <a:extLst xmlns:a="http://schemas.openxmlformats.org/drawingml/2006/main">
              <a:ext uri="{FF2B5EF4-FFF2-40B4-BE49-F238E27FC236}">
                <a16:creationId xmlns:a16="http://schemas.microsoft.com/office/drawing/2014/main" id="{BABF55D0-AF50-43CA-8098-BB9EB7C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4A61C48-3BD8-4E73-A480-CEA77039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ConstFold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t3 = 19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95E56A-161D-4761-B407-12F2253D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22" name="Chain node 7">
            <a:extLst xmlns:a="http://schemas.openxmlformats.org/drawingml/2006/main">
              <a:ext uri="{FF2B5EF4-FFF2-40B4-BE49-F238E27FC236}">
                <a16:creationId xmlns:a16="http://schemas.microsoft.com/office/drawing/2014/main" id="{E9642E1E-C856-4FF3-B2B4-10F7192D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1CD9523-70E6-4358-820E-B59D902A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c → return</a:t>
            </a:r>
            <a:endParaRPr sz="1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DE1E334-D8AD-4700-BE25-0AAE1701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747B"/>
                </a:solidFill>
              </a:rPr>
              <a:t>Each step in our example was made possible by the step before it.</a:t>
            </a:r>
            <a:endParaRPr sz="1300"/>
          </a:p>
        </p:txBody>
      </p:sp>
      <p:graphicFrame>
        <p:nvGraphicFramePr>
          <p:cNvPr id="26" name="Table 0">
            <a:extLst xmlns:a="http://schemas.openxmlformats.org/drawingml/2006/main">
              <a:ext uri="{FF2B5EF4-FFF2-40B4-BE49-F238E27FC236}">
                <a16:creationId xmlns:a16="http://schemas.microsoft.com/office/drawing/2014/main" id="{D8F8A0EF-E1F6-48FD-8E88-675F9B9AD5C9}"/>
              </a:ext>
            </a:extLst>
          </p:cNvPr>
          <p:cNvGraphicFramePr/>
          <p:nvPr/>
        </p:nvGraphicFramePr>
        <p:xfrm>
          <a:off xmlns:a="http://schemas.openxmlformats.org/drawingml/2006/main" x="640080" y="3337560"/>
          <a:ext xmlns:a="http://schemas.openxmlformats.org/drawingml/2006/main" cx="1088136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468880"/>
                <a:gridCol w="4937760"/>
                <a:gridCol w="100584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Enabler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Enables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Known operands allow compile-time evaluation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Further propagation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 folded result becomes a new constant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Known branch condition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Reachability cleanup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 constant condition can make a block unreachable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68747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5890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906F6E-DEEF-458C-96D4-54565C7D3EF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Behavior Validation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7866CA-4C5A-4AAA-9E00-1D45017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OptiTAC compares the AST reference, original IR and selected IR on eligible inputs.</a:t>
            </a:r>
            <a:endParaRPr sz="1600"/>
          </a:p>
        </p:txBody>
      </p:sp>
      <p:sp>
        <p:nvSpPr>
          <p:cNvPr id="4" name="Verify step 1">
            <a:extLst xmlns:a="http://schemas.openxmlformats.org/drawingml/2006/main">
              <a:ext uri="{FF2B5EF4-FFF2-40B4-BE49-F238E27FC236}">
                <a16:creationId xmlns:a16="http://schemas.microsoft.com/office/drawing/2014/main" id="{5265A994-2531-42EE-9E5B-EAABE9C7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3291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04143E6-CDD2-48D1-9418-DB09B97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1586D"/>
                </a:solidFill>
              </a:rPr>
              <a:t>AST + original IR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029D3B-0782-4E05-A151-07B748C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First check agreement between source and original IR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51D882-4CF0-43A3-B2F6-D0D4433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783080"/>
            <a:ext cx="5029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31586D"/>
                </a:solidFill>
              </a:rPr>
              <a:t>›</a:t>
            </a:r>
            <a:endParaRPr sz="2200"/>
          </a:p>
        </p:txBody>
      </p:sp>
      <p:sp>
        <p:nvSpPr>
          <p:cNvPr id="8" name="Verify step 2">
            <a:extLst xmlns:a="http://schemas.openxmlformats.org/drawingml/2006/main">
              <a:ext uri="{FF2B5EF4-FFF2-40B4-BE49-F238E27FC236}">
                <a16:creationId xmlns:a16="http://schemas.microsoft.com/office/drawing/2014/main" id="{CCD21230-E80B-484E-AAD6-F1472279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83080"/>
            <a:ext cx="3291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F7608D9-2D43-42BE-8944-2889777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202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1586D"/>
                </a:solidFill>
              </a:rPr>
              <a:t>Selected IR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DB9DE8D-99C0-4F87-9097-0E525104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2316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Run each candidate in the bounded interpreter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E62DE9-8545-42FD-8B30-DDA01418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783080"/>
            <a:ext cx="5029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31586D"/>
                </a:solidFill>
              </a:rPr>
              <a:t>›</a:t>
            </a:r>
            <a:endParaRPr sz="2200"/>
          </a:p>
        </p:txBody>
      </p:sp>
      <p:sp>
        <p:nvSpPr>
          <p:cNvPr id="12" name="Verify step 3">
            <a:extLst xmlns:a="http://schemas.openxmlformats.org/drawingml/2006/main">
              <a:ext uri="{FF2B5EF4-FFF2-40B4-BE49-F238E27FC236}">
                <a16:creationId xmlns:a16="http://schemas.microsoft.com/office/drawing/2014/main" id="{677D3E93-55DA-4664-963A-733AE589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83080"/>
            <a:ext cx="3291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6EDDA6-A451-4664-97E9-9F07D4A7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9202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1586D"/>
                </a:solidFill>
              </a:rPr>
              <a:t>Compare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D909765-233D-4DA4-BD5B-059010F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42316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Compare stdout and typed return values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495558A-B0E4-4EE2-B777-B8B9EE66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Sample verdict for our example</a:t>
            </a:r>
            <a:endParaRPr sz="1300"/>
          </a:p>
        </p:txBody>
      </p:sp>
      <p:sp>
        <p:nvSpPr>
          <p:cNvPr id="16" name="Verdict">
            <a:extLst xmlns:a="http://schemas.openxmlformats.org/drawingml/2006/main">
              <a:ext uri="{FF2B5EF4-FFF2-40B4-BE49-F238E27FC236}">
                <a16:creationId xmlns:a16="http://schemas.microsoft.com/office/drawing/2014/main" id="{249A7AB3-AE62-460A-A040-1FF6C57E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667512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F498B39-C9EE-41F6-87F0-F21E4873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63093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AST / original IR : 19</a:t>
            </a:r>
            <a:endParaRPr sz="15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Selected IR       : 19</a:t>
            </a:r>
            <a:endParaRPr sz="15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5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 b="1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PASS on this defined input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7D796D6-4CF4-4037-B119-8A00ECCA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747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Validation limits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47027EC-9970-4EC8-B3D0-E6C40C7B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40480"/>
            <a:ext cx="37490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20282D"/>
                </a:solidFill>
              </a:rPr>
              <a:t>Up to 12 supplied inputs and 8 generated probes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20282D"/>
                </a:solidFill>
              </a:rPr>
              <a:t>Undefined or limited runs are inconclusive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20282D"/>
                </a:solidFill>
              </a:rPr>
              <a:t>Finite checks do not prove equivalence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8705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B537FCB-C467-4D62-AAE2-03AE74E6AA3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ML Guidance and Targeted Testing</a:t>
            </a:r>
            <a:endParaRPr sz="2600"/>
          </a:p>
        </p:txBody>
      </p:sp>
      <p:sp>
        <p:nvSpPr>
          <p:cNvPr id="3" name="Card 1">
            <a:extLst xmlns:a="http://schemas.openxmlformats.org/drawingml/2006/main">
              <a:ext uri="{FF2B5EF4-FFF2-40B4-BE49-F238E27FC236}">
                <a16:creationId xmlns:a16="http://schemas.microsoft.com/office/drawing/2014/main" id="{5359BA20-6797-4136-BEBF-7ADEBFB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4" name="Card accent">
            <a:extLst xmlns:a="http://schemas.openxmlformats.org/drawingml/2006/main">
              <a:ext uri="{FF2B5EF4-FFF2-40B4-BE49-F238E27FC236}">
                <a16:creationId xmlns:a16="http://schemas.microsoft.com/office/drawing/2014/main" id="{7641CFA1-B04F-4EB5-B913-D32F9822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7EF94D-2E8A-4FFD-AFE3-E5D298FA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002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Pass ranking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9B3AD6-D5BB-4A57-BDB3-C8A97A32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 bundled random forest predicts per-pass static-cost savings. Measured cost ranks retained candidates.</a:t>
            </a:r>
            <a:endParaRPr sz="1400"/>
          </a:p>
        </p:txBody>
      </p:sp>
      <p:sp>
        <p:nvSpPr>
          <p:cNvPr id="7" name="Card 2">
            <a:extLst xmlns:a="http://schemas.openxmlformats.org/drawingml/2006/main">
              <a:ext uri="{FF2B5EF4-FFF2-40B4-BE49-F238E27FC236}">
                <a16:creationId xmlns:a16="http://schemas.microsoft.com/office/drawing/2014/main" id="{8EE88EAF-C8FC-4B50-A66C-E0D13CE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716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Card accent">
            <a:extLst xmlns:a="http://schemas.openxmlformats.org/drawingml/2006/main">
              <a:ext uri="{FF2B5EF4-FFF2-40B4-BE49-F238E27FC236}">
                <a16:creationId xmlns:a16="http://schemas.microsoft.com/office/drawing/2014/main" id="{3393B3FF-0CDE-4E0A-A102-14124FA3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716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28EAF3-EA8F-40B0-99B2-8238FDDE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6002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Targeted inputs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8965A85-5834-4DED-98FB-3545167D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945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Affine comparison boundaries propose inputs that may reach branches missed by the supplied cases.</a:t>
            </a:r>
            <a:endParaRPr sz="1400"/>
          </a:p>
        </p:txBody>
      </p:sp>
      <p:sp>
        <p:nvSpPr>
          <p:cNvPr id="11" name="Card 3">
            <a:extLst xmlns:a="http://schemas.openxmlformats.org/drawingml/2006/main">
              <a:ext uri="{FF2B5EF4-FFF2-40B4-BE49-F238E27FC236}">
                <a16:creationId xmlns:a16="http://schemas.microsoft.com/office/drawing/2014/main" id="{405FD09A-FE56-48A2-A603-AD602167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3716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2" name="Card accent">
            <a:extLst xmlns:a="http://schemas.openxmlformats.org/drawingml/2006/main">
              <a:ext uri="{FF2B5EF4-FFF2-40B4-BE49-F238E27FC236}">
                <a16:creationId xmlns:a16="http://schemas.microsoft.com/office/drawing/2014/main" id="{8A5B58D0-937D-47CB-BEC3-C01B904E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3716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06E85E-7F4D-4462-9FBB-D467484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6002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Failure reduction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499E2A7-D5A3-4795-8D03-DA4807E6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1945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Rejected candidates can retain simpler stdin and a shorter ordered pass sequence for replay.</a:t>
            </a:r>
            <a:endParaRPr sz="1400"/>
          </a:p>
        </p:txBody>
      </p:sp>
      <p:sp>
        <p:nvSpPr>
          <p:cNvPr id="15" name="USP banner">
            <a:extLst xmlns:a="http://schemas.openxmlformats.org/drawingml/2006/main">
              <a:ext uri="{FF2B5EF4-FFF2-40B4-BE49-F238E27FC236}">
                <a16:creationId xmlns:a16="http://schemas.microsoft.com/office/drawing/2014/main" id="{77B1CED8-38B3-46CB-A9DF-D690CF1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07899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234C503-6DB2-4A86-BF95-38A4277F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0560"/>
            <a:ext cx="10241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ML ranks the search. Defined execution comparisons decide candidate eligibility.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5336948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29960A-F204-49F5-84B3-C39F8B4BBD9D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Recorded Evaluation Results</a:t>
            </a:r>
            <a:endParaRPr sz="2600"/>
          </a:p>
        </p:txBody>
      </p:sp>
      <p:graphicFrame>
        <p:nvGraphicFramePr>
          <p:cNvPr id="15" name="Table 0">
            <a:extLst xmlns:a="http://schemas.openxmlformats.org/drawingml/2006/main">
              <a:ext uri="{FF2B5EF4-FFF2-40B4-BE49-F238E27FC236}">
                <a16:creationId xmlns:a16="http://schemas.microsoft.com/office/drawing/2014/main" id="{A67586CA-EED1-43CC-BB20-750CB107C20B}"/>
              </a:ext>
            </a:extLst>
          </p:cNvPr>
          <p:cNvGraphicFramePr/>
          <p:nvPr/>
        </p:nvGraphicFramePr>
        <p:xfrm>
          <a:off xmlns:a="http://schemas.openxmlformats.org/drawingml/2006/main" x="640080" y="1371600"/>
          <a:ext xmlns:a="http://schemas.openxmlformats.org/drawingml/2006/main" cx="10881360" cy="46085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9496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Experiment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outcome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ML synthetic holdout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548 IR states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Related generated structures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Gain-ratio prediction error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0.00450 MAE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Static-cost target only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Seeded-fault detection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110 / 120 targeted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Fixed baseline: 2 / 120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Held-out audit detection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110 / 120 anchored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Mutation-only: 49 / 120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Replay-suite inputs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242 vs 960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74.8% fewer replay inputs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Regression verification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290 tests passed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Recorded 28 October 2026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209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DB8A454-B8D2-4FBB-9889-08E59523F5AE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Demonstration and Evidence</a:t>
            </a:r>
            <a:endParaRPr sz="2600"/>
          </a:p>
        </p:txBody>
      </p:sp>
      <p:sp>
        <p:nvSpPr>
          <p:cNvPr id="3" name="Plan row 1">
            <a:extLst xmlns:a="http://schemas.openxmlformats.org/drawingml/2006/main">
              <a:ext uri="{FF2B5EF4-FFF2-40B4-BE49-F238E27FC236}">
                <a16:creationId xmlns:a16="http://schemas.microsoft.com/office/drawing/2014/main" id="{EEF70A66-39D6-4D31-AE40-D9B21A77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881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4" name="Plan label 1">
            <a:extLst xmlns:a="http://schemas.openxmlformats.org/drawingml/2006/main">
              <a:ext uri="{FF2B5EF4-FFF2-40B4-BE49-F238E27FC236}">
                <a16:creationId xmlns:a16="http://schemas.microsoft.com/office/drawing/2014/main" id="{B5F0E6CF-73AD-4081-A1E3-11D4FB7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2011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E73B85-C132-489E-BEA2-BEE7DFA1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20116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1.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921F5E-76C5-440E-A086-9D78E6AB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46304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Analyze the scalar example. Inspect tokens, syntax, types and IR, then compare the selected route with its transformation logs.</a:t>
            </a:r>
            <a:endParaRPr sz="1600"/>
          </a:p>
        </p:txBody>
      </p:sp>
      <p:sp>
        <p:nvSpPr>
          <p:cNvPr id="7" name="Plan row 2">
            <a:extLst xmlns:a="http://schemas.openxmlformats.org/drawingml/2006/main">
              <a:ext uri="{FF2B5EF4-FFF2-40B4-BE49-F238E27FC236}">
                <a16:creationId xmlns:a16="http://schemas.microsoft.com/office/drawing/2014/main" id="{04E9034C-0CBA-4604-8B52-D9945F35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10881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Plan label 2">
            <a:extLst xmlns:a="http://schemas.openxmlformats.org/drawingml/2006/main">
              <a:ext uri="{FF2B5EF4-FFF2-40B4-BE49-F238E27FC236}">
                <a16:creationId xmlns:a16="http://schemas.microsoft.com/office/drawing/2014/main" id="{63C2D5E1-439B-4B12-AF9F-45507017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011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2A202F-FDCF-491D-8041-3E2687B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0116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2.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58C0930-FD7A-4775-8D09-B9D79CCC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92608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Open the hidden-fault example. Supplied stdin 300 999 misses the fault. A targeted probe at 137 exposes return values 7 and 8.</a:t>
            </a:r>
            <a:endParaRPr sz="1600"/>
          </a:p>
        </p:txBody>
      </p:sp>
      <p:sp>
        <p:nvSpPr>
          <p:cNvPr id="11" name="Plan row 3">
            <a:extLst xmlns:a="http://schemas.openxmlformats.org/drawingml/2006/main">
              <a:ext uri="{FF2B5EF4-FFF2-40B4-BE49-F238E27FC236}">
                <a16:creationId xmlns:a16="http://schemas.microsoft.com/office/drawing/2014/main" id="{8D98E504-14FA-4155-9BEA-78CB23E5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10881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2" name="Plan label 3">
            <a:extLst xmlns:a="http://schemas.openxmlformats.org/drawingml/2006/main">
              <a:ext uri="{FF2B5EF4-FFF2-40B4-BE49-F238E27FC236}">
                <a16:creationId xmlns:a16="http://schemas.microsoft.com/office/drawing/2014/main" id="{7DC86B16-23EF-4C08-A144-EFE6F9B5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2011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C051A7D-66D6-4529-BF4D-6495B82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20116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3.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C54C7A-ECA8-4FE1-975C-E46763BA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38912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Inspect the reduced input 137 0 and the witness matrix. Export the JSON evidence with outcomes, selected tests and audit details.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018319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486A67-0E1A-4E2B-95BF-D6A147D13D4C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Limitations and Future Work</a:t>
            </a:r>
            <a:endParaRPr sz="2600"/>
          </a:p>
        </p:txBody>
      </p:sp>
      <p:sp>
        <p:nvSpPr>
          <p:cNvPr id="3" name="Card 1">
            <a:extLst xmlns:a="http://schemas.openxmlformats.org/drawingml/2006/main">
              <a:ext uri="{FF2B5EF4-FFF2-40B4-BE49-F238E27FC236}">
                <a16:creationId xmlns:a16="http://schemas.microsoft.com/office/drawing/2014/main" id="{F368A70E-5CBD-4482-8208-E109722F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4" name="Card accent">
            <a:extLst xmlns:a="http://schemas.openxmlformats.org/drawingml/2006/main">
              <a:ext uri="{FF2B5EF4-FFF2-40B4-BE49-F238E27FC236}">
                <a16:creationId xmlns:a16="http://schemas.microsoft.com/office/drawing/2014/main" id="{52B65CAD-5751-4246-9135-24A7074F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6344D2-6B56-43ED-94EF-5F38065C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Language scope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FE51AF-3D35-459A-9F09-6424A4D6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Extend beyond the scalar visual subset with explicit semantics for additional C/C++ constructs.</a:t>
            </a:r>
            <a:endParaRPr sz="1400"/>
          </a:p>
        </p:txBody>
      </p:sp>
      <p:sp>
        <p:nvSpPr>
          <p:cNvPr id="7" name="Card 2">
            <a:extLst xmlns:a="http://schemas.openxmlformats.org/drawingml/2006/main">
              <a:ext uri="{FF2B5EF4-FFF2-40B4-BE49-F238E27FC236}">
                <a16:creationId xmlns:a16="http://schemas.microsoft.com/office/drawing/2014/main" id="{0D450AB8-08B4-4034-A613-87E6E85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Card accent">
            <a:extLst xmlns:a="http://schemas.openxmlformats.org/drawingml/2006/main">
              <a:ext uri="{FF2B5EF4-FFF2-40B4-BE49-F238E27FC236}">
                <a16:creationId xmlns:a16="http://schemas.microsoft.com/office/drawing/2014/main" id="{2BA75D8D-BA05-4955-9184-FE4415D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650803-C672-4329-ACDC-EB781662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Independent tests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B69B94-5512-4C93-8D2A-38BA5896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Evaluate external programs and stronger input-generation baselines. The current corpus favors affine boundaries.</a:t>
            </a:r>
            <a:endParaRPr sz="1400"/>
          </a:p>
        </p:txBody>
      </p:sp>
      <p:sp>
        <p:nvSpPr>
          <p:cNvPr id="11" name="Card 3">
            <a:extLst xmlns:a="http://schemas.openxmlformats.org/drawingml/2006/main">
              <a:ext uri="{FF2B5EF4-FFF2-40B4-BE49-F238E27FC236}">
                <a16:creationId xmlns:a16="http://schemas.microsoft.com/office/drawing/2014/main" id="{898832E9-4C4D-40F1-BA73-F04487FF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2" name="Card accent">
            <a:extLst xmlns:a="http://schemas.openxmlformats.org/drawingml/2006/main">
              <a:ext uri="{FF2B5EF4-FFF2-40B4-BE49-F238E27FC236}">
                <a16:creationId xmlns:a16="http://schemas.microsoft.com/office/drawing/2014/main" id="{7D5A0D52-ABAC-4032-AD0F-E7A8E5CD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97E1560-FC0B-48CE-B98A-BA314DA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Stronger assurance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A2524BD-4D41-4227-88E2-C1151D91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Reduce shared-oracle risk. Finite tests and a static-cost proxy cannot establish universal correctness or runtime speedup.</a:t>
            </a:r>
            <a:endParaRPr sz="1400"/>
          </a:p>
        </p:txBody>
      </p:sp>
      <p:sp>
        <p:nvSpPr>
          <p:cNvPr id="15" name="Card 4">
            <a:extLst xmlns:a="http://schemas.openxmlformats.org/drawingml/2006/main">
              <a:ext uri="{FF2B5EF4-FFF2-40B4-BE49-F238E27FC236}">
                <a16:creationId xmlns:a16="http://schemas.microsoft.com/office/drawing/2014/main" id="{0F587F2C-AC48-429E-95B4-765399C3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6" name="Card accent">
            <a:extLst xmlns:a="http://schemas.openxmlformats.org/drawingml/2006/main">
              <a:ext uri="{FF2B5EF4-FFF2-40B4-BE49-F238E27FC236}">
                <a16:creationId xmlns:a16="http://schemas.microsoft.com/office/drawing/2014/main" id="{79774FCD-AEF9-46D1-A575-95C16C23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9661AE-17E8-4C29-AC4D-AF7244A5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Learning study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CF8D431-802E-4ABD-9D34-D30755C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Measure whether students understand compiler stages and pass interactions better after using the tool.</a:t>
            </a:r>
            <a:endParaRPr sz="1400"/>
          </a:p>
        </p:txBody>
      </p:sp>
      <p:sp>
        <p:nvSpPr>
          <p:cNvPr id="19" name="Goal banner">
            <a:extLst xmlns:a="http://schemas.openxmlformats.org/drawingml/2006/main">
              <a:ext uri="{FF2B5EF4-FFF2-40B4-BE49-F238E27FC236}">
                <a16:creationId xmlns:a16="http://schemas.microsoft.com/office/drawing/2014/main" id="{B115438B-0F93-454B-AFFE-1083FEE0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7899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C0C0D1-1E59-49BA-9776-4BE8E648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10241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OptiTAC connects compiler transformations with explanations and inspectable validation evidence.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88037608"/>
      </p:ext>
    </p:extLst>
  </p:cSld>
</p:sld>
</file>

<file path=ppt/theme/theme1.xml><?xml version="1.0" encoding="utf-8"?>
<a:theme xmlns:a="http://schemas.openxmlformats.org/drawingml/2006/main" name="OptiTAC">
  <a:themeElements>
    <a:clrScheme name="OptiTAC">
      <a:dk1>
        <a:srgbClr val="20282D"/>
      </a:dk1>
      <a:lt1>
        <a:srgbClr val="FAFAF7"/>
      </a:lt1>
      <a:dk2>
        <a:srgbClr val="31586D"/>
      </a:dk2>
      <a:lt2>
        <a:srgbClr val="FFFFFF"/>
      </a:lt2>
      <a:accent1>
        <a:srgbClr val="31586D"/>
      </a:accent1>
      <a:accent2>
        <a:srgbClr val="68747B"/>
      </a:accent2>
      <a:accent3>
        <a:srgbClr val="2E7D5B"/>
      </a:accent3>
      <a:accent4>
        <a:srgbClr val="B5483A"/>
      </a:accent4>
      <a:accent5>
        <a:srgbClr val="1B2226"/>
      </a:accent5>
      <a:accent6>
        <a:srgbClr val="D5D9DB"/>
      </a:accent6>
      <a:hlink>
        <a:srgbClr val="31586D"/>
      </a:hlink>
      <a:folHlink>
        <a:srgbClr val="68747B"/>
      </a:folHlink>
    </a:clrScheme>
    <a:fontScheme name="OptiTA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ptiTAC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2026-10-29T10:27:13.1450000Z</dcterms:created>
  <dcterms:modified xsi:type="dcterms:W3CDTF">2026-10-29T10:27:13.1450000Z</dcterms:modified>
</coreProperties>
</file>
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e84c0bd73ae4faf" /><Relationship Type="http://schemas.openxmlformats.org/officeDocument/2006/relationships/extended-properties" Target="/docProps/app.xml" Id="R0ddc5aa300734c39" /><Relationship Type="http://schemas.openxmlformats.org/officeDocument/2006/relationships/officeDocument" Target="/ppt/presentation.xml" Id="R71c107f8b9ad4784" /></Relationships>
</file>

<file path=ppt/presentation.xml><?xml version="1.0" encoding="utf-8"?>
<p:presentation xmlns:p="http://schemas.openxmlformats.org/presentationml/2006/main">
  <p:sldMasterIdLst>
    <p:sldMasterId xmlns:r="http://schemas.openxmlformats.org/officeDocument/2006/relationships" id="2147483648" r:id="R14a0f07f478b44be"/>
  </p:sldMasterIdLst>
  <p:notesMasterIdLst>
    <p:notesMasterId xmlns:r="http://schemas.openxmlformats.org/officeDocument/2006/relationships" r:id="R7740bd098bb54ff1"/>
  </p:notesMasterIdLst>
  <p:sldIdLst>
    <p:sldId xmlns:r="http://schemas.openxmlformats.org/officeDocument/2006/relationships" id="256" r:id="Ra65c32e41daf4d34"/>
    <p:sldId xmlns:r="http://schemas.openxmlformats.org/officeDocument/2006/relationships" id="257" r:id="R64b4671a06df4f21"/>
    <p:sldId xmlns:r="http://schemas.openxmlformats.org/officeDocument/2006/relationships" id="258" r:id="Rf7a73910fe164586"/>
    <p:sldId xmlns:r="http://schemas.openxmlformats.org/officeDocument/2006/relationships" id="259" r:id="R390c4da8f0dc478d"/>
    <p:sldId xmlns:r="http://schemas.openxmlformats.org/officeDocument/2006/relationships" id="260" r:id="R51ac290e85954725"/>
    <p:sldId xmlns:r="http://schemas.openxmlformats.org/officeDocument/2006/relationships" id="261" r:id="Re1fcb45e70454a47"/>
    <p:sldId xmlns:r="http://schemas.openxmlformats.org/officeDocument/2006/relationships" id="262" r:id="R7ef83b5a239944a9"/>
    <p:sldId xmlns:r="http://schemas.openxmlformats.org/officeDocument/2006/relationships" id="263" r:id="R73866695d7bb4ddd"/>
    <p:sldId xmlns:r="http://schemas.openxmlformats.org/officeDocument/2006/relationships" id="264" r:id="Rbdfc439cc19045a1"/>
    <p:sldId xmlns:r="http://schemas.openxmlformats.org/officeDocument/2006/relationships" id="265" r:id="Rd694c126b8354874"/>
    <p:sldId xmlns:r="http://schemas.openxmlformats.org/officeDocument/2006/relationships" id="266" r:id="R0f4facb8811044f9"/>
    <p:sldId xmlns:r="http://schemas.openxmlformats.org/officeDocument/2006/relationships" id="267" r:id="Rf74f657b7f034ce1"/>
    <p:sldId xmlns:r="http://schemas.openxmlformats.org/officeDocument/2006/relationships" id="268" r:id="R7b9d0d674527482f"/>
    <p:sldId xmlns:r="http://schemas.openxmlformats.org/officeDocument/2006/relationships" id="269" r:id="R07cf50776b304dae"/>
    <p:sldId xmlns:r="http://schemas.openxmlformats.org/officeDocument/2006/relationships" id="270" r:id="R2a923289d84f4a5d"/>
    <p:sldId xmlns:r="http://schemas.openxmlformats.org/officeDocument/2006/relationships" id="271" r:id="R380baf97d6624a1b"/>
    <p:sldId xmlns:r="http://schemas.openxmlformats.org/officeDocument/2006/relationships" id="272" r:id="R3e39664aa15e4e8f"/>
    <p:sldId xmlns:r="http://schemas.openxmlformats.org/officeDocument/2006/relationships" id="273" r:id="R4c0c9ad8dfd345e2"/>
    <p:sldId xmlns:r="http://schemas.openxmlformats.org/officeDocument/2006/relationships" id="274" r:id="R3e006f68439741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2c7e75c21b49bf" /><Relationship Type="http://schemas.openxmlformats.org/officeDocument/2006/relationships/slideMaster" Target="/ppt/slideMasters/slideMaster1.xml" Id="R14a0f07f478b44be" /><Relationship Type="http://schemas.openxmlformats.org/officeDocument/2006/relationships/notesMaster" Target="/ppt/notesMasters/notesMaster1.xml" Id="R7740bd098bb54ff1" /><Relationship Type="http://schemas.openxmlformats.org/officeDocument/2006/relationships/presProps" Target="/ppt/presProps.xml" Id="Rde21640e4552443e" /><Relationship Type="http://schemas.openxmlformats.org/officeDocument/2006/relationships/tableStyles" Target="/ppt/tableStyles.xml" Id="R6a28ba88982143e5" /><Relationship Type="http://schemas.openxmlformats.org/officeDocument/2006/relationships/slide" Target="/ppt/slides/slide1.xml" Id="Ra65c32e41daf4d34" /><Relationship Type="http://schemas.openxmlformats.org/officeDocument/2006/relationships/slide" Target="/ppt/slides/slide2.xml" Id="R64b4671a06df4f21" /><Relationship Type="http://schemas.openxmlformats.org/officeDocument/2006/relationships/slide" Target="/ppt/slides/slide3.xml" Id="Rf7a73910fe164586" /><Relationship Type="http://schemas.openxmlformats.org/officeDocument/2006/relationships/slide" Target="/ppt/slides/slide4.xml" Id="R390c4da8f0dc478d" /><Relationship Type="http://schemas.openxmlformats.org/officeDocument/2006/relationships/slide" Target="/ppt/slides/slide5.xml" Id="R51ac290e85954725" /><Relationship Type="http://schemas.openxmlformats.org/officeDocument/2006/relationships/slide" Target="/ppt/slides/slide6.xml" Id="Re1fcb45e70454a47" /><Relationship Type="http://schemas.openxmlformats.org/officeDocument/2006/relationships/slide" Target="/ppt/slides/slide7.xml" Id="R7ef83b5a239944a9" /><Relationship Type="http://schemas.openxmlformats.org/officeDocument/2006/relationships/slide" Target="/ppt/slides/slide8.xml" Id="R73866695d7bb4ddd" /><Relationship Type="http://schemas.openxmlformats.org/officeDocument/2006/relationships/slide" Target="/ppt/slides/slide9.xml" Id="Rbdfc439cc19045a1" /><Relationship Type="http://schemas.openxmlformats.org/officeDocument/2006/relationships/slide" Target="/ppt/slides/slide10.xml" Id="Rd694c126b8354874" /><Relationship Type="http://schemas.openxmlformats.org/officeDocument/2006/relationships/slide" Target="/ppt/slides/slide11.xml" Id="R0f4facb8811044f9" /><Relationship Type="http://schemas.openxmlformats.org/officeDocument/2006/relationships/slide" Target="/ppt/slides/slide12.xml" Id="Rf74f657b7f034ce1" /><Relationship Type="http://schemas.openxmlformats.org/officeDocument/2006/relationships/slide" Target="/ppt/slides/slide13.xml" Id="R7b9d0d674527482f" /><Relationship Type="http://schemas.openxmlformats.org/officeDocument/2006/relationships/slide" Target="/ppt/slides/slide14.xml" Id="R07cf50776b304dae" /><Relationship Type="http://schemas.openxmlformats.org/officeDocument/2006/relationships/slide" Target="/ppt/slides/slide15.xml" Id="R2a923289d84f4a5d" /><Relationship Type="http://schemas.openxmlformats.org/officeDocument/2006/relationships/slide" Target="/ppt/slides/slide16.xml" Id="R380baf97d6624a1b" /><Relationship Type="http://schemas.openxmlformats.org/officeDocument/2006/relationships/slide" Target="/ppt/slides/slide17.xml" Id="R3e39664aa15e4e8f" /><Relationship Type="http://schemas.openxmlformats.org/officeDocument/2006/relationships/slide" Target="/ppt/slides/slide18.xml" Id="R4c0c9ad8dfd345e2" /><Relationship Type="http://schemas.openxmlformats.org/officeDocument/2006/relationships/slide" Target="/ppt/slides/slide19.xml" Id="R3e006f68439741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ee6957086846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a1622869214e9e" /><Relationship Type="http://schemas.openxmlformats.org/officeDocument/2006/relationships/notesMaster" Target="/ppt/notesMasters/notesMaster1.xml" Id="Rbc89cc799bdf41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17f49c07ba49ab" /><Relationship Type="http://schemas.openxmlformats.org/officeDocument/2006/relationships/notesMaster" Target="/ppt/notesMasters/notesMaster1.xml" Id="R473eb984370247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96b7ffb159405a" /><Relationship Type="http://schemas.openxmlformats.org/officeDocument/2006/relationships/notesMaster" Target="/ppt/notesMasters/notesMaster1.xml" Id="Rb1c1b3f3c77845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7dfb7ec236425a" /><Relationship Type="http://schemas.openxmlformats.org/officeDocument/2006/relationships/notesMaster" Target="/ppt/notesMasters/notesMaster1.xml" Id="R8ea4be79cd6c41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5c0286caa44e16" /><Relationship Type="http://schemas.openxmlformats.org/officeDocument/2006/relationships/notesMaster" Target="/ppt/notesMasters/notesMaster1.xml" Id="Re175c5a76a7c4a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913a17f80f415b" /><Relationship Type="http://schemas.openxmlformats.org/officeDocument/2006/relationships/notesMaster" Target="/ppt/notesMasters/notesMaster1.xml" Id="Rbf8d73feb35946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3d54f54f374a63" /><Relationship Type="http://schemas.openxmlformats.org/officeDocument/2006/relationships/notesMaster" Target="/ppt/notesMasters/notesMaster1.xml" Id="R780fe6e1bd194c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7f27a20a1044cf" /><Relationship Type="http://schemas.openxmlformats.org/officeDocument/2006/relationships/notesMaster" Target="/ppt/notesMasters/notesMaster1.xml" Id="R8c87a6e497a149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f819ce066041a7" /><Relationship Type="http://schemas.openxmlformats.org/officeDocument/2006/relationships/notesMaster" Target="/ppt/notesMasters/notesMaster1.xml" Id="R21049106abb943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a31761d676443c" /><Relationship Type="http://schemas.openxmlformats.org/officeDocument/2006/relationships/notesMaster" Target="/ppt/notesMasters/notesMaster1.xml" Id="R3a225b4033f545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28b488c8e948c3" /><Relationship Type="http://schemas.openxmlformats.org/officeDocument/2006/relationships/notesMaster" Target="/ppt/notesMasters/notesMaster1.xml" Id="R28bdfc77078449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54ed70faf44d29" /><Relationship Type="http://schemas.openxmlformats.org/officeDocument/2006/relationships/notesMaster" Target="/ppt/notesMasters/notesMaster1.xml" Id="Rf7ab2dd2480640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f58e4e14954bd3" /><Relationship Type="http://schemas.openxmlformats.org/officeDocument/2006/relationships/notesMaster" Target="/ppt/notesMasters/notesMaster1.xml" Id="Raed22de7a27b4b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713cd177074f3f" /><Relationship Type="http://schemas.openxmlformats.org/officeDocument/2006/relationships/notesMaster" Target="/ppt/notesMasters/notesMaster1.xml" Id="R064ba2d1313e47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88fb4c249749f8" /><Relationship Type="http://schemas.openxmlformats.org/officeDocument/2006/relationships/notesMaster" Target="/ppt/notesMasters/notesMaster1.xml" Id="R465b049f9617490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a3da12bef84aba" /><Relationship Type="http://schemas.openxmlformats.org/officeDocument/2006/relationships/notesMaster" Target="/ppt/notesMasters/notesMaster1.xml" Id="Rf6849cd28e1f413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7ec5c2712b4b8b" /><Relationship Type="http://schemas.openxmlformats.org/officeDocument/2006/relationships/notesMaster" Target="/ppt/notesMasters/notesMaster1.xml" Id="R72750f3b44ae4f5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e6afa1e2b8e4245" /><Relationship Type="http://schemas.openxmlformats.org/officeDocument/2006/relationships/notesMaster" Target="/ppt/notesMasters/notesMaster1.xml" Id="R981913b3ee494c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6d875f9119b473a" /><Relationship Type="http://schemas.openxmlformats.org/officeDocument/2006/relationships/notesMaster" Target="/ppt/notesMasters/notesMaster1.xml" Id="R6e64db93142e4f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spatial compiler-learning portal with deterministic compilation, a local ML pass scout, and inspectable optimization evidence. All visual evidence is captured from the local project on 23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Compiler stages are often taught as separate definitions or a single before/after output. The design is intended to support exploration; improved learner outcomes have not been measured in a participant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Express is a visual replay of a completed compilation, not a wall-clock performance visualization. It supports play, pause, rewind and direct selection. Failed stages retain earlier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lexer emits token kind, lexeme, line and column. Whitespace is skipped. EOF is explicit. Identifiers are not checked for declaration until semantic analysis. Select tokens to inspect the classification and 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recursive-descent parser implements initialized declarations and return expressions. Multiplication, division and remainder bind before addition and subtraction. Parentheses change the subtree. Unary minus is not implemented; use 0 - 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Semantic analysis tracks declared symbols and initialization. It rejects duplicate declarations, undeclared names and float-to-int narrowing; int-to-float widening is allowed. Runtime arithmetic still follows JavaScript Number rather than fixed-width C integer semantics.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 traversal lowers expressions to assign, binary and return instructions. Reserved $t temporary names cannot collide with source identifiers. IDs stay attached through rewrites and removals.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 order is fixed. Selected passes repeat until unchanged or ten rounds. The UI reports convergence. Instruction count is not execution speed. Division and remainder operations that may trap remain observable.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snapshot is deep-copied. Logs include before/after TAC, pass/round, instruction IDs, modifications/removals, rewrite explanations, original-versus-current outcomes, and an execution trace with variable states. The first divergent checkpoint is not a formal root-cause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int apples=8; int unused=apples/0; return apples; must still fail after optimization under this interpreter. This is not a claim about C undefined behavior. Successful observations use Object.is; failures compare error 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omission analysis reruns the entire selected pipeline without one pass. Deltas include interactions, are not additive and do not measure runtime speedup. Fault injection is excluded from these comparisons. Zero can indicate compensation or no applicability.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reference: https://scikit-learn.org/stable/modules/neighbors.html. The application uses its own TypeScript k-nearest-neighbor implementation; it does not depend on scikit-learn. It predicts isolated-pass rewrite counts, not safety, runtime or global optimal pass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 features: total instructions, constant assignments, copy assignments, constant binary expressions, repeated expressions, unused targets, divisions/remainders. Training-only mean/std scale the features. Distance-weighted means use five training neighbors; exact matches share equal weight.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generated from src/compiler/ml/scout.ts. Fixed split: 192 training samples and 48 held-out synthetic TAC programs. All held-out samples are excluded from training-only scaling and neighbor selection. Structurally similar examples can cross the split. Top-choice agreement accepts any pass tied for the largest measured isolated rewrite count. Results are 43/48 for kNN and 42/48 for the majority-pass baseline; the one-case gain is not evidence of statistical significance or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 questions cover lexer, parser, semantics, TAC, optimization, verification and ML. Correct answers award unique passport stamps; wrong answers explain the concept and allow another attempt. Stamps persist in localStorage if available. Visiting places is tracked separately and does not award knowledge stamps. Tools never require an unlock.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npm test; npm run build; npm run lint; scripts/town-browser.mjs. Independent arithmetic expressions cover 60 generated source expressions across all 32 pass subsets = 1,920 program/subset cases. Sixty synthetic IR programs are checked against all five isolated passes = 300 checks. Automated tests are not proof of correctness for all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LLVM OptBisect https://llvm.org/docs/OptBisect.html; LLVM optimization remarks https://llvm.org/docs/Remarks.html; Alive2 https://github.com/AliveToolkit/alive2; nearest-neighbor regression https://scikit-learn.org/stable/modules/neighbors.html. All accessed 23 October 2026. These establish related foundations. The project does not claim to invent pass debugging, validation, kNN or gamification, and no publication acceptance or learner-outcome study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grammar is a straight-line MiniC-inspired subset with initialized int/float declarations and returns. JavaScript Number arithmetic is explicit. No branches, loops, CFG, symbolic proof or external runtime inputs are implemented. Learning-program bounds limit source and TAC size to keep trace memory readable. Research evaluation should compare baseline explanation views with the spatial workflow and add structurally grouped external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demo: launch npm run dev; open Town map; send the market order; visit Token Post, Syntax Studio and Repair Garage; play Pipeline Express; inspect the ML predictions and held-out evaluation; answer a challenge; load and compile the hidden trap; compare errors at Watchtower; toggle injected fault to show first divergence; export evidence JSON. Explain that replay is a completed-run visualization and that the seeded fault is artificial.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aada2a48da49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0f760fd8c84b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ce4b86562e48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c09a0f6b6946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9c48cad7ce47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f21e05023441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0DF8FA-237F-40AB-B5CD-03A1DF66D24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32B854C-4F8B-4AC2-902D-09A9634435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3FA349-7980-4CD7-B061-AF7C9CA32D9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DD4923-52E8-464E-AF21-8DE425AB17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7205447-D096-466C-81EC-CA31D4B599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A49F49-EFD0-46F5-9141-1A8F542130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D0ED3A-5DFF-4065-884F-D2B5B17B0F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83E94C-B4C6-4B77-86BC-13544FE33A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87E93C-4629-4F15-81EB-87614BA6C6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1AF58A-2B52-490D-98EB-98D3E26396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c1bc87724947f2" /><Relationship Type="http://schemas.openxmlformats.org/officeDocument/2006/relationships/slideLayout" Target="/ppt/slideLayouts/slideLayout1.xml" Id="Rf26ae5a6efdd452f" /><Relationship Type="http://schemas.openxmlformats.org/officeDocument/2006/relationships/slideLayout" Target="/ppt/slideLayouts/slideLayout2.xml" Id="R5387eea27b894327" /><Relationship Type="http://schemas.openxmlformats.org/officeDocument/2006/relationships/slideLayout" Target="/ppt/slideLayouts/slideLayout3.xml" Id="R54ee49b70fbd4cf2" /><Relationship Type="http://schemas.openxmlformats.org/officeDocument/2006/relationships/slideLayout" Target="/ppt/slideLayouts/slideLayout4.xml" Id="R86e72f0061784ed6" /><Relationship Type="http://schemas.openxmlformats.org/officeDocument/2006/relationships/slideLayout" Target="/ppt/slideLayouts/slideLayout5.xml" Id="R8097d976764943a6" /><Relationship Type="http://schemas.openxmlformats.org/officeDocument/2006/relationships/slideLayout" Target="/ppt/slideLayouts/slideLayout6.xml" Id="Rb276c9e086444d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6ae5a6efdd452f"/>
    <p:sldLayoutId xmlns:r="http://schemas.openxmlformats.org/officeDocument/2006/relationships" id="2147483650" r:id="R5387eea27b894327"/>
    <p:sldLayoutId xmlns:r="http://schemas.openxmlformats.org/officeDocument/2006/relationships" id="2147483651" r:id="R54ee49b70fbd4cf2"/>
    <p:sldLayoutId xmlns:r="http://schemas.openxmlformats.org/officeDocument/2006/relationships" id="2147483652" r:id="R86e72f0061784ed6"/>
    <p:sldLayoutId xmlns:r="http://schemas.openxmlformats.org/officeDocument/2006/relationships" id="2147483653" r:id="R8097d976764943a6"/>
    <p:sldLayoutId xmlns:r="http://schemas.openxmlformats.org/officeDocument/2006/relationships" id="2147483654" r:id="Rb276c9e086444d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ec514e6e314d73" /><Relationship Type="http://schemas.openxmlformats.org/officeDocument/2006/relationships/image" Target="/ppt/media/image.png" Id="R76e2b1d09a004d12" /><Relationship Type="http://schemas.openxmlformats.org/officeDocument/2006/relationships/notesSlide" Target="/ppt/notesSlides/notesSlide1.xml" Id="R9c422726b35147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8b5ad6bdd64900" /><Relationship Type="http://schemas.openxmlformats.org/officeDocument/2006/relationships/notesSlide" Target="/ppt/notesSlides/notesSlide2.xml" Id="R2ffde05efa8e43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e89e3eaa4d247ca" /><Relationship Type="http://schemas.openxmlformats.org/officeDocument/2006/relationships/image" Target="/ppt/media/image2.png" Id="R1f603ac41300444b" /><Relationship Type="http://schemas.openxmlformats.org/officeDocument/2006/relationships/notesSlide" Target="/ppt/notesSlides/notesSlide3.xml" Id="R9d3903dcb1c243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924cb2aecc4e1f" /><Relationship Type="http://schemas.openxmlformats.org/officeDocument/2006/relationships/image" Target="/ppt/media/image3.png" Id="R534855d9f9404b5c" /><Relationship Type="http://schemas.openxmlformats.org/officeDocument/2006/relationships/notesSlide" Target="/ppt/notesSlides/notesSlide4.xml" Id="Rf01a0c39365442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31fa584c694ad9" /><Relationship Type="http://schemas.openxmlformats.org/officeDocument/2006/relationships/image" Target="/ppt/media/image4.png" Id="R8bb2a8267cad4f80" /><Relationship Type="http://schemas.openxmlformats.org/officeDocument/2006/relationships/notesSlide" Target="/ppt/notesSlides/notesSlide5.xml" Id="Rd66ddacb2b7f44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454763b9684711" /><Relationship Type="http://schemas.openxmlformats.org/officeDocument/2006/relationships/image" Target="/ppt/media/image5.png" Id="R8d5d8866f4ff487b" /><Relationship Type="http://schemas.openxmlformats.org/officeDocument/2006/relationships/notesSlide" Target="/ppt/notesSlides/notesSlide6.xml" Id="Rb548ad1a35394c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dedd7d5d2642c9" /><Relationship Type="http://schemas.openxmlformats.org/officeDocument/2006/relationships/image" Target="/ppt/media/image6.png" Id="R3672d5516d334d52" /><Relationship Type="http://schemas.openxmlformats.org/officeDocument/2006/relationships/notesSlide" Target="/ppt/notesSlides/notesSlide7.xml" Id="R2e66a20a2c9c43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c0eea9d0bf547a4" /><Relationship Type="http://schemas.openxmlformats.org/officeDocument/2006/relationships/notesSlide" Target="/ppt/notesSlides/notesSlide8.xml" Id="Rf8f78b1bbc4e47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b80a688c914204" /><Relationship Type="http://schemas.openxmlformats.org/officeDocument/2006/relationships/image" Target="/ppt/media/image7.png" Id="R4c43e66b09e746e4" /><Relationship Type="http://schemas.openxmlformats.org/officeDocument/2006/relationships/notesSlide" Target="/ppt/notesSlides/notesSlide9.xml" Id="Red1aede3fa8a46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ac441ece2854d97" /><Relationship Type="http://schemas.openxmlformats.org/officeDocument/2006/relationships/image" Target="/ppt/media/image8.png" Id="R20f05f7ebc264812" /><Relationship Type="http://schemas.openxmlformats.org/officeDocument/2006/relationships/notesSlide" Target="/ppt/notesSlides/notesSlide10.xml" Id="Rd900a06b0f2244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0c90150eb0e4e38" /><Relationship Type="http://schemas.openxmlformats.org/officeDocument/2006/relationships/notesSlide" Target="/ppt/notesSlides/notesSlide11.xml" Id="Ref95e3c5e8ab48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3cad2f3571e447a" /><Relationship Type="http://schemas.openxmlformats.org/officeDocument/2006/relationships/notesSlide" Target="/ppt/notesSlides/notesSlide12.xml" Id="Rb0c76517f1a241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f1db398627b4ff0" /><Relationship Type="http://schemas.openxmlformats.org/officeDocument/2006/relationships/image" Target="/ppt/media/image9.png" Id="Re32a563243da4e8d" /><Relationship Type="http://schemas.openxmlformats.org/officeDocument/2006/relationships/notesSlide" Target="/ppt/notesSlides/notesSlide13.xml" Id="R90b53f45f9b440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17b3527f8ad4094" /><Relationship Type="http://schemas.openxmlformats.org/officeDocument/2006/relationships/chart" Target="/ppt/slides/charts/chart1.xml" Id="R720ac43733614534" /><Relationship Type="http://schemas.openxmlformats.org/officeDocument/2006/relationships/notesSlide" Target="/ppt/notesSlides/notesSlide14.xml" Id="Rade4d6387f9f48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b2e20d646fe4bf3" /><Relationship Type="http://schemas.openxmlformats.org/officeDocument/2006/relationships/image" Target="/ppt/media/image10.png" Id="R803e32de4cde4fac" /><Relationship Type="http://schemas.openxmlformats.org/officeDocument/2006/relationships/notesSlide" Target="/ppt/notesSlides/notesSlide15.xml" Id="Rf618368ce55945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0813c099d8442d1" /><Relationship Type="http://schemas.openxmlformats.org/officeDocument/2006/relationships/notesSlide" Target="/ppt/notesSlides/notesSlide16.xml" Id="R2fe979b580e34b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a797b8fcdb3403d" /><Relationship Type="http://schemas.openxmlformats.org/officeDocument/2006/relationships/notesSlide" Target="/ppt/notesSlides/notesSlide17.xml" Id="R979a9c6a4fee4b7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64b6a39a74d4feb" /><Relationship Type="http://schemas.openxmlformats.org/officeDocument/2006/relationships/notesSlide" Target="/ppt/notesSlides/notesSlide18.xml" Id="R7ccce19b20dc484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35a8be90d7c4644" /><Relationship Type="http://schemas.openxmlformats.org/officeDocument/2006/relationships/notesSlide" Target="/ppt/notesSlides/notesSlide19.xml" Id="R197bd032bb07492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Top-choice agreement (%)</c:v>
          </c:tx>
          <c:spPr>
            <a:solidFill xmlns:a="http://schemas.openxmlformats.org/drawingml/2006/main">
              <a:srgbClr val="6E8B5B"/>
            </a:solidFill>
          </c:spPr>
          <c:invertIfNegative val="0"/>
          <c:cat>
            <c:strRef>
              <c:f>'Chart Data'!$A$2:$A$3</c:f>
              <c:strCache>
                <c:ptCount val="2"/>
                <c:pt idx="0">
                  <c:v>Local kNN scout</c:v>
                </c:pt>
                <c:pt idx="1">
                  <c:v>Majority-pass baseline</c:v>
                </c:pt>
              </c:strCache>
            </c:strRef>
          </c:cat>
          <c:val>
            <c:numRef>
              <c:f>'Chart Data'!$B$2:$B$3</c:f>
              <c:numCache>
                <c:formatCode>0"%"</c:formatCode>
                <c:ptCount val="2"/>
                <c:pt idx="0">
                  <c:v>89.6</c:v>
                </c:pt>
                <c:pt idx="1">
                  <c:v>87.5</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650">
                  <a:solidFill>
                    <a:srgbClr val="344638"/>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F7F62"/>
                </a:solidFill>
                <a:latin typeface="Arial"/>
                <a:ea typeface="Arial"/>
                <a:cs typeface="Arial"/>
              </a:defRPr>
            </a:pPr>
          </a:p>
        </c:txPr>
        <c:crossAx val="48672768"/>
      </c:catAx>
      <c:valAx>
        <c:axId val="48672768"/>
        <c:scaling>
          <c:orientation val="minMax"/>
          <c:max val="100"/>
          <c:min val="0"/>
        </c:scaling>
        <c:delete val="0"/>
        <c:axPos val="b"/>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F7F62"/>
                </a:solidFill>
                <a:latin typeface="Arial"/>
                <a:ea typeface="Arial"/>
                <a:cs typeface="Arial"/>
              </a:defRPr>
            </a:pPr>
          </a:p>
        </c:txPr>
        <c:crossAx val="48650112"/>
        <c:crossBetween val="between"/>
        <c:majorUnit val="25"/>
      </c:valAx>
      <c:spPr>
        <a:solidFill xmlns:a="http://schemas.openxmlformats.org/drawingml/2006/main">
          <a:srgbClr val="F6F3EA"/>
        </a:solidFill>
      </c:spPr>
    </c:plotArea>
    <c:plotVisOnly val="1"/>
  </c:chart>
  <c:spPr>
    <a:solidFill xmlns:a="http://schemas.openxmlformats.org/drawingml/2006/main">
      <a:srgbClr val="F6F3E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8FFFF0D-FEFA-443D-9B7E-420BC4DFFF06}"/>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OptiTAC</a:t>
            </a:r>
          </a:p>
        </p:txBody>
      </p:sp>
      <p:sp>
        <p:nvSpPr>
          <p:cNvPr id="3" name="">
            <a:extLst xmlns:a="http://schemas.openxmlformats.org/drawingml/2006/main">
              <a:ext uri="{FF2B5EF4-FFF2-40B4-BE49-F238E27FC236}">
                <a16:creationId xmlns:a16="http://schemas.microsoft.com/office/drawing/2014/main" id="{240072DC-4A9D-4CF1-8238-CE33397F7131}"/>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5FB3065C-90EE-4951-90BA-557D7A26CD5B}"/>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05260CA-B960-4107-99B7-90F6F784A3F6}"/>
              </a:ext>
            </a:extLst>
          </p:cNvPr>
          <p:cNvSpPr>
            <a:spLocks xmlns:a="http://schemas.openxmlformats.org/drawingml/2006/main" noGrp="1"/>
          </p:cNvSpPr>
          <p:nvPr/>
        </p:nvSpPr>
        <p:spPr>
          <a:xfrm xmlns:a="http://schemas.openxmlformats.org/drawingml/2006/main">
            <a:off x="609600" y="1362075"/>
            <a:ext cx="4572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0">
                <a:solidFill>
                  <a:srgbClr val="344638"/>
                </a:solidFill>
                <a:latin typeface="Georgia"/>
                <a:ea typeface="Georgia"/>
                <a:cs typeface="Georgia"/>
              </a:defRPr>
            </a:defPPr>
            <a:lvl1pPr>
              <a:defRPr sz="4950" b="0">
                <a:solidFill>
                  <a:srgbClr val="344638"/>
                </a:solidFill>
                <a:latin typeface="Georgia"/>
                <a:ea typeface="Georgia"/>
                <a:cs typeface="Georgia"/>
              </a:defRPr>
            </a:lvl1pPr>
            <a:lvl2pPr>
              <a:defRPr sz="4950" b="0">
                <a:solidFill>
                  <a:srgbClr val="344638"/>
                </a:solidFill>
                <a:latin typeface="Georgia"/>
                <a:ea typeface="Georgia"/>
                <a:cs typeface="Georgia"/>
              </a:defRPr>
            </a:lvl2pPr>
            <a:lvl3pPr>
              <a:defRPr sz="4950" b="0">
                <a:solidFill>
                  <a:srgbClr val="344638"/>
                </a:solidFill>
                <a:latin typeface="Georgia"/>
                <a:ea typeface="Georgia"/>
                <a:cs typeface="Georgia"/>
              </a:defRPr>
            </a:lvl3pPr>
            <a:lvl4pPr>
              <a:defRPr sz="4950" b="0">
                <a:solidFill>
                  <a:srgbClr val="344638"/>
                </a:solidFill>
                <a:latin typeface="Georgia"/>
                <a:ea typeface="Georgia"/>
                <a:cs typeface="Georgia"/>
              </a:defRPr>
            </a:lvl4pPr>
            <a:lvl5pPr>
              <a:defRPr sz="4950" b="0">
                <a:solidFill>
                  <a:srgbClr val="344638"/>
                </a:solidFill>
                <a:latin typeface="Georgia"/>
                <a:ea typeface="Georgia"/>
                <a:cs typeface="Georgia"/>
              </a:defRPr>
            </a:lvl5pPr>
            <a:lvl6pPr>
              <a:defRPr sz="4950" b="0">
                <a:solidFill>
                  <a:srgbClr val="344638"/>
                </a:solidFill>
                <a:latin typeface="Georgia"/>
                <a:ea typeface="Georgia"/>
                <a:cs typeface="Georgia"/>
              </a:defRPr>
            </a:lvl6pPr>
            <a:lvl7pPr>
              <a:defRPr sz="4950" b="0">
                <a:solidFill>
                  <a:srgbClr val="344638"/>
                </a:solidFill>
                <a:latin typeface="Georgia"/>
                <a:ea typeface="Georgia"/>
                <a:cs typeface="Georgia"/>
              </a:defRPr>
            </a:lvl7pPr>
            <a:lvl8pPr>
              <a:defRPr sz="4950" b="0">
                <a:solidFill>
                  <a:srgbClr val="344638"/>
                </a:solidFill>
                <a:latin typeface="Georgia"/>
                <a:ea typeface="Georgia"/>
                <a:cs typeface="Georgia"/>
              </a:defRPr>
            </a:lvl8pPr>
            <a:lvl9pPr>
              <a:defRPr sz="4950" b="0">
                <a:solidFill>
                  <a:srgbClr val="344638"/>
                </a:solidFill>
                <a:latin typeface="Georgia"/>
                <a:ea typeface="Georgia"/>
                <a:cs typeface="Georgia"/>
              </a:defRPr>
            </a:lvl9pPr>
          </a:lstStyle>
          <a:p xmlns:a="http://schemas.openxmlformats.org/drawingml/2006/main">
            <a:pPr>
              <a:defRPr sz="4950" b="0">
                <a:solidFill>
                  <a:srgbClr val="344638"/>
                </a:solidFill>
                <a:latin typeface="Georgia"/>
                <a:ea typeface="Georgia"/>
                <a:cs typeface="Georgia"/>
              </a:defRPr>
            </a:pPr>
            <a:r>
              <a:rPr sz="4950" b="0">
                <a:solidFill>
                  <a:srgbClr val="344638"/>
                </a:solidFill>
                <a:latin typeface="Georgia"/>
                <a:ea typeface="Georgia"/>
                <a:cs typeface="Georgia"/>
              </a:rPr>
              <a:t>Compiler Town</a:t>
            </a:r>
          </a:p>
        </p:txBody>
      </p:sp>
      <p:sp>
        <p:nvSpPr>
          <p:cNvPr id="6" name="">
            <a:extLst xmlns:a="http://schemas.openxmlformats.org/drawingml/2006/main">
              <a:ext uri="{FF2B5EF4-FFF2-40B4-BE49-F238E27FC236}">
                <a16:creationId xmlns:a16="http://schemas.microsoft.com/office/drawing/2014/main" id="{9248906F-2D7E-4C36-A5B4-0F0AA7D808BC}"/>
              </a:ext>
            </a:extLst>
          </p:cNvPr>
          <p:cNvSpPr>
            <a:spLocks xmlns:a="http://schemas.openxmlformats.org/drawingml/2006/main" noGrp="1"/>
          </p:cNvSpPr>
          <p:nvPr/>
        </p:nvSpPr>
        <p:spPr>
          <a:xfrm xmlns:a="http://schemas.openxmlformats.org/drawingml/2006/main">
            <a:off x="647700" y="3143250"/>
            <a:ext cx="414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F7F62"/>
                </a:solidFill>
                <a:latin typeface="Arial"/>
                <a:ea typeface="Arial"/>
                <a:cs typeface="Arial"/>
              </a:defRPr>
            </a:defPPr>
            <a:lvl1pPr>
              <a:defRPr sz="2100" b="0">
                <a:solidFill>
                  <a:srgbClr val="6F7F62"/>
                </a:solidFill>
                <a:latin typeface="Arial"/>
                <a:ea typeface="Arial"/>
                <a:cs typeface="Arial"/>
              </a:defRPr>
            </a:lvl1pPr>
            <a:lvl2pPr>
              <a:defRPr sz="2100" b="0">
                <a:solidFill>
                  <a:srgbClr val="6F7F62"/>
                </a:solidFill>
                <a:latin typeface="Arial"/>
                <a:ea typeface="Arial"/>
                <a:cs typeface="Arial"/>
              </a:defRPr>
            </a:lvl2pPr>
            <a:lvl3pPr>
              <a:defRPr sz="2100" b="0">
                <a:solidFill>
                  <a:srgbClr val="6F7F62"/>
                </a:solidFill>
                <a:latin typeface="Arial"/>
                <a:ea typeface="Arial"/>
                <a:cs typeface="Arial"/>
              </a:defRPr>
            </a:lvl3pPr>
            <a:lvl4pPr>
              <a:defRPr sz="2100" b="0">
                <a:solidFill>
                  <a:srgbClr val="6F7F62"/>
                </a:solidFill>
                <a:latin typeface="Arial"/>
                <a:ea typeface="Arial"/>
                <a:cs typeface="Arial"/>
              </a:defRPr>
            </a:lvl4pPr>
            <a:lvl5pPr>
              <a:defRPr sz="2100" b="0">
                <a:solidFill>
                  <a:srgbClr val="6F7F62"/>
                </a:solidFill>
                <a:latin typeface="Arial"/>
                <a:ea typeface="Arial"/>
                <a:cs typeface="Arial"/>
              </a:defRPr>
            </a:lvl5pPr>
            <a:lvl6pPr>
              <a:defRPr sz="2100" b="0">
                <a:solidFill>
                  <a:srgbClr val="6F7F62"/>
                </a:solidFill>
                <a:latin typeface="Arial"/>
                <a:ea typeface="Arial"/>
                <a:cs typeface="Arial"/>
              </a:defRPr>
            </a:lvl6pPr>
            <a:lvl7pPr>
              <a:defRPr sz="2100" b="0">
                <a:solidFill>
                  <a:srgbClr val="6F7F62"/>
                </a:solidFill>
                <a:latin typeface="Arial"/>
                <a:ea typeface="Arial"/>
                <a:cs typeface="Arial"/>
              </a:defRPr>
            </a:lvl7pPr>
            <a:lvl8pPr>
              <a:defRPr sz="2100" b="0">
                <a:solidFill>
                  <a:srgbClr val="6F7F62"/>
                </a:solidFill>
                <a:latin typeface="Arial"/>
                <a:ea typeface="Arial"/>
                <a:cs typeface="Arial"/>
              </a:defRPr>
            </a:lvl8pPr>
            <a:lvl9pPr>
              <a:defRPr sz="2100" b="0">
                <a:solidFill>
                  <a:srgbClr val="6F7F62"/>
                </a:solidFill>
                <a:latin typeface="Arial"/>
                <a:ea typeface="Arial"/>
                <a:cs typeface="Arial"/>
              </a:defRPr>
            </a:lvl9pPr>
          </a:lstStyle>
          <a:p xmlns:a="http://schemas.openxmlformats.org/drawingml/2006/main">
            <a:pPr>
              <a:defRPr sz="2100" b="0">
                <a:solidFill>
                  <a:srgbClr val="6F7F62"/>
                </a:solidFill>
                <a:latin typeface="Arial"/>
                <a:ea typeface="Arial"/>
                <a:cs typeface="Arial"/>
              </a:defRPr>
            </a:pPr>
            <a:r>
              <a:rPr sz="2100" b="0">
                <a:solidFill>
                  <a:srgbClr val="6F7F62"/>
                </a:solidFill>
                <a:latin typeface="Arial"/>
                <a:ea typeface="Arial"/>
                <a:cs typeface="Arial"/>
              </a:rPr>
              <a:t>Explore the pipeline.</a:t>
            </a:r>
          </a:p>
          <a:p xmlns:a="http://schemas.openxmlformats.org/drawingml/2006/main">
            <a:pPr>
              <a:defRPr sz="2100" b="0">
                <a:solidFill>
                  <a:srgbClr val="6F7F62"/>
                </a:solidFill>
                <a:latin typeface="Arial"/>
                <a:ea typeface="Arial"/>
                <a:cs typeface="Arial"/>
              </a:defRPr>
            </a:pPr>
            <a:r>
              <a:rPr sz="2100" b="0">
                <a:solidFill>
                  <a:srgbClr val="6F7F62"/>
                </a:solidFill>
                <a:latin typeface="Arial"/>
                <a:ea typeface="Arial"/>
                <a:cs typeface="Arial"/>
              </a:rPr>
              <a:t>Question every transformation.</a:t>
            </a:r>
          </a:p>
        </p:txBody>
      </p:sp>
      <p:sp>
        <p:nvSpPr>
          <p:cNvPr id="7" name="">
            <a:extLst xmlns:a="http://schemas.openxmlformats.org/drawingml/2006/main">
              <a:ext uri="{FF2B5EF4-FFF2-40B4-BE49-F238E27FC236}">
                <a16:creationId xmlns:a16="http://schemas.microsoft.com/office/drawing/2014/main" id="{811C98F3-CCF7-4BB7-9BC8-8753C5C407AE}"/>
              </a:ext>
            </a:extLst>
          </p:cNvPr>
          <p:cNvSpPr>
            <a:spLocks xmlns:a="http://schemas.openxmlformats.org/drawingml/2006/main" noGrp="1"/>
          </p:cNvSpPr>
          <p:nvPr/>
        </p:nvSpPr>
        <p:spPr>
          <a:xfrm xmlns:a="http://schemas.openxmlformats.org/drawingml/2006/main">
            <a:off x="647700" y="476250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F7F62"/>
                </a:solidFill>
                <a:latin typeface="Arial"/>
                <a:ea typeface="Arial"/>
                <a:cs typeface="Arial"/>
              </a:defRPr>
            </a:defPPr>
            <a:lvl1pPr>
              <a:defRPr sz="1725" b="0">
                <a:solidFill>
                  <a:srgbClr val="6F7F62"/>
                </a:solidFill>
                <a:latin typeface="Arial"/>
                <a:ea typeface="Arial"/>
                <a:cs typeface="Arial"/>
              </a:defRPr>
            </a:lvl1pPr>
            <a:lvl2pPr>
              <a:defRPr sz="1725" b="0">
                <a:solidFill>
                  <a:srgbClr val="6F7F62"/>
                </a:solidFill>
                <a:latin typeface="Arial"/>
                <a:ea typeface="Arial"/>
                <a:cs typeface="Arial"/>
              </a:defRPr>
            </a:lvl2pPr>
            <a:lvl3pPr>
              <a:defRPr sz="1725" b="0">
                <a:solidFill>
                  <a:srgbClr val="6F7F62"/>
                </a:solidFill>
                <a:latin typeface="Arial"/>
                <a:ea typeface="Arial"/>
                <a:cs typeface="Arial"/>
              </a:defRPr>
            </a:lvl3pPr>
            <a:lvl4pPr>
              <a:defRPr sz="1725" b="0">
                <a:solidFill>
                  <a:srgbClr val="6F7F62"/>
                </a:solidFill>
                <a:latin typeface="Arial"/>
                <a:ea typeface="Arial"/>
                <a:cs typeface="Arial"/>
              </a:defRPr>
            </a:lvl4pPr>
            <a:lvl5pPr>
              <a:defRPr sz="1725" b="0">
                <a:solidFill>
                  <a:srgbClr val="6F7F62"/>
                </a:solidFill>
                <a:latin typeface="Arial"/>
                <a:ea typeface="Arial"/>
                <a:cs typeface="Arial"/>
              </a:defRPr>
            </a:lvl5pPr>
            <a:lvl6pPr>
              <a:defRPr sz="1725" b="0">
                <a:solidFill>
                  <a:srgbClr val="6F7F62"/>
                </a:solidFill>
                <a:latin typeface="Arial"/>
                <a:ea typeface="Arial"/>
                <a:cs typeface="Arial"/>
              </a:defRPr>
            </a:lvl6pPr>
            <a:lvl7pPr>
              <a:defRPr sz="1725" b="0">
                <a:solidFill>
                  <a:srgbClr val="6F7F62"/>
                </a:solidFill>
                <a:latin typeface="Arial"/>
                <a:ea typeface="Arial"/>
                <a:cs typeface="Arial"/>
              </a:defRPr>
            </a:lvl7pPr>
            <a:lvl8pPr>
              <a:defRPr sz="1725" b="0">
                <a:solidFill>
                  <a:srgbClr val="6F7F62"/>
                </a:solidFill>
                <a:latin typeface="Arial"/>
                <a:ea typeface="Arial"/>
                <a:cs typeface="Arial"/>
              </a:defRPr>
            </a:lvl8pPr>
            <a:lvl9pPr>
              <a:defRPr sz="1725" b="0">
                <a:solidFill>
                  <a:srgbClr val="6F7F62"/>
                </a:solidFill>
                <a:latin typeface="Arial"/>
                <a:ea typeface="Arial"/>
                <a:cs typeface="Arial"/>
              </a:defRPr>
            </a:lvl9pPr>
          </a:lstStyle>
          <a:p xmlns:a="http://schemas.openxmlformats.org/drawingml/2006/main">
            <a:pPr>
              <a:defRPr sz="1725" b="0">
                <a:solidFill>
                  <a:srgbClr val="6F7F62"/>
                </a:solidFill>
                <a:latin typeface="Arial"/>
                <a:ea typeface="Arial"/>
                <a:cs typeface="Arial"/>
              </a:defRPr>
            </a:pPr>
            <a:r>
              <a:rPr sz="1725" b="0">
                <a:solidFill>
                  <a:srgbClr val="6F7F62"/>
                </a:solidFill>
                <a:latin typeface="Arial"/>
                <a:ea typeface="Arial"/>
                <a:cs typeface="Arial"/>
              </a:rPr>
              <a:t>Interactive compiler learning</a:t>
            </a:r>
          </a:p>
          <a:p xmlns:a="http://schemas.openxmlformats.org/drawingml/2006/main">
            <a:pPr>
              <a:defRPr sz="1725" b="0">
                <a:solidFill>
                  <a:srgbClr val="6F7F62"/>
                </a:solidFill>
                <a:latin typeface="Arial"/>
                <a:ea typeface="Arial"/>
                <a:cs typeface="Arial"/>
              </a:defRPr>
            </a:pPr>
            <a:r>
              <a:rPr sz="1725" b="0">
                <a:solidFill>
                  <a:srgbClr val="6F7F62"/>
                </a:solidFill>
                <a:latin typeface="Arial"/>
                <a:ea typeface="Arial"/>
                <a:cs typeface="Arial"/>
              </a:rPr>
              <a:t>with an evidence-checked ML scout</a:t>
            </a:r>
          </a:p>
        </p:txBody>
      </p:sp>
      <p:pic>
        <p:nvPicPr>
          <p:cNvPr id="8" name="">
            <a:extLst xmlns:a="http://schemas.openxmlformats.org/drawingml/2006/main">
              <a:ext uri="{FF2B5EF4-FFF2-40B4-BE49-F238E27FC236}">
                <a16:creationId xmlns:a16="http://schemas.microsoft.com/office/drawing/2014/main" id="{A53AD3EA-7F69-40E1-9FBB-499314D39515}"/>
              </a:ext>
            </a:extLst>
          </p:cNvPr>
          <p:cNvPicPr>
            <a:picLocks xmlns:a="http://schemas.openxmlformats.org/drawingml/2006/main" noChangeAspect="1"/>
          </p:cNvPicPr>
          <p:nvPr/>
        </p:nvPicPr>
        <p:blipFill>
          <a:blip xmlns:r="http://schemas.openxmlformats.org/officeDocument/2006/relationships" xmlns:a="http://schemas.openxmlformats.org/drawingml/2006/main" r:embed="R76e2b1d09a004d12"/>
          <a:stretch xmlns:a="http://schemas.openxmlformats.org/drawingml/2006/main"/>
        </p:blipFill>
        <p:spPr>
          <a:xfrm xmlns:a="http://schemas.openxmlformats.org/drawingml/2006/main">
            <a:off x="5381625" y="1427235"/>
            <a:ext cx="6191250" cy="4098780"/>
          </a:xfrm>
          <a:prstGeom xmlns:a="http://schemas.openxmlformats.org/drawingml/2006/main" prst="rect">
            <a:avLst/>
          </a:prstGeom>
        </p:spPr>
      </p:pic>
    </p:spTree>
    <p:extLst>
      <p:ext uri="{BB962C8B-B14F-4D97-AF65-F5344CB8AC3E}">
        <p14:creationId xmlns:p14="http://schemas.microsoft.com/office/powerpoint/2010/main" val="1710908384"/>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84303AB-D032-47B7-B5D8-9C683BEEF968}"/>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The learning problem</a:t>
            </a:r>
          </a:p>
        </p:txBody>
      </p:sp>
      <p:sp>
        <p:nvSpPr>
          <p:cNvPr id="3" name="">
            <a:extLst xmlns:a="http://schemas.openxmlformats.org/drawingml/2006/main">
              <a:ext uri="{FF2B5EF4-FFF2-40B4-BE49-F238E27FC236}">
                <a16:creationId xmlns:a16="http://schemas.microsoft.com/office/drawing/2014/main" id="{1E864158-1102-4343-93DB-508704AA967B}"/>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C704F1DC-49F6-4A71-A56A-581EEBA16AC6}"/>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32A6C3F-0A4E-4755-93D2-142D8B473ECB}"/>
              </a:ext>
            </a:extLst>
          </p:cNvPr>
          <p:cNvSpPr>
            <a:spLocks xmlns:a="http://schemas.openxmlformats.org/drawingml/2006/main" noGrp="1"/>
          </p:cNvSpPr>
          <p:nvPr/>
        </p:nvSpPr>
        <p:spPr>
          <a:xfrm xmlns:a="http://schemas.openxmlformats.org/drawingml/2006/main">
            <a:off x="628650" y="145732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0">
                <a:solidFill>
                  <a:srgbClr val="344638"/>
                </a:solidFill>
                <a:latin typeface="Georgia"/>
                <a:ea typeface="Georgia"/>
                <a:cs typeface="Georgia"/>
              </a:defRPr>
            </a:defPPr>
            <a:lvl1pPr>
              <a:defRPr sz="3525" b="0">
                <a:solidFill>
                  <a:srgbClr val="344638"/>
                </a:solidFill>
                <a:latin typeface="Georgia"/>
                <a:ea typeface="Georgia"/>
                <a:cs typeface="Georgia"/>
              </a:defRPr>
            </a:lvl1pPr>
            <a:lvl2pPr>
              <a:defRPr sz="3525" b="0">
                <a:solidFill>
                  <a:srgbClr val="344638"/>
                </a:solidFill>
                <a:latin typeface="Georgia"/>
                <a:ea typeface="Georgia"/>
                <a:cs typeface="Georgia"/>
              </a:defRPr>
            </a:lvl2pPr>
            <a:lvl3pPr>
              <a:defRPr sz="3525" b="0">
                <a:solidFill>
                  <a:srgbClr val="344638"/>
                </a:solidFill>
                <a:latin typeface="Georgia"/>
                <a:ea typeface="Georgia"/>
                <a:cs typeface="Georgia"/>
              </a:defRPr>
            </a:lvl3pPr>
            <a:lvl4pPr>
              <a:defRPr sz="3525" b="0">
                <a:solidFill>
                  <a:srgbClr val="344638"/>
                </a:solidFill>
                <a:latin typeface="Georgia"/>
                <a:ea typeface="Georgia"/>
                <a:cs typeface="Georgia"/>
              </a:defRPr>
            </a:lvl4pPr>
            <a:lvl5pPr>
              <a:defRPr sz="3525" b="0">
                <a:solidFill>
                  <a:srgbClr val="344638"/>
                </a:solidFill>
                <a:latin typeface="Georgia"/>
                <a:ea typeface="Georgia"/>
                <a:cs typeface="Georgia"/>
              </a:defRPr>
            </a:lvl5pPr>
            <a:lvl6pPr>
              <a:defRPr sz="3525" b="0">
                <a:solidFill>
                  <a:srgbClr val="344638"/>
                </a:solidFill>
                <a:latin typeface="Georgia"/>
                <a:ea typeface="Georgia"/>
                <a:cs typeface="Georgia"/>
              </a:defRPr>
            </a:lvl6pPr>
            <a:lvl7pPr>
              <a:defRPr sz="3525" b="0">
                <a:solidFill>
                  <a:srgbClr val="344638"/>
                </a:solidFill>
                <a:latin typeface="Georgia"/>
                <a:ea typeface="Georgia"/>
                <a:cs typeface="Georgia"/>
              </a:defRPr>
            </a:lvl7pPr>
            <a:lvl8pPr>
              <a:defRPr sz="3525" b="0">
                <a:solidFill>
                  <a:srgbClr val="344638"/>
                </a:solidFill>
                <a:latin typeface="Georgia"/>
                <a:ea typeface="Georgia"/>
                <a:cs typeface="Georgia"/>
              </a:defRPr>
            </a:lvl8pPr>
            <a:lvl9pPr>
              <a:defRPr sz="3525" b="0">
                <a:solidFill>
                  <a:srgbClr val="344638"/>
                </a:solidFill>
                <a:latin typeface="Georgia"/>
                <a:ea typeface="Georgia"/>
                <a:cs typeface="Georgia"/>
              </a:defRPr>
            </a:lvl9pPr>
          </a:lstStyle>
          <a:p xmlns:a="http://schemas.openxmlformats.org/drawingml/2006/main">
            <a:pPr>
              <a:defRPr sz="3525" b="0">
                <a:solidFill>
                  <a:srgbClr val="344638"/>
                </a:solidFill>
                <a:latin typeface="Georgia"/>
                <a:ea typeface="Georgia"/>
                <a:cs typeface="Georgia"/>
              </a:defRPr>
            </a:pPr>
            <a:r>
              <a:rPr sz="3525" b="0">
                <a:solidFill>
                  <a:srgbClr val="344638"/>
                </a:solidFill>
                <a:latin typeface="Georgia"/>
                <a:ea typeface="Georgia"/>
                <a:cs typeface="Georgia"/>
              </a:rPr>
              <a:t>Seeing the result is not enough.</a:t>
            </a:r>
          </a:p>
        </p:txBody>
      </p:sp>
      <p:sp>
        <p:nvSpPr>
          <p:cNvPr id="6" name="">
            <a:extLst xmlns:a="http://schemas.openxmlformats.org/drawingml/2006/main">
              <a:ext uri="{FF2B5EF4-FFF2-40B4-BE49-F238E27FC236}">
                <a16:creationId xmlns:a16="http://schemas.microsoft.com/office/drawing/2014/main" id="{7BD67675-D23E-41E5-9AE4-6FFA4231205A}"/>
              </a:ext>
            </a:extLst>
          </p:cNvPr>
          <p:cNvSpPr>
            <a:spLocks xmlns:a="http://schemas.openxmlformats.org/drawingml/2006/main" noGrp="1"/>
          </p:cNvSpPr>
          <p:nvPr/>
        </p:nvSpPr>
        <p:spPr>
          <a:xfrm xmlns:a="http://schemas.openxmlformats.org/drawingml/2006/main">
            <a:off x="666750" y="2733675"/>
            <a:ext cx="10191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344638"/>
                </a:solidFill>
                <a:latin typeface="Arial"/>
                <a:ea typeface="Arial"/>
                <a:cs typeface="Arial"/>
              </a:defRPr>
            </a:defPPr>
            <a:lvl1pPr>
              <a:defRPr sz="2250" b="0">
                <a:solidFill>
                  <a:srgbClr val="344638"/>
                </a:solidFill>
                <a:latin typeface="Arial"/>
                <a:ea typeface="Arial"/>
                <a:cs typeface="Arial"/>
              </a:defRPr>
            </a:lvl1pPr>
            <a:lvl2pPr>
              <a:defRPr sz="2250" b="0">
                <a:solidFill>
                  <a:srgbClr val="344638"/>
                </a:solidFill>
                <a:latin typeface="Arial"/>
                <a:ea typeface="Arial"/>
                <a:cs typeface="Arial"/>
              </a:defRPr>
            </a:lvl2pPr>
            <a:lvl3pPr>
              <a:defRPr sz="2250" b="0">
                <a:solidFill>
                  <a:srgbClr val="344638"/>
                </a:solidFill>
                <a:latin typeface="Arial"/>
                <a:ea typeface="Arial"/>
                <a:cs typeface="Arial"/>
              </a:defRPr>
            </a:lvl3pPr>
            <a:lvl4pPr>
              <a:defRPr sz="2250" b="0">
                <a:solidFill>
                  <a:srgbClr val="344638"/>
                </a:solidFill>
                <a:latin typeface="Arial"/>
                <a:ea typeface="Arial"/>
                <a:cs typeface="Arial"/>
              </a:defRPr>
            </a:lvl4pPr>
            <a:lvl5pPr>
              <a:defRPr sz="2250" b="0">
                <a:solidFill>
                  <a:srgbClr val="344638"/>
                </a:solidFill>
                <a:latin typeface="Arial"/>
                <a:ea typeface="Arial"/>
                <a:cs typeface="Arial"/>
              </a:defRPr>
            </a:lvl5pPr>
            <a:lvl6pPr>
              <a:defRPr sz="2250" b="0">
                <a:solidFill>
                  <a:srgbClr val="344638"/>
                </a:solidFill>
                <a:latin typeface="Arial"/>
                <a:ea typeface="Arial"/>
                <a:cs typeface="Arial"/>
              </a:defRPr>
            </a:lvl6pPr>
            <a:lvl7pPr>
              <a:defRPr sz="2250" b="0">
                <a:solidFill>
                  <a:srgbClr val="344638"/>
                </a:solidFill>
                <a:latin typeface="Arial"/>
                <a:ea typeface="Arial"/>
                <a:cs typeface="Arial"/>
              </a:defRPr>
            </a:lvl7pPr>
            <a:lvl8pPr>
              <a:defRPr sz="2250" b="0">
                <a:solidFill>
                  <a:srgbClr val="344638"/>
                </a:solidFill>
                <a:latin typeface="Arial"/>
                <a:ea typeface="Arial"/>
                <a:cs typeface="Arial"/>
              </a:defRPr>
            </a:lvl8pPr>
            <a:lvl9pPr>
              <a:defRPr sz="2250" b="0">
                <a:solidFill>
                  <a:srgbClr val="344638"/>
                </a:solidFill>
                <a:latin typeface="Arial"/>
                <a:ea typeface="Arial"/>
                <a:cs typeface="Arial"/>
              </a:defRPr>
            </a:lvl9pPr>
          </a:lstStyle>
          <a:p xmlns:a="http://schemas.openxmlformats.org/drawingml/2006/main">
            <a:pPr>
              <a:defRPr sz="2250" b="0">
                <a:solidFill>
                  <a:srgbClr val="344638"/>
                </a:solidFill>
                <a:latin typeface="Arial"/>
                <a:ea typeface="Arial"/>
                <a:cs typeface="Arial"/>
              </a:defRPr>
            </a:pPr>
            <a:r>
              <a:rPr sz="2250" b="0">
                <a:solidFill>
                  <a:srgbClr val="344638"/>
                </a:solidFill>
                <a:latin typeface="Arial"/>
                <a:ea typeface="Arial"/>
                <a:cs typeface="Arial"/>
              </a:rPr>
              <a:t>Where did this artifact come from?</a:t>
            </a:r>
          </a:p>
        </p:txBody>
      </p:sp>
      <p:sp>
        <p:nvSpPr>
          <p:cNvPr id="7" name="">
            <a:extLst xmlns:a="http://schemas.openxmlformats.org/drawingml/2006/main">
              <a:ext uri="{FF2B5EF4-FFF2-40B4-BE49-F238E27FC236}">
                <a16:creationId xmlns:a16="http://schemas.microsoft.com/office/drawing/2014/main" id="{36ABEC73-0A77-402B-87AF-4CB94E440657}"/>
              </a:ext>
            </a:extLst>
          </p:cNvPr>
          <p:cNvSpPr>
            <a:spLocks xmlns:a="http://schemas.openxmlformats.org/drawingml/2006/main" noGrp="1"/>
          </p:cNvSpPr>
          <p:nvPr/>
        </p:nvSpPr>
        <p:spPr>
          <a:xfrm xmlns:a="http://schemas.openxmlformats.org/drawingml/2006/main">
            <a:off x="666750" y="3686175"/>
            <a:ext cx="10191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344638"/>
                </a:solidFill>
                <a:latin typeface="Arial"/>
                <a:ea typeface="Arial"/>
                <a:cs typeface="Arial"/>
              </a:defRPr>
            </a:defPPr>
            <a:lvl1pPr>
              <a:defRPr sz="2250" b="0">
                <a:solidFill>
                  <a:srgbClr val="344638"/>
                </a:solidFill>
                <a:latin typeface="Arial"/>
                <a:ea typeface="Arial"/>
                <a:cs typeface="Arial"/>
              </a:defRPr>
            </a:lvl1pPr>
            <a:lvl2pPr>
              <a:defRPr sz="2250" b="0">
                <a:solidFill>
                  <a:srgbClr val="344638"/>
                </a:solidFill>
                <a:latin typeface="Arial"/>
                <a:ea typeface="Arial"/>
                <a:cs typeface="Arial"/>
              </a:defRPr>
            </a:lvl2pPr>
            <a:lvl3pPr>
              <a:defRPr sz="2250" b="0">
                <a:solidFill>
                  <a:srgbClr val="344638"/>
                </a:solidFill>
                <a:latin typeface="Arial"/>
                <a:ea typeface="Arial"/>
                <a:cs typeface="Arial"/>
              </a:defRPr>
            </a:lvl3pPr>
            <a:lvl4pPr>
              <a:defRPr sz="2250" b="0">
                <a:solidFill>
                  <a:srgbClr val="344638"/>
                </a:solidFill>
                <a:latin typeface="Arial"/>
                <a:ea typeface="Arial"/>
                <a:cs typeface="Arial"/>
              </a:defRPr>
            </a:lvl4pPr>
            <a:lvl5pPr>
              <a:defRPr sz="2250" b="0">
                <a:solidFill>
                  <a:srgbClr val="344638"/>
                </a:solidFill>
                <a:latin typeface="Arial"/>
                <a:ea typeface="Arial"/>
                <a:cs typeface="Arial"/>
              </a:defRPr>
            </a:lvl5pPr>
            <a:lvl6pPr>
              <a:defRPr sz="2250" b="0">
                <a:solidFill>
                  <a:srgbClr val="344638"/>
                </a:solidFill>
                <a:latin typeface="Arial"/>
                <a:ea typeface="Arial"/>
                <a:cs typeface="Arial"/>
              </a:defRPr>
            </a:lvl6pPr>
            <a:lvl7pPr>
              <a:defRPr sz="2250" b="0">
                <a:solidFill>
                  <a:srgbClr val="344638"/>
                </a:solidFill>
                <a:latin typeface="Arial"/>
                <a:ea typeface="Arial"/>
                <a:cs typeface="Arial"/>
              </a:defRPr>
            </a:lvl7pPr>
            <a:lvl8pPr>
              <a:defRPr sz="2250" b="0">
                <a:solidFill>
                  <a:srgbClr val="344638"/>
                </a:solidFill>
                <a:latin typeface="Arial"/>
                <a:ea typeface="Arial"/>
                <a:cs typeface="Arial"/>
              </a:defRPr>
            </a:lvl8pPr>
            <a:lvl9pPr>
              <a:defRPr sz="2250" b="0">
                <a:solidFill>
                  <a:srgbClr val="344638"/>
                </a:solidFill>
                <a:latin typeface="Arial"/>
                <a:ea typeface="Arial"/>
                <a:cs typeface="Arial"/>
              </a:defRPr>
            </a:lvl9pPr>
          </a:lstStyle>
          <a:p xmlns:a="http://schemas.openxmlformats.org/drawingml/2006/main">
            <a:pPr>
              <a:defRPr sz="2250" b="0">
                <a:solidFill>
                  <a:srgbClr val="344638"/>
                </a:solidFill>
                <a:latin typeface="Arial"/>
                <a:ea typeface="Arial"/>
                <a:cs typeface="Arial"/>
              </a:defRPr>
            </a:pPr>
            <a:r>
              <a:rPr sz="2250" b="0">
                <a:solidFill>
                  <a:srgbClr val="344638"/>
                </a:solidFill>
                <a:latin typeface="Arial"/>
                <a:ea typeface="Arial"/>
                <a:cs typeface="Arial"/>
              </a:rPr>
              <a:t>Why did this instruction change?</a:t>
            </a:r>
          </a:p>
        </p:txBody>
      </p:sp>
      <p:sp>
        <p:nvSpPr>
          <p:cNvPr id="8" name="">
            <a:extLst xmlns:a="http://schemas.openxmlformats.org/drawingml/2006/main">
              <a:ext uri="{FF2B5EF4-FFF2-40B4-BE49-F238E27FC236}">
                <a16:creationId xmlns:a16="http://schemas.microsoft.com/office/drawing/2014/main" id="{65A90F4D-240D-469E-8504-29CDB159CA1B}"/>
              </a:ext>
            </a:extLst>
          </p:cNvPr>
          <p:cNvSpPr>
            <a:spLocks xmlns:a="http://schemas.openxmlformats.org/drawingml/2006/main" noGrp="1"/>
          </p:cNvSpPr>
          <p:nvPr/>
        </p:nvSpPr>
        <p:spPr>
          <a:xfrm xmlns:a="http://schemas.openxmlformats.org/drawingml/2006/main">
            <a:off x="666750" y="4638675"/>
            <a:ext cx="10191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344638"/>
                </a:solidFill>
                <a:latin typeface="Arial"/>
                <a:ea typeface="Arial"/>
                <a:cs typeface="Arial"/>
              </a:defRPr>
            </a:defPPr>
            <a:lvl1pPr>
              <a:defRPr sz="2250" b="0">
                <a:solidFill>
                  <a:srgbClr val="344638"/>
                </a:solidFill>
                <a:latin typeface="Arial"/>
                <a:ea typeface="Arial"/>
                <a:cs typeface="Arial"/>
              </a:defRPr>
            </a:lvl1pPr>
            <a:lvl2pPr>
              <a:defRPr sz="2250" b="0">
                <a:solidFill>
                  <a:srgbClr val="344638"/>
                </a:solidFill>
                <a:latin typeface="Arial"/>
                <a:ea typeface="Arial"/>
                <a:cs typeface="Arial"/>
              </a:defRPr>
            </a:lvl2pPr>
            <a:lvl3pPr>
              <a:defRPr sz="2250" b="0">
                <a:solidFill>
                  <a:srgbClr val="344638"/>
                </a:solidFill>
                <a:latin typeface="Arial"/>
                <a:ea typeface="Arial"/>
                <a:cs typeface="Arial"/>
              </a:defRPr>
            </a:lvl3pPr>
            <a:lvl4pPr>
              <a:defRPr sz="2250" b="0">
                <a:solidFill>
                  <a:srgbClr val="344638"/>
                </a:solidFill>
                <a:latin typeface="Arial"/>
                <a:ea typeface="Arial"/>
                <a:cs typeface="Arial"/>
              </a:defRPr>
            </a:lvl4pPr>
            <a:lvl5pPr>
              <a:defRPr sz="2250" b="0">
                <a:solidFill>
                  <a:srgbClr val="344638"/>
                </a:solidFill>
                <a:latin typeface="Arial"/>
                <a:ea typeface="Arial"/>
                <a:cs typeface="Arial"/>
              </a:defRPr>
            </a:lvl5pPr>
            <a:lvl6pPr>
              <a:defRPr sz="2250" b="0">
                <a:solidFill>
                  <a:srgbClr val="344638"/>
                </a:solidFill>
                <a:latin typeface="Arial"/>
                <a:ea typeface="Arial"/>
                <a:cs typeface="Arial"/>
              </a:defRPr>
            </a:lvl6pPr>
            <a:lvl7pPr>
              <a:defRPr sz="2250" b="0">
                <a:solidFill>
                  <a:srgbClr val="344638"/>
                </a:solidFill>
                <a:latin typeface="Arial"/>
                <a:ea typeface="Arial"/>
                <a:cs typeface="Arial"/>
              </a:defRPr>
            </a:lvl7pPr>
            <a:lvl8pPr>
              <a:defRPr sz="2250" b="0">
                <a:solidFill>
                  <a:srgbClr val="344638"/>
                </a:solidFill>
                <a:latin typeface="Arial"/>
                <a:ea typeface="Arial"/>
                <a:cs typeface="Arial"/>
              </a:defRPr>
            </a:lvl8pPr>
            <a:lvl9pPr>
              <a:defRPr sz="2250" b="0">
                <a:solidFill>
                  <a:srgbClr val="344638"/>
                </a:solidFill>
                <a:latin typeface="Arial"/>
                <a:ea typeface="Arial"/>
                <a:cs typeface="Arial"/>
              </a:defRPr>
            </a:lvl9pPr>
          </a:lstStyle>
          <a:p xmlns:a="http://schemas.openxmlformats.org/drawingml/2006/main">
            <a:pPr>
              <a:defRPr sz="2250" b="0">
                <a:solidFill>
                  <a:srgbClr val="344638"/>
                </a:solidFill>
                <a:latin typeface="Arial"/>
                <a:ea typeface="Arial"/>
                <a:cs typeface="Arial"/>
              </a:defRPr>
            </a:pPr>
            <a:r>
              <a:rPr sz="2250" b="0">
                <a:solidFill>
                  <a:srgbClr val="344638"/>
                </a:solidFill>
                <a:latin typeface="Arial"/>
                <a:ea typeface="Arial"/>
                <a:cs typeface="Arial"/>
              </a:rPr>
              <a:t>Did an optimization also change behavior?</a:t>
            </a:r>
          </a:p>
        </p:txBody>
      </p:sp>
    </p:spTree>
    <p:extLst>
      <p:ext uri="{BB962C8B-B14F-4D97-AF65-F5344CB8AC3E}">
        <p14:creationId xmlns:p14="http://schemas.microsoft.com/office/powerpoint/2010/main" val="2146147860"/>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AD77AFE-CACC-48F3-89C6-C65AD3C18C99}"/>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A source parcel travels through six stages</a:t>
            </a:r>
          </a:p>
        </p:txBody>
      </p:sp>
      <p:sp>
        <p:nvSpPr>
          <p:cNvPr id="3" name="">
            <a:extLst xmlns:a="http://schemas.openxmlformats.org/drawingml/2006/main">
              <a:ext uri="{FF2B5EF4-FFF2-40B4-BE49-F238E27FC236}">
                <a16:creationId xmlns:a16="http://schemas.microsoft.com/office/drawing/2014/main" id="{A3470B45-1593-4291-A7D0-F0EA38320E6E}"/>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ACD177B3-1FC6-41FB-AA73-15D674D8C002}"/>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BDF48208-9E26-4636-A166-17EEF6DD9F1B}"/>
              </a:ext>
            </a:extLst>
          </p:cNvPr>
          <p:cNvSpPr>
            <a:spLocks xmlns:a="http://schemas.openxmlformats.org/drawingml/2006/main" noGrp="1"/>
          </p:cNvSpPr>
          <p:nvPr/>
        </p:nvSpPr>
        <p:spPr>
          <a:xfrm xmlns:a="http://schemas.openxmlformats.org/drawingml/2006/main">
            <a:off x="609600" y="152400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One source program stays attached to its artifacts.</a:t>
            </a:r>
          </a:p>
        </p:txBody>
      </p:sp>
      <p:sp>
        <p:nvSpPr>
          <p:cNvPr id="6" name="">
            <a:extLst xmlns:a="http://schemas.openxmlformats.org/drawingml/2006/main">
              <a:ext uri="{FF2B5EF4-FFF2-40B4-BE49-F238E27FC236}">
                <a16:creationId xmlns:a16="http://schemas.microsoft.com/office/drawing/2014/main" id="{E7DCC875-FE98-4EA8-9A8E-5196A4E3F934}"/>
              </a:ext>
            </a:extLst>
          </p:cNvPr>
          <p:cNvSpPr>
            <a:spLocks xmlns:a="http://schemas.openxmlformats.org/drawingml/2006/main" noGrp="1"/>
          </p:cNvSpPr>
          <p:nvPr/>
        </p:nvSpPr>
        <p:spPr>
          <a:xfrm xmlns:a="http://schemas.openxmlformats.org/drawingml/2006/main">
            <a:off x="609600" y="27622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The central express view shows the whole route without the longer teaching explanations.</a:t>
            </a:r>
          </a:p>
        </p:txBody>
      </p:sp>
      <p:sp>
        <p:nvSpPr>
          <p:cNvPr id="7" name="">
            <a:extLst xmlns:a="http://schemas.openxmlformats.org/drawingml/2006/main">
              <a:ext uri="{FF2B5EF4-FFF2-40B4-BE49-F238E27FC236}">
                <a16:creationId xmlns:a16="http://schemas.microsoft.com/office/drawing/2014/main" id="{B804A00B-85DC-41AE-BCEC-C02179DFF7D6}"/>
              </a:ext>
            </a:extLst>
          </p:cNvPr>
          <p:cNvSpPr>
            <a:spLocks xmlns:a="http://schemas.openxmlformats.org/drawingml/2006/main" noGrp="1"/>
          </p:cNvSpPr>
          <p:nvPr/>
        </p:nvSpPr>
        <p:spPr>
          <a:xfrm xmlns:a="http://schemas.openxmlformats.org/drawingml/2006/main">
            <a:off x="609600" y="400050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Open a shop for the detailed explanation and experiments.</a:t>
            </a:r>
          </a:p>
        </p:txBody>
      </p:sp>
      <p:pic>
        <p:nvPicPr>
          <p:cNvPr id="8" name="">
            <a:extLst xmlns:a="http://schemas.openxmlformats.org/drawingml/2006/main">
              <a:ext uri="{FF2B5EF4-FFF2-40B4-BE49-F238E27FC236}">
                <a16:creationId xmlns:a16="http://schemas.microsoft.com/office/drawing/2014/main" id="{FBEF3A5E-3EAC-4FA3-8217-B8D434BF8712}"/>
              </a:ext>
            </a:extLst>
          </p:cNvPr>
          <p:cNvPicPr>
            <a:picLocks xmlns:a="http://schemas.openxmlformats.org/drawingml/2006/main" noChangeAspect="1"/>
          </p:cNvPicPr>
          <p:nvPr/>
        </p:nvPicPr>
        <p:blipFill>
          <a:blip xmlns:r="http://schemas.openxmlformats.org/officeDocument/2006/relationships" xmlns:a="http://schemas.openxmlformats.org/drawingml/2006/main" r:embed="R1f603ac41300444b"/>
          <a:stretch xmlns:a="http://schemas.openxmlformats.org/drawingml/2006/main"/>
        </p:blipFill>
        <p:spPr>
          <a:xfrm xmlns:a="http://schemas.openxmlformats.org/drawingml/2006/main">
            <a:off x="5048250" y="1440277"/>
            <a:ext cx="6524624" cy="4406071"/>
          </a:xfrm>
          <a:prstGeom xmlns:a="http://schemas.openxmlformats.org/drawingml/2006/main" prst="rect">
            <a:avLst/>
          </a:prstGeom>
        </p:spPr>
      </p:pic>
    </p:spTree>
    <p:extLst>
      <p:ext uri="{BB962C8B-B14F-4D97-AF65-F5344CB8AC3E}">
        <p14:creationId xmlns:p14="http://schemas.microsoft.com/office/powerpoint/2010/main" val="1557952908"/>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F30F246-94E5-493D-A627-2B69556AD3CF}"/>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Token Post / lexical analysis</a:t>
            </a:r>
          </a:p>
        </p:txBody>
      </p:sp>
      <p:sp>
        <p:nvSpPr>
          <p:cNvPr id="3" name="">
            <a:extLst xmlns:a="http://schemas.openxmlformats.org/drawingml/2006/main">
              <a:ext uri="{FF2B5EF4-FFF2-40B4-BE49-F238E27FC236}">
                <a16:creationId xmlns:a16="http://schemas.microsoft.com/office/drawing/2014/main" id="{CAFB4C7F-C186-40D2-AED9-C811D02C0581}"/>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FD536DC7-307A-42A0-8467-75F3E1F00585}"/>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DF8FB68-B707-47FF-96D2-524789EF97C3}"/>
              </a:ext>
            </a:extLst>
          </p:cNvPr>
          <p:cNvSpPr>
            <a:spLocks xmlns:a="http://schemas.openxmlformats.org/drawingml/2006/main" noGrp="1"/>
          </p:cNvSpPr>
          <p:nvPr/>
        </p:nvSpPr>
        <p:spPr>
          <a:xfrm xmlns:a="http://schemas.openxmlformats.org/drawingml/2006/main">
            <a:off x="609600" y="147637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Characters become keywords, identifiers, literals and punctuation.</a:t>
            </a:r>
          </a:p>
        </p:txBody>
      </p:sp>
      <p:sp>
        <p:nvSpPr>
          <p:cNvPr id="6" name="">
            <a:extLst xmlns:a="http://schemas.openxmlformats.org/drawingml/2006/main">
              <a:ext uri="{FF2B5EF4-FFF2-40B4-BE49-F238E27FC236}">
                <a16:creationId xmlns:a16="http://schemas.microsoft.com/office/drawing/2014/main" id="{C6401EFE-6714-4D23-9218-8ADBC659C379}"/>
              </a:ext>
            </a:extLst>
          </p:cNvPr>
          <p:cNvSpPr>
            <a:spLocks xmlns:a="http://schemas.openxmlformats.org/drawingml/2006/main" noGrp="1"/>
          </p:cNvSpPr>
          <p:nvPr/>
        </p:nvSpPr>
        <p:spPr>
          <a:xfrm xmlns:a="http://schemas.openxmlformats.org/drawingml/2006/main">
            <a:off x="609600" y="2762250"/>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Select a token to inspect its spelling and source location.</a:t>
            </a:r>
          </a:p>
        </p:txBody>
      </p:sp>
      <p:sp>
        <p:nvSpPr>
          <p:cNvPr id="7" name="">
            <a:extLst xmlns:a="http://schemas.openxmlformats.org/drawingml/2006/main">
              <a:ext uri="{FF2B5EF4-FFF2-40B4-BE49-F238E27FC236}">
                <a16:creationId xmlns:a16="http://schemas.microsoft.com/office/drawing/2014/main" id="{B1D66EA8-AE5D-4343-92B3-DDB2DDB28AC1}"/>
              </a:ext>
            </a:extLst>
          </p:cNvPr>
          <p:cNvSpPr>
            <a:spLocks xmlns:a="http://schemas.openxmlformats.org/drawingml/2006/main" noGrp="1"/>
          </p:cNvSpPr>
          <p:nvPr/>
        </p:nvSpPr>
        <p:spPr>
          <a:xfrm xmlns:a="http://schemas.openxmlformats.org/drawingml/2006/main">
            <a:off x="609600" y="404812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The complete token ledger is available in an expandable section.</a:t>
            </a:r>
          </a:p>
        </p:txBody>
      </p:sp>
      <p:pic>
        <p:nvPicPr>
          <p:cNvPr id="8" name="">
            <a:extLst xmlns:a="http://schemas.openxmlformats.org/drawingml/2006/main">
              <a:ext uri="{FF2B5EF4-FFF2-40B4-BE49-F238E27FC236}">
                <a16:creationId xmlns:a16="http://schemas.microsoft.com/office/drawing/2014/main" id="{05B3BB9A-C9F5-4F21-AAC6-C7C2084E4CE3}"/>
              </a:ext>
            </a:extLst>
          </p:cNvPr>
          <p:cNvPicPr>
            <a:picLocks xmlns:a="http://schemas.openxmlformats.org/drawingml/2006/main" noChangeAspect="1"/>
          </p:cNvPicPr>
          <p:nvPr/>
        </p:nvPicPr>
        <p:blipFill>
          <a:blip xmlns:r="http://schemas.openxmlformats.org/officeDocument/2006/relationships" xmlns:a="http://schemas.openxmlformats.org/drawingml/2006/main" r:embed="R534855d9f9404b5c"/>
          <a:stretch xmlns:a="http://schemas.openxmlformats.org/drawingml/2006/main"/>
        </p:blipFill>
        <p:spPr>
          <a:xfrm xmlns:a="http://schemas.openxmlformats.org/drawingml/2006/main">
            <a:off x="4953000" y="1383212"/>
            <a:ext cx="6619875" cy="4615451"/>
          </a:xfrm>
          <a:prstGeom xmlns:a="http://schemas.openxmlformats.org/drawingml/2006/main" prst="rect">
            <a:avLst/>
          </a:prstGeom>
        </p:spPr>
      </p:pic>
    </p:spTree>
    <p:extLst>
      <p:ext uri="{BB962C8B-B14F-4D97-AF65-F5344CB8AC3E}">
        <p14:creationId xmlns:p14="http://schemas.microsoft.com/office/powerpoint/2010/main" val="2070496943"/>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0F52BF-7998-4CB3-BABF-6ED1C6480C01}"/>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Syntax Studio / parsing and AST</a:t>
            </a:r>
          </a:p>
        </p:txBody>
      </p:sp>
      <p:sp>
        <p:nvSpPr>
          <p:cNvPr id="3" name="">
            <a:extLst xmlns:a="http://schemas.openxmlformats.org/drawingml/2006/main">
              <a:ext uri="{FF2B5EF4-FFF2-40B4-BE49-F238E27FC236}">
                <a16:creationId xmlns:a16="http://schemas.microsoft.com/office/drawing/2014/main" id="{DEE7E41F-7069-46C9-903D-4C64F536414B}"/>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F8DE63C2-25C0-415B-B9DC-5CE43628A67B}"/>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49FF152-86E9-45EB-8794-15E16D12231D}"/>
              </a:ext>
            </a:extLst>
          </p:cNvPr>
          <p:cNvSpPr>
            <a:spLocks xmlns:a="http://schemas.openxmlformats.org/drawingml/2006/main" noGrp="1"/>
          </p:cNvSpPr>
          <p:nvPr/>
        </p:nvSpPr>
        <p:spPr>
          <a:xfrm xmlns:a="http://schemas.openxmlformats.org/drawingml/2006/main">
            <a:off x="609600" y="1476375"/>
            <a:ext cx="3952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The parser checks grammar and builds a navigable abstract syntax tree.</a:t>
            </a:r>
          </a:p>
        </p:txBody>
      </p:sp>
      <p:sp>
        <p:nvSpPr>
          <p:cNvPr id="6" name="">
            <a:extLst xmlns:a="http://schemas.openxmlformats.org/drawingml/2006/main">
              <a:ext uri="{FF2B5EF4-FFF2-40B4-BE49-F238E27FC236}">
                <a16:creationId xmlns:a16="http://schemas.microsoft.com/office/drawing/2014/main" id="{448BD408-F75E-42AE-8075-B9DBDE4773AE}"/>
              </a:ext>
            </a:extLst>
          </p:cNvPr>
          <p:cNvSpPr>
            <a:spLocks xmlns:a="http://schemas.openxmlformats.org/drawingml/2006/main" noGrp="1"/>
          </p:cNvSpPr>
          <p:nvPr/>
        </p:nvSpPr>
        <p:spPr>
          <a:xfrm xmlns:a="http://schemas.openxmlformats.org/drawingml/2006/main">
            <a:off x="609600" y="2762250"/>
            <a:ext cx="3952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Operator precedence is visible in parent and child nodes.</a:t>
            </a:r>
          </a:p>
        </p:txBody>
      </p:sp>
      <p:sp>
        <p:nvSpPr>
          <p:cNvPr id="7" name="">
            <a:extLst xmlns:a="http://schemas.openxmlformats.org/drawingml/2006/main">
              <a:ext uri="{FF2B5EF4-FFF2-40B4-BE49-F238E27FC236}">
                <a16:creationId xmlns:a16="http://schemas.microsoft.com/office/drawing/2014/main" id="{F98584D6-2955-4FD0-943B-DA29E8793652}"/>
              </a:ext>
            </a:extLst>
          </p:cNvPr>
          <p:cNvSpPr>
            <a:spLocks xmlns:a="http://schemas.openxmlformats.org/drawingml/2006/main" noGrp="1"/>
          </p:cNvSpPr>
          <p:nvPr/>
        </p:nvSpPr>
        <p:spPr>
          <a:xfrm xmlns:a="http://schemas.openxmlformats.org/drawingml/2006/main">
            <a:off x="609600" y="4048125"/>
            <a:ext cx="3952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Broken syntax stops this stage while the token artifact remains available.</a:t>
            </a:r>
          </a:p>
        </p:txBody>
      </p:sp>
      <p:pic>
        <p:nvPicPr>
          <p:cNvPr id="8" name="">
            <a:extLst xmlns:a="http://schemas.openxmlformats.org/drawingml/2006/main">
              <a:ext uri="{FF2B5EF4-FFF2-40B4-BE49-F238E27FC236}">
                <a16:creationId xmlns:a16="http://schemas.microsoft.com/office/drawing/2014/main" id="{9954132A-1433-4096-BFAA-0D2942ECB989}"/>
              </a:ext>
            </a:extLst>
          </p:cNvPr>
          <p:cNvPicPr>
            <a:picLocks xmlns:a="http://schemas.openxmlformats.org/drawingml/2006/main" noChangeAspect="1"/>
          </p:cNvPicPr>
          <p:nvPr/>
        </p:nvPicPr>
        <p:blipFill>
          <a:blip xmlns:r="http://schemas.openxmlformats.org/officeDocument/2006/relationships" xmlns:a="http://schemas.openxmlformats.org/drawingml/2006/main" r:embed="R8bb2a8267cad4f80"/>
          <a:stretch xmlns:a="http://schemas.openxmlformats.org/drawingml/2006/main"/>
        </p:blipFill>
        <p:spPr>
          <a:xfrm xmlns:a="http://schemas.openxmlformats.org/drawingml/2006/main">
            <a:off x="4953000" y="1383212"/>
            <a:ext cx="6619875" cy="4615451"/>
          </a:xfrm>
          <a:prstGeom xmlns:a="http://schemas.openxmlformats.org/drawingml/2006/main" prst="rect">
            <a:avLst/>
          </a:prstGeom>
        </p:spPr>
      </p:pic>
    </p:spTree>
    <p:extLst>
      <p:ext uri="{BB962C8B-B14F-4D97-AF65-F5344CB8AC3E}">
        <p14:creationId xmlns:p14="http://schemas.microsoft.com/office/powerpoint/2010/main" val="2015609790"/>
      </p:ext>
    </p:extLst>
  </p:cSld>
</p:sld>
</file>

<file path=ppt/slides/slide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C597E4B-9D2F-4A5A-881D-01AE23257E2E}"/>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Type Registry / semantic analysis</a:t>
            </a:r>
          </a:p>
        </p:txBody>
      </p:sp>
      <p:sp>
        <p:nvSpPr>
          <p:cNvPr id="3" name="">
            <a:extLst xmlns:a="http://schemas.openxmlformats.org/drawingml/2006/main">
              <a:ext uri="{FF2B5EF4-FFF2-40B4-BE49-F238E27FC236}">
                <a16:creationId xmlns:a16="http://schemas.microsoft.com/office/drawing/2014/main" id="{CC188863-2C66-4C22-A5E3-D74C7D02E36E}"/>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078F5C3B-613C-469A-B610-16EF96364C93}"/>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B609EF3-5C8C-41B1-9BA7-75848BC4B3ED}"/>
              </a:ext>
            </a:extLst>
          </p:cNvPr>
          <p:cNvSpPr>
            <a:spLocks xmlns:a="http://schemas.openxmlformats.org/drawingml/2006/main" noGrp="1"/>
          </p:cNvSpPr>
          <p:nvPr/>
        </p:nvSpPr>
        <p:spPr>
          <a:xfrm xmlns:a="http://schemas.openxmlformats.org/drawingml/2006/main">
            <a:off x="609600" y="147637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Grammar alone cannot catch every invalid program.</a:t>
            </a:r>
          </a:p>
        </p:txBody>
      </p:sp>
      <p:sp>
        <p:nvSpPr>
          <p:cNvPr id="6" name="">
            <a:extLst xmlns:a="http://schemas.openxmlformats.org/drawingml/2006/main">
              <a:ext uri="{FF2B5EF4-FFF2-40B4-BE49-F238E27FC236}">
                <a16:creationId xmlns:a16="http://schemas.microsoft.com/office/drawing/2014/main" id="{B815B0F9-FCAE-42DE-9D88-D9595EC35EB5}"/>
              </a:ext>
            </a:extLst>
          </p:cNvPr>
          <p:cNvSpPr>
            <a:spLocks xmlns:a="http://schemas.openxmlformats.org/drawingml/2006/main" noGrp="1"/>
          </p:cNvSpPr>
          <p:nvPr/>
        </p:nvSpPr>
        <p:spPr>
          <a:xfrm xmlns:a="http://schemas.openxmlformats.org/drawingml/2006/main">
            <a:off x="609600" y="2762250"/>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The registry checks names, initialization and basic type compatibility.</a:t>
            </a:r>
          </a:p>
        </p:txBody>
      </p:sp>
      <p:sp>
        <p:nvSpPr>
          <p:cNvPr id="7" name="">
            <a:extLst xmlns:a="http://schemas.openxmlformats.org/drawingml/2006/main">
              <a:ext uri="{FF2B5EF4-FFF2-40B4-BE49-F238E27FC236}">
                <a16:creationId xmlns:a16="http://schemas.microsoft.com/office/drawing/2014/main" id="{F2B46D3F-CCF1-4557-9E8A-BC7C97C68EED}"/>
              </a:ext>
            </a:extLst>
          </p:cNvPr>
          <p:cNvSpPr>
            <a:spLocks xmlns:a="http://schemas.openxmlformats.org/drawingml/2006/main" noGrp="1"/>
          </p:cNvSpPr>
          <p:nvPr/>
        </p:nvSpPr>
        <p:spPr>
          <a:xfrm xmlns:a="http://schemas.openxmlformats.org/drawingml/2006/main">
            <a:off x="609600" y="404812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Its symbol table makes each declared name and type inspectable.</a:t>
            </a:r>
          </a:p>
        </p:txBody>
      </p:sp>
      <p:pic>
        <p:nvPicPr>
          <p:cNvPr id="8" name="">
            <a:extLst xmlns:a="http://schemas.openxmlformats.org/drawingml/2006/main">
              <a:ext uri="{FF2B5EF4-FFF2-40B4-BE49-F238E27FC236}">
                <a16:creationId xmlns:a16="http://schemas.microsoft.com/office/drawing/2014/main" id="{36322092-4609-4BE9-968A-E2ECAFF685B5}"/>
              </a:ext>
            </a:extLst>
          </p:cNvPr>
          <p:cNvPicPr>
            <a:picLocks xmlns:a="http://schemas.openxmlformats.org/drawingml/2006/main" noChangeAspect="1"/>
          </p:cNvPicPr>
          <p:nvPr/>
        </p:nvPicPr>
        <p:blipFill>
          <a:blip xmlns:r="http://schemas.openxmlformats.org/officeDocument/2006/relationships" xmlns:a="http://schemas.openxmlformats.org/drawingml/2006/main" r:embed="R8d5d8866f4ff487b"/>
          <a:stretch xmlns:a="http://schemas.openxmlformats.org/drawingml/2006/main"/>
        </p:blipFill>
        <p:spPr>
          <a:xfrm xmlns:a="http://schemas.openxmlformats.org/drawingml/2006/main">
            <a:off x="4953000" y="1383212"/>
            <a:ext cx="6619875" cy="4615451"/>
          </a:xfrm>
          <a:prstGeom xmlns:a="http://schemas.openxmlformats.org/drawingml/2006/main" prst="rect">
            <a:avLst/>
          </a:prstGeom>
        </p:spPr>
      </p:pic>
    </p:spTree>
    <p:extLst>
      <p:ext uri="{BB962C8B-B14F-4D97-AF65-F5344CB8AC3E}">
        <p14:creationId xmlns:p14="http://schemas.microsoft.com/office/powerpoint/2010/main" val="147688982"/>
      </p:ext>
    </p:extLst>
  </p:cSld>
</p:sld>
</file>

<file path=ppt/slides/slide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23FDCDB-9215-4E17-925E-D5FB1165971B}"/>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TAC Forge / intermediate representation</a:t>
            </a:r>
          </a:p>
        </p:txBody>
      </p:sp>
      <p:sp>
        <p:nvSpPr>
          <p:cNvPr id="3" name="">
            <a:extLst xmlns:a="http://schemas.openxmlformats.org/drawingml/2006/main">
              <a:ext uri="{FF2B5EF4-FFF2-40B4-BE49-F238E27FC236}">
                <a16:creationId xmlns:a16="http://schemas.microsoft.com/office/drawing/2014/main" id="{205A2332-E3E5-4B34-8171-946B16D6863E}"/>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F44790AD-EE5C-4D41-9770-9E42F3EAB659}"/>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CDB5F03-FB2C-47B3-AC8F-1F24C592C15A}"/>
              </a:ext>
            </a:extLst>
          </p:cNvPr>
          <p:cNvSpPr>
            <a:spLocks xmlns:a="http://schemas.openxmlformats.org/drawingml/2006/main" noGrp="1"/>
          </p:cNvSpPr>
          <p:nvPr/>
        </p:nvSpPr>
        <p:spPr>
          <a:xfrm xmlns:a="http://schemas.openxmlformats.org/drawingml/2006/main">
            <a:off x="609600" y="147637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Compound expressions become small three-address instructions.</a:t>
            </a:r>
          </a:p>
        </p:txBody>
      </p:sp>
      <p:sp>
        <p:nvSpPr>
          <p:cNvPr id="6" name="">
            <a:extLst xmlns:a="http://schemas.openxmlformats.org/drawingml/2006/main">
              <a:ext uri="{FF2B5EF4-FFF2-40B4-BE49-F238E27FC236}">
                <a16:creationId xmlns:a16="http://schemas.microsoft.com/office/drawing/2014/main" id="{E493C902-B1E9-470A-84DD-19B76F446B93}"/>
              </a:ext>
            </a:extLst>
          </p:cNvPr>
          <p:cNvSpPr>
            <a:spLocks xmlns:a="http://schemas.openxmlformats.org/drawingml/2006/main" noGrp="1"/>
          </p:cNvSpPr>
          <p:nvPr/>
        </p:nvSpPr>
        <p:spPr>
          <a:xfrm xmlns:a="http://schemas.openxmlformats.org/drawingml/2006/main">
            <a:off x="609600" y="2762250"/>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Stable instruction IDs connect generated code to later rewrite logs.</a:t>
            </a:r>
          </a:p>
        </p:txBody>
      </p:sp>
      <p:sp>
        <p:nvSpPr>
          <p:cNvPr id="7" name="">
            <a:extLst xmlns:a="http://schemas.openxmlformats.org/drawingml/2006/main">
              <a:ext uri="{FF2B5EF4-FFF2-40B4-BE49-F238E27FC236}">
                <a16:creationId xmlns:a16="http://schemas.microsoft.com/office/drawing/2014/main" id="{EFF32449-B259-422A-8F24-28E28AE14A76}"/>
              </a:ext>
            </a:extLst>
          </p:cNvPr>
          <p:cNvSpPr>
            <a:spLocks xmlns:a="http://schemas.openxmlformats.org/drawingml/2006/main" noGrp="1"/>
          </p:cNvSpPr>
          <p:nvPr/>
        </p:nvSpPr>
        <p:spPr>
          <a:xfrm xmlns:a="http://schemas.openxmlformats.org/drawingml/2006/main">
            <a:off x="609600" y="404812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Reserved temporaries protect user-defined names from collisions.</a:t>
            </a:r>
          </a:p>
        </p:txBody>
      </p:sp>
      <p:pic>
        <p:nvPicPr>
          <p:cNvPr id="8" name="">
            <a:extLst xmlns:a="http://schemas.openxmlformats.org/drawingml/2006/main">
              <a:ext uri="{FF2B5EF4-FFF2-40B4-BE49-F238E27FC236}">
                <a16:creationId xmlns:a16="http://schemas.microsoft.com/office/drawing/2014/main" id="{9864A639-E164-4208-A895-D25993AD7AE4}"/>
              </a:ext>
            </a:extLst>
          </p:cNvPr>
          <p:cNvPicPr>
            <a:picLocks xmlns:a="http://schemas.openxmlformats.org/drawingml/2006/main" noChangeAspect="1"/>
          </p:cNvPicPr>
          <p:nvPr/>
        </p:nvPicPr>
        <p:blipFill>
          <a:blip xmlns:r="http://schemas.openxmlformats.org/officeDocument/2006/relationships" xmlns:a="http://schemas.openxmlformats.org/drawingml/2006/main" r:embed="R3672d5516d334d52"/>
          <a:stretch xmlns:a="http://schemas.openxmlformats.org/drawingml/2006/main"/>
        </p:blipFill>
        <p:spPr>
          <a:xfrm xmlns:a="http://schemas.openxmlformats.org/drawingml/2006/main">
            <a:off x="4953000" y="1383212"/>
            <a:ext cx="6619875" cy="4615451"/>
          </a:xfrm>
          <a:prstGeom xmlns:a="http://schemas.openxmlformats.org/drawingml/2006/main" prst="rect">
            <a:avLst/>
          </a:prstGeom>
        </p:spPr>
      </p:pic>
    </p:spTree>
    <p:extLst>
      <p:ext uri="{BB962C8B-B14F-4D97-AF65-F5344CB8AC3E}">
        <p14:creationId xmlns:p14="http://schemas.microsoft.com/office/powerpoint/2010/main" val="680179376"/>
      </p:ext>
    </p:extLst>
  </p:cSld>
</p:sld>
</file>

<file path=ppt/slides/slide8.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24D55E9-8902-4105-8841-52DA54E9AB89}"/>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Repair Garage / the five optimization passes</a:t>
            </a:r>
          </a:p>
        </p:txBody>
      </p:sp>
      <p:sp>
        <p:nvSpPr>
          <p:cNvPr id="3" name="">
            <a:extLst xmlns:a="http://schemas.openxmlformats.org/drawingml/2006/main">
              <a:ext uri="{FF2B5EF4-FFF2-40B4-BE49-F238E27FC236}">
                <a16:creationId xmlns:a16="http://schemas.microsoft.com/office/drawing/2014/main" id="{42C36AAE-10BC-4205-B15F-2E64F5E527BB}"/>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A5D3B2C2-0EAA-4474-905F-DB9BE0267CB6}"/>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96BB490E-3723-4CB4-AD36-2D8678F4E4AB}"/>
              </a:ext>
            </a:extLst>
          </p:cNvPr>
          <p:cNvGraphicFramePr/>
          <p:nvPr/>
        </p:nvGraphicFramePr>
        <p:xfrm>
          <a:off xmlns:a="http://schemas.openxmlformats.org/drawingml/2006/main" x="628650" y="1428750"/>
          <a:ext xmlns:a="http://schemas.openxmlformats.org/drawingml/2006/main" cx="10858500" cy="3952875"/>
        </p:xfrm>
        <a:graphic xmlns:a="http://schemas.openxmlformats.org/drawingml/2006/main">
          <a:graphicData uri="http://schemas.openxmlformats.org/drawingml/2006/table">
            <a:tbl>
              <a:tblPr/>
              <a:tblGrid>
                <a:gridCol w="3381375"/>
                <a:gridCol w="7477125"/>
              </a:tblGrid>
              <a:tr h="658813">
                <a:tc>
                  <a:txBody>
                    <a:bodyPr lIns="95250" tIns="95250" rIns="95250" bIns="95250"/>
                    <a:lstStyle/>
                    <a:p>
                      <a:r>
                        <a:rPr sz="1575" b="1">
                          <a:solidFill>
                            <a:srgbClr val="344638"/>
                          </a:solidFill>
                          <a:latin typeface="Arial"/>
                          <a:ea typeface="Arial"/>
                          <a:cs typeface="Arial"/>
                        </a:rPr>
                        <a:t>Pass</a:t>
                      </a:r>
                    </a:p>
                  </a:txBody>
                  <a:tcPr marL="91440" marR="91440" marT="45720" marB="45720">
                    <a:solidFill>
                      <a:srgbClr val="DCE6CE"/>
                    </a:solidFill>
                  </a:tcPr>
                </a:tc>
                <a:tc>
                  <a:txBody>
                    <a:bodyPr lIns="95250" tIns="95250" rIns="95250" bIns="95250"/>
                    <a:lstStyle/>
                    <a:p>
                      <a:r>
                        <a:rPr sz="1575" b="1">
                          <a:solidFill>
                            <a:srgbClr val="344638"/>
                          </a:solidFill>
                          <a:latin typeface="Arial"/>
                          <a:ea typeface="Arial"/>
                          <a:cs typeface="Arial"/>
                        </a:rPr>
                        <a:t>Transformation</a:t>
                      </a:r>
                    </a:p>
                  </a:txBody>
                  <a:tcPr marL="91440" marR="91440" marT="45720" marB="45720">
                    <a:solidFill>
                      <a:srgbClr val="DCE6CE"/>
                    </a:solidFill>
                  </a:tcPr>
                </a:tc>
              </a:tr>
              <a:tr h="658813">
                <a:tc>
                  <a:txBody>
                    <a:bodyPr lIns="95250" tIns="95250" rIns="95250" bIns="95250"/>
                    <a:lstStyle/>
                    <a:p>
                      <a:r>
                        <a:rPr sz="1575" b="0">
                          <a:solidFill>
                            <a:srgbClr val="6F7F62"/>
                          </a:solidFill>
                          <a:latin typeface="Arial"/>
                          <a:ea typeface="Arial"/>
                          <a:cs typeface="Arial"/>
                        </a:rPr>
                        <a:t>Constant propagation</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Substitute known values into operands</a:t>
                      </a:r>
                    </a:p>
                  </a:txBody>
                  <a:tcPr marL="91440" marR="91440" marT="45720" marB="45720">
                    <a:solidFill>
                      <a:srgbClr val="EEF1E4"/>
                    </a:solidFill>
                  </a:tcPr>
                </a:tc>
              </a:tr>
              <a:tr h="658813">
                <a:tc>
                  <a:txBody>
                    <a:bodyPr lIns="95250" tIns="95250" rIns="95250" bIns="95250"/>
                    <a:lstStyle/>
                    <a:p>
                      <a:r>
                        <a:rPr sz="1575" b="0">
                          <a:solidFill>
                            <a:srgbClr val="6F7F62"/>
                          </a:solidFill>
                          <a:latin typeface="Arial"/>
                          <a:ea typeface="Arial"/>
                          <a:cs typeface="Arial"/>
                        </a:rPr>
                        <a:t>Constant folding</a:t>
                      </a:r>
                    </a:p>
                  </a:txBody>
                  <a:tcPr marL="91440" marR="91440" marT="45720" marB="45720">
                    <a:solidFill>
                      <a:srgbClr val="F6F3EA"/>
                    </a:solidFill>
                  </a:tcPr>
                </a:tc>
                <a:tc>
                  <a:txBody>
                    <a:bodyPr lIns="95250" tIns="95250" rIns="95250" bIns="95250"/>
                    <a:lstStyle/>
                    <a:p>
                      <a:r>
                        <a:rPr sz="1575" b="0">
                          <a:solidFill>
                            <a:srgbClr val="6F7F62"/>
                          </a:solidFill>
                          <a:latin typeface="Arial"/>
                          <a:ea typeface="Arial"/>
                          <a:cs typeface="Arial"/>
                        </a:rPr>
                        <a:t>Evaluate constant arithmetic</a:t>
                      </a:r>
                    </a:p>
                  </a:txBody>
                  <a:tcPr marL="91440" marR="91440" marT="45720" marB="45720">
                    <a:solidFill>
                      <a:srgbClr val="F6F3EA"/>
                    </a:solidFill>
                  </a:tcPr>
                </a:tc>
              </a:tr>
              <a:tr h="658813">
                <a:tc>
                  <a:txBody>
                    <a:bodyPr lIns="95250" tIns="95250" rIns="95250" bIns="95250"/>
                    <a:lstStyle/>
                    <a:p>
                      <a:r>
                        <a:rPr sz="1575" b="0">
                          <a:solidFill>
                            <a:srgbClr val="6F7F62"/>
                          </a:solidFill>
                          <a:latin typeface="Arial"/>
                          <a:ea typeface="Arial"/>
                          <a:cs typeface="Arial"/>
                        </a:rPr>
                        <a:t>Common subexpressions</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Reuse a valid earlier computation</a:t>
                      </a:r>
                    </a:p>
                  </a:txBody>
                  <a:tcPr marL="91440" marR="91440" marT="45720" marB="45720">
                    <a:solidFill>
                      <a:srgbClr val="EEF1E4"/>
                    </a:solidFill>
                  </a:tcPr>
                </a:tc>
              </a:tr>
              <a:tr h="658813">
                <a:tc>
                  <a:txBody>
                    <a:bodyPr lIns="95250" tIns="95250" rIns="95250" bIns="95250"/>
                    <a:lstStyle/>
                    <a:p>
                      <a:r>
                        <a:rPr sz="1575" b="0">
                          <a:solidFill>
                            <a:srgbClr val="6F7F62"/>
                          </a:solidFill>
                          <a:latin typeface="Arial"/>
                          <a:ea typeface="Arial"/>
                          <a:cs typeface="Arial"/>
                        </a:rPr>
                        <a:t>Copy propagation</a:t>
                      </a:r>
                    </a:p>
                  </a:txBody>
                  <a:tcPr marL="91440" marR="91440" marT="45720" marB="45720">
                    <a:solidFill>
                      <a:srgbClr val="F6F3EA"/>
                    </a:solidFill>
                  </a:tcPr>
                </a:tc>
                <a:tc>
                  <a:txBody>
                    <a:bodyPr lIns="95250" tIns="95250" rIns="95250" bIns="95250"/>
                    <a:lstStyle/>
                    <a:p>
                      <a:r>
                        <a:rPr sz="1575" b="0">
                          <a:solidFill>
                            <a:srgbClr val="6F7F62"/>
                          </a:solidFill>
                          <a:latin typeface="Arial"/>
                          <a:ea typeface="Arial"/>
                          <a:cs typeface="Arial"/>
                        </a:rPr>
                        <a:t>Forward a copied value to its source</a:t>
                      </a:r>
                    </a:p>
                  </a:txBody>
                  <a:tcPr marL="91440" marR="91440" marT="45720" marB="45720">
                    <a:solidFill>
                      <a:srgbClr val="F6F3EA"/>
                    </a:solidFill>
                  </a:tcPr>
                </a:tc>
              </a:tr>
              <a:tr h="658813">
                <a:tc>
                  <a:txBody>
                    <a:bodyPr lIns="95250" tIns="95250" rIns="95250" bIns="95250"/>
                    <a:lstStyle/>
                    <a:p>
                      <a:r>
                        <a:rPr sz="1575" b="0">
                          <a:solidFill>
                            <a:srgbClr val="6F7F62"/>
                          </a:solidFill>
                          <a:latin typeface="Arial"/>
                          <a:ea typeface="Arial"/>
                          <a:cs typeface="Arial"/>
                        </a:rPr>
                        <a:t>Dead-code elimination</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Remove unused, non-trapping results</a:t>
                      </a:r>
                    </a:p>
                  </a:txBody>
                  <a:tcPr marL="91440" marR="91440" marT="45720" marB="45720">
                    <a:solidFill>
                      <a:srgbClr val="EEF1E4"/>
                    </a:solidFill>
                  </a:tcPr>
                </a:tc>
              </a:tr>
            </a:tbl>
          </a:graphicData>
        </a:graphic>
      </p:graphicFrame>
      <p:sp>
        <p:nvSpPr>
          <p:cNvPr id="6" name="">
            <a:extLst xmlns:a="http://schemas.openxmlformats.org/drawingml/2006/main">
              <a:ext uri="{FF2B5EF4-FFF2-40B4-BE49-F238E27FC236}">
                <a16:creationId xmlns:a16="http://schemas.microsoft.com/office/drawing/2014/main" id="{CB95EE0C-1549-4E28-8BC9-5392CF366F9C}"/>
              </a:ext>
            </a:extLst>
          </p:cNvPr>
          <p:cNvSpPr>
            <a:spLocks xmlns:a="http://schemas.openxmlformats.org/drawingml/2006/main" noGrp="1"/>
          </p:cNvSpPr>
          <p:nvPr/>
        </p:nvSpPr>
        <p:spPr>
          <a:xfrm xmlns:a="http://schemas.openxmlformats.org/drawingml/2006/main">
            <a:off x="647700" y="57435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F7F62"/>
                </a:solidFill>
                <a:latin typeface="Arial"/>
                <a:ea typeface="Arial"/>
                <a:cs typeface="Arial"/>
              </a:defRPr>
            </a:defPPr>
            <a:lvl1pPr>
              <a:defRPr sz="1725" b="0">
                <a:solidFill>
                  <a:srgbClr val="6F7F62"/>
                </a:solidFill>
                <a:latin typeface="Arial"/>
                <a:ea typeface="Arial"/>
                <a:cs typeface="Arial"/>
              </a:defRPr>
            </a:lvl1pPr>
            <a:lvl2pPr>
              <a:defRPr sz="1725" b="0">
                <a:solidFill>
                  <a:srgbClr val="6F7F62"/>
                </a:solidFill>
                <a:latin typeface="Arial"/>
                <a:ea typeface="Arial"/>
                <a:cs typeface="Arial"/>
              </a:defRPr>
            </a:lvl2pPr>
            <a:lvl3pPr>
              <a:defRPr sz="1725" b="0">
                <a:solidFill>
                  <a:srgbClr val="6F7F62"/>
                </a:solidFill>
                <a:latin typeface="Arial"/>
                <a:ea typeface="Arial"/>
                <a:cs typeface="Arial"/>
              </a:defRPr>
            </a:lvl3pPr>
            <a:lvl4pPr>
              <a:defRPr sz="1725" b="0">
                <a:solidFill>
                  <a:srgbClr val="6F7F62"/>
                </a:solidFill>
                <a:latin typeface="Arial"/>
                <a:ea typeface="Arial"/>
                <a:cs typeface="Arial"/>
              </a:defRPr>
            </a:lvl4pPr>
            <a:lvl5pPr>
              <a:defRPr sz="1725" b="0">
                <a:solidFill>
                  <a:srgbClr val="6F7F62"/>
                </a:solidFill>
                <a:latin typeface="Arial"/>
                <a:ea typeface="Arial"/>
                <a:cs typeface="Arial"/>
              </a:defRPr>
            </a:lvl5pPr>
            <a:lvl6pPr>
              <a:defRPr sz="1725" b="0">
                <a:solidFill>
                  <a:srgbClr val="6F7F62"/>
                </a:solidFill>
                <a:latin typeface="Arial"/>
                <a:ea typeface="Arial"/>
                <a:cs typeface="Arial"/>
              </a:defRPr>
            </a:lvl6pPr>
            <a:lvl7pPr>
              <a:defRPr sz="1725" b="0">
                <a:solidFill>
                  <a:srgbClr val="6F7F62"/>
                </a:solidFill>
                <a:latin typeface="Arial"/>
                <a:ea typeface="Arial"/>
                <a:cs typeface="Arial"/>
              </a:defRPr>
            </a:lvl7pPr>
            <a:lvl8pPr>
              <a:defRPr sz="1725" b="0">
                <a:solidFill>
                  <a:srgbClr val="6F7F62"/>
                </a:solidFill>
                <a:latin typeface="Arial"/>
                <a:ea typeface="Arial"/>
                <a:cs typeface="Arial"/>
              </a:defRPr>
            </a:lvl8pPr>
            <a:lvl9pPr>
              <a:defRPr sz="1725" b="0">
                <a:solidFill>
                  <a:srgbClr val="6F7F62"/>
                </a:solidFill>
                <a:latin typeface="Arial"/>
                <a:ea typeface="Arial"/>
                <a:cs typeface="Arial"/>
              </a:defRPr>
            </a:lvl9pPr>
          </a:lstStyle>
          <a:p xmlns:a="http://schemas.openxmlformats.org/drawingml/2006/main">
            <a:pPr>
              <a:defRPr sz="1725" b="0">
                <a:solidFill>
                  <a:srgbClr val="6F7F62"/>
                </a:solidFill>
                <a:latin typeface="Arial"/>
                <a:ea typeface="Arial"/>
                <a:cs typeface="Arial"/>
              </a:defRPr>
            </a:pPr>
            <a:r>
              <a:rPr sz="1725" b="0">
                <a:solidFill>
                  <a:srgbClr val="6F7F62"/>
                </a:solidFill>
                <a:latin typeface="Arial"/>
                <a:ea typeface="Arial"/>
                <a:cs typeface="Arial"/>
              </a:rPr>
              <a:t>Selected passes repeat to a fixed point or the ten-round cap.</a:t>
            </a:r>
          </a:p>
        </p:txBody>
      </p:sp>
    </p:spTree>
    <p:extLst>
      <p:ext uri="{BB962C8B-B14F-4D97-AF65-F5344CB8AC3E}">
        <p14:creationId xmlns:p14="http://schemas.microsoft.com/office/powerpoint/2010/main" val="625464329"/>
      </p:ext>
    </p:extLst>
  </p:cSld>
</p:sld>
</file>

<file path=ppt/slides/slide9.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112D238-28A8-4D7F-B450-D8B32BAD01AE}"/>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Autopsy and detailed intermediate logs</a:t>
            </a:r>
          </a:p>
        </p:txBody>
      </p:sp>
      <p:sp>
        <p:nvSpPr>
          <p:cNvPr id="3" name="">
            <a:extLst xmlns:a="http://schemas.openxmlformats.org/drawingml/2006/main">
              <a:ext uri="{FF2B5EF4-FFF2-40B4-BE49-F238E27FC236}">
                <a16:creationId xmlns:a16="http://schemas.microsoft.com/office/drawing/2014/main" id="{42F6CDB5-E30A-434E-8655-1CC6F28CABF1}"/>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E7647BED-8596-45CD-9007-E31DAC346AAF}"/>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A880E13A-2E02-48D2-BB4A-F18633196161}"/>
              </a:ext>
            </a:extLst>
          </p:cNvPr>
          <p:cNvSpPr>
            <a:spLocks xmlns:a="http://schemas.openxmlformats.org/drawingml/2006/main" noGrp="1"/>
          </p:cNvSpPr>
          <p:nvPr/>
        </p:nvSpPr>
        <p:spPr>
          <a:xfrm xmlns:a="http://schemas.openxmlformats.org/drawingml/2006/main">
            <a:off x="609600" y="1476375"/>
            <a:ext cx="3905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Choose a pass and a round.</a:t>
            </a:r>
          </a:p>
        </p:txBody>
      </p:sp>
      <p:sp>
        <p:nvSpPr>
          <p:cNvPr id="6" name="">
            <a:extLst xmlns:a="http://schemas.openxmlformats.org/drawingml/2006/main">
              <a:ext uri="{FF2B5EF4-FFF2-40B4-BE49-F238E27FC236}">
                <a16:creationId xmlns:a16="http://schemas.microsoft.com/office/drawing/2014/main" id="{95E967A5-5075-44F7-9C42-5B03033F40A8}"/>
              </a:ext>
            </a:extLst>
          </p:cNvPr>
          <p:cNvSpPr>
            <a:spLocks xmlns:a="http://schemas.openxmlformats.org/drawingml/2006/main" noGrp="1"/>
          </p:cNvSpPr>
          <p:nvPr/>
        </p:nvSpPr>
        <p:spPr>
          <a:xfrm xmlns:a="http://schemas.openxmlformats.org/drawingml/2006/main">
            <a:off x="609600" y="2714625"/>
            <a:ext cx="3905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Inspect the full change ledger, rewrite reasons and variable state after each executed instruction.</a:t>
            </a:r>
          </a:p>
        </p:txBody>
      </p:sp>
      <p:sp>
        <p:nvSpPr>
          <p:cNvPr id="7" name="">
            <a:extLst xmlns:a="http://schemas.openxmlformats.org/drawingml/2006/main">
              <a:ext uri="{FF2B5EF4-FFF2-40B4-BE49-F238E27FC236}">
                <a16:creationId xmlns:a16="http://schemas.microsoft.com/office/drawing/2014/main" id="{BC75CA64-0A5E-469C-ABD9-FB42948BC29F}"/>
              </a:ext>
            </a:extLst>
          </p:cNvPr>
          <p:cNvSpPr>
            <a:spLocks xmlns:a="http://schemas.openxmlformats.org/drawingml/2006/main" noGrp="1"/>
          </p:cNvSpPr>
          <p:nvPr/>
        </p:nvSpPr>
        <p:spPr>
          <a:xfrm xmlns:a="http://schemas.openxmlformats.org/drawingml/2006/main">
            <a:off x="609600" y="3952875"/>
            <a:ext cx="3905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The first changed observation is retained even if a later pass masks it.</a:t>
            </a:r>
          </a:p>
        </p:txBody>
      </p:sp>
      <p:pic>
        <p:nvPicPr>
          <p:cNvPr id="8" name="">
            <a:extLst xmlns:a="http://schemas.openxmlformats.org/drawingml/2006/main">
              <a:ext uri="{FF2B5EF4-FFF2-40B4-BE49-F238E27FC236}">
                <a16:creationId xmlns:a16="http://schemas.microsoft.com/office/drawing/2014/main" id="{A9B378EE-7250-4FF2-B069-BFC9539D9318}"/>
              </a:ext>
            </a:extLst>
          </p:cNvPr>
          <p:cNvPicPr>
            <a:picLocks xmlns:a="http://schemas.openxmlformats.org/drawingml/2006/main" noChangeAspect="1"/>
          </p:cNvPicPr>
          <p:nvPr/>
        </p:nvPicPr>
        <p:blipFill>
          <a:blip xmlns:r="http://schemas.openxmlformats.org/officeDocument/2006/relationships" xmlns:a="http://schemas.openxmlformats.org/drawingml/2006/main" r:embed="R4c43e66b09e746e4"/>
          <a:stretch xmlns:a="http://schemas.openxmlformats.org/drawingml/2006/main"/>
        </p:blipFill>
        <p:spPr>
          <a:xfrm xmlns:a="http://schemas.openxmlformats.org/drawingml/2006/main">
            <a:off x="5205833" y="1381125"/>
            <a:ext cx="6114210" cy="4619625"/>
          </a:xfrm>
          <a:prstGeom xmlns:a="http://schemas.openxmlformats.org/drawingml/2006/main" prst="rect">
            <a:avLst/>
          </a:prstGeom>
        </p:spPr>
      </p:pic>
    </p:spTree>
    <p:extLst>
      <p:ext uri="{BB962C8B-B14F-4D97-AF65-F5344CB8AC3E}">
        <p14:creationId xmlns:p14="http://schemas.microsoft.com/office/powerpoint/2010/main" val="910496886"/>
      </p:ext>
    </p:extLst>
  </p:cSld>
</p:sld>
</file>

<file path=ppt/slides/slide10.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BA809D9-9442-4CD6-A19F-0F14F8690D46}"/>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Watchtower / preserving errors matters</a:t>
            </a:r>
          </a:p>
        </p:txBody>
      </p:sp>
      <p:sp>
        <p:nvSpPr>
          <p:cNvPr id="3" name="">
            <a:extLst xmlns:a="http://schemas.openxmlformats.org/drawingml/2006/main">
              <a:ext uri="{FF2B5EF4-FFF2-40B4-BE49-F238E27FC236}">
                <a16:creationId xmlns:a16="http://schemas.microsoft.com/office/drawing/2014/main" id="{5732A2A2-5359-4F2A-ADD0-9F30B9785C40}"/>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5A4FEC8F-0F88-40F6-8DC9-65689D2EA289}"/>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78A86CE-A2EA-4281-B09A-BE6665DDF2BB}"/>
              </a:ext>
            </a:extLst>
          </p:cNvPr>
          <p:cNvSpPr>
            <a:spLocks xmlns:a="http://schemas.openxmlformats.org/drawingml/2006/main" noGrp="1"/>
          </p:cNvSpPr>
          <p:nvPr/>
        </p:nvSpPr>
        <p:spPr>
          <a:xfrm xmlns:a="http://schemas.openxmlformats.org/drawingml/2006/main">
            <a:off x="609600" y="147637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An unused result can still carry an observable runtime error.</a:t>
            </a:r>
          </a:p>
        </p:txBody>
      </p:sp>
      <p:sp>
        <p:nvSpPr>
          <p:cNvPr id="6" name="">
            <a:extLst xmlns:a="http://schemas.openxmlformats.org/drawingml/2006/main">
              <a:ext uri="{FF2B5EF4-FFF2-40B4-BE49-F238E27FC236}">
                <a16:creationId xmlns:a16="http://schemas.microsoft.com/office/drawing/2014/main" id="{ED39B658-F1FD-460D-B936-134F319F1D6A}"/>
              </a:ext>
            </a:extLst>
          </p:cNvPr>
          <p:cNvSpPr>
            <a:spLocks xmlns:a="http://schemas.openxmlformats.org/drawingml/2006/main" noGrp="1"/>
          </p:cNvSpPr>
          <p:nvPr/>
        </p:nvSpPr>
        <p:spPr>
          <a:xfrm xmlns:a="http://schemas.openxmlformats.org/drawingml/2006/main">
            <a:off x="609600" y="2762250"/>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Deleting division by zero would turn a failing program into a successful return.</a:t>
            </a:r>
          </a:p>
        </p:txBody>
      </p:sp>
      <p:sp>
        <p:nvSpPr>
          <p:cNvPr id="7" name="">
            <a:extLst xmlns:a="http://schemas.openxmlformats.org/drawingml/2006/main">
              <a:ext uri="{FF2B5EF4-FFF2-40B4-BE49-F238E27FC236}">
                <a16:creationId xmlns:a16="http://schemas.microsoft.com/office/drawing/2014/main" id="{CB5E9D3C-C858-4240-B637-D331C4FF4A71}"/>
              </a:ext>
            </a:extLst>
          </p:cNvPr>
          <p:cNvSpPr>
            <a:spLocks xmlns:a="http://schemas.openxmlformats.org/drawingml/2006/main" noGrp="1"/>
          </p:cNvSpPr>
          <p:nvPr/>
        </p:nvSpPr>
        <p:spPr>
          <a:xfrm xmlns:a="http://schemas.openxmlformats.org/drawingml/2006/main">
            <a:off x="609600" y="404812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The checker compares original and optimized outcomes, including errors.</a:t>
            </a:r>
          </a:p>
        </p:txBody>
      </p:sp>
      <p:pic>
        <p:nvPicPr>
          <p:cNvPr id="8" name="">
            <a:extLst xmlns:a="http://schemas.openxmlformats.org/drawingml/2006/main">
              <a:ext uri="{FF2B5EF4-FFF2-40B4-BE49-F238E27FC236}">
                <a16:creationId xmlns:a16="http://schemas.microsoft.com/office/drawing/2014/main" id="{EE319760-A9EC-477E-96E1-D7CE3A2F916A}"/>
              </a:ext>
            </a:extLst>
          </p:cNvPr>
          <p:cNvPicPr>
            <a:picLocks xmlns:a="http://schemas.openxmlformats.org/drawingml/2006/main" noChangeAspect="1"/>
          </p:cNvPicPr>
          <p:nvPr/>
        </p:nvPicPr>
        <p:blipFill>
          <a:blip xmlns:r="http://schemas.openxmlformats.org/officeDocument/2006/relationships" xmlns:a="http://schemas.openxmlformats.org/drawingml/2006/main" r:embed="R20f05f7ebc264812"/>
          <a:stretch xmlns:a="http://schemas.openxmlformats.org/drawingml/2006/main"/>
        </p:blipFill>
        <p:spPr>
          <a:xfrm xmlns:a="http://schemas.openxmlformats.org/drawingml/2006/main">
            <a:off x="4953000" y="1383212"/>
            <a:ext cx="6619875" cy="4615451"/>
          </a:xfrm>
          <a:prstGeom xmlns:a="http://schemas.openxmlformats.org/drawingml/2006/main" prst="rect">
            <a:avLst/>
          </a:prstGeom>
        </p:spPr>
      </p:pic>
    </p:spTree>
    <p:extLst>
      <p:ext uri="{BB962C8B-B14F-4D97-AF65-F5344CB8AC3E}">
        <p14:creationId xmlns:p14="http://schemas.microsoft.com/office/powerpoint/2010/main" val="1127283615"/>
      </p:ext>
    </p:extLst>
  </p:cSld>
</p:sld>
</file>

<file path=ppt/slides/slide1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A25A3A9-5138-4D30-A556-77F3AC3E5D9D}"/>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Counterfactuals / omit one pass and rerun</a:t>
            </a:r>
          </a:p>
        </p:txBody>
      </p:sp>
      <p:sp>
        <p:nvSpPr>
          <p:cNvPr id="3" name="">
            <a:extLst xmlns:a="http://schemas.openxmlformats.org/drawingml/2006/main">
              <a:ext uri="{FF2B5EF4-FFF2-40B4-BE49-F238E27FC236}">
                <a16:creationId xmlns:a16="http://schemas.microsoft.com/office/drawing/2014/main" id="{00F86C79-C5A8-4A90-848D-0B7DF5BDC064}"/>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BFA87125-DF8F-492C-8233-4F208B125592}"/>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87E1964D-1F14-4C99-BC81-5514274B170A}"/>
              </a:ext>
            </a:extLst>
          </p:cNvPr>
          <p:cNvGraphicFramePr/>
          <p:nvPr/>
        </p:nvGraphicFramePr>
        <p:xfrm>
          <a:off xmlns:a="http://schemas.openxmlformats.org/drawingml/2006/main" x="628650" y="1428750"/>
          <a:ext xmlns:a="http://schemas.openxmlformats.org/drawingml/2006/main" cx="10858500" cy="3667125"/>
        </p:xfrm>
        <a:graphic xmlns:a="http://schemas.openxmlformats.org/drawingml/2006/main">
          <a:graphicData uri="http://schemas.openxmlformats.org/drawingml/2006/table">
            <a:tbl>
              <a:tblPr/>
              <a:tblGrid>
                <a:gridCol w="6191250"/>
                <a:gridCol w="2000250"/>
                <a:gridCol w="2667000"/>
              </a:tblGrid>
              <a:tr h="611188">
                <a:tc>
                  <a:txBody>
                    <a:bodyPr lIns="95250" tIns="95250" rIns="95250" bIns="95250"/>
                    <a:lstStyle/>
                    <a:p>
                      <a:r>
                        <a:rPr sz="1575" b="1">
                          <a:solidFill>
                            <a:srgbClr val="344638"/>
                          </a:solidFill>
                          <a:latin typeface="Arial"/>
                          <a:ea typeface="Arial"/>
                          <a:cs typeface="Arial"/>
                        </a:rPr>
                        <a:t>Omitted pass</a:t>
                      </a:r>
                    </a:p>
                  </a:txBody>
                  <a:tcPr marL="91440" marR="91440" marT="45720" marB="45720">
                    <a:solidFill>
                      <a:srgbClr val="DCE6CE"/>
                    </a:solidFill>
                  </a:tcPr>
                </a:tc>
                <a:tc>
                  <a:txBody>
                    <a:bodyPr lIns="95250" tIns="95250" rIns="95250" bIns="95250"/>
                    <a:lstStyle/>
                    <a:p>
                      <a:r>
                        <a:rPr sz="1575" b="1">
                          <a:solidFill>
                            <a:srgbClr val="344638"/>
                          </a:solidFill>
                          <a:latin typeface="Arial"/>
                          <a:ea typeface="Arial"/>
                          <a:cs typeface="Arial"/>
                        </a:rPr>
                        <a:t>TAC count</a:t>
                      </a:r>
                    </a:p>
                  </a:txBody>
                  <a:tcPr marL="91440" marR="91440" marT="45720" marB="45720">
                    <a:solidFill>
                      <a:srgbClr val="DCE6CE"/>
                    </a:solidFill>
                  </a:tcPr>
                </a:tc>
                <a:tc>
                  <a:txBody>
                    <a:bodyPr lIns="95250" tIns="95250" rIns="95250" bIns="95250"/>
                    <a:lstStyle/>
                    <a:p>
                      <a:r>
                        <a:rPr sz="1575" b="1">
                          <a:solidFill>
                            <a:srgbClr val="344638"/>
                          </a:solidFill>
                          <a:latin typeface="Arial"/>
                          <a:ea typeface="Arial"/>
                          <a:cs typeface="Arial"/>
                        </a:rPr>
                        <a:t>Count difference</a:t>
                      </a:r>
                    </a:p>
                  </a:txBody>
                  <a:tcPr marL="91440" marR="91440" marT="45720" marB="45720">
                    <a:solidFill>
                      <a:srgbClr val="DCE6CE"/>
                    </a:solidFill>
                  </a:tcPr>
                </a:tc>
              </a:tr>
              <a:tr h="611188">
                <a:tc>
                  <a:txBody>
                    <a:bodyPr lIns="95250" tIns="95250" rIns="95250" bIns="95250"/>
                    <a:lstStyle/>
                    <a:p>
                      <a:r>
                        <a:rPr sz="1575" b="0">
                          <a:solidFill>
                            <a:srgbClr val="6F7F62"/>
                          </a:solidFill>
                          <a:latin typeface="Arial"/>
                          <a:ea typeface="Arial"/>
                          <a:cs typeface="Arial"/>
                        </a:rPr>
                        <a:t>Constant propagation</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4</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+3</a:t>
                      </a:r>
                    </a:p>
                  </a:txBody>
                  <a:tcPr marL="91440" marR="91440" marT="45720" marB="45720">
                    <a:solidFill>
                      <a:srgbClr val="EEF1E4"/>
                    </a:solidFill>
                  </a:tcPr>
                </a:tc>
              </a:tr>
              <a:tr h="611188">
                <a:tc>
                  <a:txBody>
                    <a:bodyPr lIns="95250" tIns="95250" rIns="95250" bIns="95250"/>
                    <a:lstStyle/>
                    <a:p>
                      <a:r>
                        <a:rPr sz="1575" b="0">
                          <a:solidFill>
                            <a:srgbClr val="6F7F62"/>
                          </a:solidFill>
                          <a:latin typeface="Arial"/>
                          <a:ea typeface="Arial"/>
                          <a:cs typeface="Arial"/>
                        </a:rPr>
                        <a:t>Constant folding</a:t>
                      </a:r>
                    </a:p>
                  </a:txBody>
                  <a:tcPr marL="91440" marR="91440" marT="45720" marB="45720">
                    <a:solidFill>
                      <a:srgbClr val="F6F3EA"/>
                    </a:solidFill>
                  </a:tcPr>
                </a:tc>
                <a:tc>
                  <a:txBody>
                    <a:bodyPr lIns="95250" tIns="95250" rIns="95250" bIns="95250"/>
                    <a:lstStyle/>
                    <a:p>
                      <a:r>
                        <a:rPr sz="1575" b="0">
                          <a:solidFill>
                            <a:srgbClr val="6F7F62"/>
                          </a:solidFill>
                          <a:latin typeface="Arial"/>
                          <a:ea typeface="Arial"/>
                          <a:cs typeface="Arial"/>
                        </a:rPr>
                        <a:t>3</a:t>
                      </a:r>
                    </a:p>
                  </a:txBody>
                  <a:tcPr marL="91440" marR="91440" marT="45720" marB="45720">
                    <a:solidFill>
                      <a:srgbClr val="F6F3EA"/>
                    </a:solidFill>
                  </a:tcPr>
                </a:tc>
                <a:tc>
                  <a:txBody>
                    <a:bodyPr lIns="95250" tIns="95250" rIns="95250" bIns="95250"/>
                    <a:lstStyle/>
                    <a:p>
                      <a:r>
                        <a:rPr sz="1575" b="0">
                          <a:solidFill>
                            <a:srgbClr val="6F7F62"/>
                          </a:solidFill>
                          <a:latin typeface="Arial"/>
                          <a:ea typeface="Arial"/>
                          <a:cs typeface="Arial"/>
                        </a:rPr>
                        <a:t>+2</a:t>
                      </a:r>
                    </a:p>
                  </a:txBody>
                  <a:tcPr marL="91440" marR="91440" marT="45720" marB="45720">
                    <a:solidFill>
                      <a:srgbClr val="F6F3EA"/>
                    </a:solidFill>
                  </a:tcPr>
                </a:tc>
              </a:tr>
              <a:tr h="611188">
                <a:tc>
                  <a:txBody>
                    <a:bodyPr lIns="95250" tIns="95250" rIns="95250" bIns="95250"/>
                    <a:lstStyle/>
                    <a:p>
                      <a:r>
                        <a:rPr sz="1575" b="0">
                          <a:solidFill>
                            <a:srgbClr val="6F7F62"/>
                          </a:solidFill>
                          <a:latin typeface="Arial"/>
                          <a:ea typeface="Arial"/>
                          <a:cs typeface="Arial"/>
                        </a:rPr>
                        <a:t>Common subexpressions</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1</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0</a:t>
                      </a:r>
                    </a:p>
                  </a:txBody>
                  <a:tcPr marL="91440" marR="91440" marT="45720" marB="45720">
                    <a:solidFill>
                      <a:srgbClr val="EEF1E4"/>
                    </a:solidFill>
                  </a:tcPr>
                </a:tc>
              </a:tr>
              <a:tr h="611188">
                <a:tc>
                  <a:txBody>
                    <a:bodyPr lIns="95250" tIns="95250" rIns="95250" bIns="95250"/>
                    <a:lstStyle/>
                    <a:p>
                      <a:r>
                        <a:rPr sz="1575" b="0">
                          <a:solidFill>
                            <a:srgbClr val="6F7F62"/>
                          </a:solidFill>
                          <a:latin typeface="Arial"/>
                          <a:ea typeface="Arial"/>
                          <a:cs typeface="Arial"/>
                        </a:rPr>
                        <a:t>Copy propagation</a:t>
                      </a:r>
                    </a:p>
                  </a:txBody>
                  <a:tcPr marL="91440" marR="91440" marT="45720" marB="45720">
                    <a:solidFill>
                      <a:srgbClr val="F6F3EA"/>
                    </a:solidFill>
                  </a:tcPr>
                </a:tc>
                <a:tc>
                  <a:txBody>
                    <a:bodyPr lIns="95250" tIns="95250" rIns="95250" bIns="95250"/>
                    <a:lstStyle/>
                    <a:p>
                      <a:r>
                        <a:rPr sz="1575" b="0">
                          <a:solidFill>
                            <a:srgbClr val="6F7F62"/>
                          </a:solidFill>
                          <a:latin typeface="Arial"/>
                          <a:ea typeface="Arial"/>
                          <a:cs typeface="Arial"/>
                        </a:rPr>
                        <a:t>1</a:t>
                      </a:r>
                    </a:p>
                  </a:txBody>
                  <a:tcPr marL="91440" marR="91440" marT="45720" marB="45720">
                    <a:solidFill>
                      <a:srgbClr val="F6F3EA"/>
                    </a:solidFill>
                  </a:tcPr>
                </a:tc>
                <a:tc>
                  <a:txBody>
                    <a:bodyPr lIns="95250" tIns="95250" rIns="95250" bIns="95250"/>
                    <a:lstStyle/>
                    <a:p>
                      <a:r>
                        <a:rPr sz="1575" b="0">
                          <a:solidFill>
                            <a:srgbClr val="6F7F62"/>
                          </a:solidFill>
                          <a:latin typeface="Arial"/>
                          <a:ea typeface="Arial"/>
                          <a:cs typeface="Arial"/>
                        </a:rPr>
                        <a:t>0</a:t>
                      </a:r>
                    </a:p>
                  </a:txBody>
                  <a:tcPr marL="91440" marR="91440" marT="45720" marB="45720">
                    <a:solidFill>
                      <a:srgbClr val="F6F3EA"/>
                    </a:solidFill>
                  </a:tcPr>
                </a:tc>
              </a:tr>
              <a:tr h="611188">
                <a:tc>
                  <a:txBody>
                    <a:bodyPr lIns="95250" tIns="95250" rIns="95250" bIns="95250"/>
                    <a:lstStyle/>
                    <a:p>
                      <a:r>
                        <a:rPr sz="1575" b="0">
                          <a:solidFill>
                            <a:srgbClr val="6F7F62"/>
                          </a:solidFill>
                          <a:latin typeface="Arial"/>
                          <a:ea typeface="Arial"/>
                          <a:cs typeface="Arial"/>
                        </a:rPr>
                        <a:t>Dead code elimination</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7</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+6</a:t>
                      </a:r>
                    </a:p>
                  </a:txBody>
                  <a:tcPr marL="91440" marR="91440" marT="45720" marB="45720">
                    <a:solidFill>
                      <a:srgbClr val="EEF1E4"/>
                    </a:solidFill>
                  </a:tcPr>
                </a:tc>
              </a:tr>
            </a:tbl>
          </a:graphicData>
        </a:graphic>
      </p:graphicFrame>
      <p:sp>
        <p:nvSpPr>
          <p:cNvPr id="6" name="">
            <a:extLst xmlns:a="http://schemas.openxmlformats.org/drawingml/2006/main">
              <a:ext uri="{FF2B5EF4-FFF2-40B4-BE49-F238E27FC236}">
                <a16:creationId xmlns:a16="http://schemas.microsoft.com/office/drawing/2014/main" id="{25B73523-69A7-42BA-A754-6DA2BDFAC256}"/>
              </a:ext>
            </a:extLst>
          </p:cNvPr>
          <p:cNvSpPr>
            <a:spLocks xmlns:a="http://schemas.openxmlformats.org/drawingml/2006/main" noGrp="1"/>
          </p:cNvSpPr>
          <p:nvPr/>
        </p:nvSpPr>
        <p:spPr>
          <a:xfrm xmlns:a="http://schemas.openxmlformats.org/drawingml/2006/main">
            <a:off x="647700" y="5476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F7F62"/>
                </a:solidFill>
                <a:latin typeface="Arial"/>
                <a:ea typeface="Arial"/>
                <a:cs typeface="Arial"/>
              </a:defRPr>
            </a:defPPr>
            <a:lvl1pPr>
              <a:defRPr sz="1800" b="0">
                <a:solidFill>
                  <a:srgbClr val="6F7F62"/>
                </a:solidFill>
                <a:latin typeface="Arial"/>
                <a:ea typeface="Arial"/>
                <a:cs typeface="Arial"/>
              </a:defRPr>
            </a:lvl1pPr>
            <a:lvl2pPr>
              <a:defRPr sz="1800" b="0">
                <a:solidFill>
                  <a:srgbClr val="6F7F62"/>
                </a:solidFill>
                <a:latin typeface="Arial"/>
                <a:ea typeface="Arial"/>
                <a:cs typeface="Arial"/>
              </a:defRPr>
            </a:lvl2pPr>
            <a:lvl3pPr>
              <a:defRPr sz="1800" b="0">
                <a:solidFill>
                  <a:srgbClr val="6F7F62"/>
                </a:solidFill>
                <a:latin typeface="Arial"/>
                <a:ea typeface="Arial"/>
                <a:cs typeface="Arial"/>
              </a:defRPr>
            </a:lvl3pPr>
            <a:lvl4pPr>
              <a:defRPr sz="1800" b="0">
                <a:solidFill>
                  <a:srgbClr val="6F7F62"/>
                </a:solidFill>
                <a:latin typeface="Arial"/>
                <a:ea typeface="Arial"/>
                <a:cs typeface="Arial"/>
              </a:defRPr>
            </a:lvl4pPr>
            <a:lvl5pPr>
              <a:defRPr sz="1800" b="0">
                <a:solidFill>
                  <a:srgbClr val="6F7F62"/>
                </a:solidFill>
                <a:latin typeface="Arial"/>
                <a:ea typeface="Arial"/>
                <a:cs typeface="Arial"/>
              </a:defRPr>
            </a:lvl5pPr>
            <a:lvl6pPr>
              <a:defRPr sz="1800" b="0">
                <a:solidFill>
                  <a:srgbClr val="6F7F62"/>
                </a:solidFill>
                <a:latin typeface="Arial"/>
                <a:ea typeface="Arial"/>
                <a:cs typeface="Arial"/>
              </a:defRPr>
            </a:lvl6pPr>
            <a:lvl7pPr>
              <a:defRPr sz="1800" b="0">
                <a:solidFill>
                  <a:srgbClr val="6F7F62"/>
                </a:solidFill>
                <a:latin typeface="Arial"/>
                <a:ea typeface="Arial"/>
                <a:cs typeface="Arial"/>
              </a:defRPr>
            </a:lvl7pPr>
            <a:lvl8pPr>
              <a:defRPr sz="1800" b="0">
                <a:solidFill>
                  <a:srgbClr val="6F7F62"/>
                </a:solidFill>
                <a:latin typeface="Arial"/>
                <a:ea typeface="Arial"/>
                <a:cs typeface="Arial"/>
              </a:defRPr>
            </a:lvl8pPr>
            <a:lvl9pPr>
              <a:defRPr sz="1800" b="0">
                <a:solidFill>
                  <a:srgbClr val="6F7F62"/>
                </a:solidFill>
                <a:latin typeface="Arial"/>
                <a:ea typeface="Arial"/>
                <a:cs typeface="Arial"/>
              </a:defRPr>
            </a:lvl9pPr>
          </a:lstStyle>
          <a:p xmlns:a="http://schemas.openxmlformats.org/drawingml/2006/main">
            <a:pPr>
              <a:defRPr sz="1800" b="0">
                <a:solidFill>
                  <a:srgbClr val="6F7F62"/>
                </a:solidFill>
                <a:latin typeface="Arial"/>
                <a:ea typeface="Arial"/>
                <a:cs typeface="Arial"/>
              </a:defRPr>
            </a:pPr>
            <a:r>
              <a:rPr sz="1800" b="0">
                <a:solidFill>
                  <a:srgbClr val="6F7F62"/>
                </a:solidFill>
                <a:latin typeface="Arial"/>
                <a:ea typeface="Arial"/>
                <a:cs typeface="Arial"/>
              </a:rPr>
              <a:t>Market-order example · Positive deltas mean more TAC remains after omission.</a:t>
            </a:r>
          </a:p>
        </p:txBody>
      </p:sp>
    </p:spTree>
    <p:extLst>
      <p:ext uri="{BB962C8B-B14F-4D97-AF65-F5344CB8AC3E}">
        <p14:creationId xmlns:p14="http://schemas.microsoft.com/office/powerpoint/2010/main" val="1648875309"/>
      </p:ext>
    </p:extLst>
  </p:cSld>
</p:sld>
</file>

<file path=ppt/slides/slide1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F627E03-9351-49A6-9A74-5994E7C4C3D8}"/>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Scout Office / actual local machine learning</a:t>
            </a:r>
          </a:p>
        </p:txBody>
      </p:sp>
      <p:sp>
        <p:nvSpPr>
          <p:cNvPr id="3" name="">
            <a:extLst xmlns:a="http://schemas.openxmlformats.org/drawingml/2006/main">
              <a:ext uri="{FF2B5EF4-FFF2-40B4-BE49-F238E27FC236}">
                <a16:creationId xmlns:a16="http://schemas.microsoft.com/office/drawing/2014/main" id="{0FC6BA55-47FF-4964-B78A-BF77D433B261}"/>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A4851BD8-48DB-4496-9EEC-04D26DE368D8}"/>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AE03781B-74ED-4553-A5C2-FEB1FF3F4E31}"/>
              </a:ext>
            </a:extLst>
          </p:cNvPr>
          <p:cNvSpPr>
            <a:spLocks xmlns:a="http://schemas.openxmlformats.org/drawingml/2006/main" noGrp="1"/>
          </p:cNvSpPr>
          <p:nvPr/>
        </p:nvSpPr>
        <p:spPr>
          <a:xfrm xmlns:a="http://schemas.openxmlformats.org/drawingml/2006/main">
            <a:off x="628650" y="13811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344638"/>
                </a:solidFill>
                <a:latin typeface="Georgia"/>
                <a:ea typeface="Georgia"/>
                <a:cs typeface="Georgia"/>
              </a:defRPr>
            </a:defPPr>
            <a:lvl1pPr>
              <a:defRPr sz="2850" b="0">
                <a:solidFill>
                  <a:srgbClr val="344638"/>
                </a:solidFill>
                <a:latin typeface="Georgia"/>
                <a:ea typeface="Georgia"/>
                <a:cs typeface="Georgia"/>
              </a:defRPr>
            </a:lvl1pPr>
            <a:lvl2pPr>
              <a:defRPr sz="2850" b="0">
                <a:solidFill>
                  <a:srgbClr val="344638"/>
                </a:solidFill>
                <a:latin typeface="Georgia"/>
                <a:ea typeface="Georgia"/>
                <a:cs typeface="Georgia"/>
              </a:defRPr>
            </a:lvl2pPr>
            <a:lvl3pPr>
              <a:defRPr sz="2850" b="0">
                <a:solidFill>
                  <a:srgbClr val="344638"/>
                </a:solidFill>
                <a:latin typeface="Georgia"/>
                <a:ea typeface="Georgia"/>
                <a:cs typeface="Georgia"/>
              </a:defRPr>
            </a:lvl3pPr>
            <a:lvl4pPr>
              <a:defRPr sz="2850" b="0">
                <a:solidFill>
                  <a:srgbClr val="344638"/>
                </a:solidFill>
                <a:latin typeface="Georgia"/>
                <a:ea typeface="Georgia"/>
                <a:cs typeface="Georgia"/>
              </a:defRPr>
            </a:lvl4pPr>
            <a:lvl5pPr>
              <a:defRPr sz="2850" b="0">
                <a:solidFill>
                  <a:srgbClr val="344638"/>
                </a:solidFill>
                <a:latin typeface="Georgia"/>
                <a:ea typeface="Georgia"/>
                <a:cs typeface="Georgia"/>
              </a:defRPr>
            </a:lvl5pPr>
            <a:lvl6pPr>
              <a:defRPr sz="2850" b="0">
                <a:solidFill>
                  <a:srgbClr val="344638"/>
                </a:solidFill>
                <a:latin typeface="Georgia"/>
                <a:ea typeface="Georgia"/>
                <a:cs typeface="Georgia"/>
              </a:defRPr>
            </a:lvl6pPr>
            <a:lvl7pPr>
              <a:defRPr sz="2850" b="0">
                <a:solidFill>
                  <a:srgbClr val="344638"/>
                </a:solidFill>
                <a:latin typeface="Georgia"/>
                <a:ea typeface="Georgia"/>
                <a:cs typeface="Georgia"/>
              </a:defRPr>
            </a:lvl7pPr>
            <a:lvl8pPr>
              <a:defRPr sz="2850" b="0">
                <a:solidFill>
                  <a:srgbClr val="344638"/>
                </a:solidFill>
                <a:latin typeface="Georgia"/>
                <a:ea typeface="Georgia"/>
                <a:cs typeface="Georgia"/>
              </a:defRPr>
            </a:lvl8pPr>
            <a:lvl9pPr>
              <a:defRPr sz="2850" b="0">
                <a:solidFill>
                  <a:srgbClr val="344638"/>
                </a:solidFill>
                <a:latin typeface="Georgia"/>
                <a:ea typeface="Georgia"/>
                <a:cs typeface="Georgia"/>
              </a:defRPr>
            </a:lvl9pPr>
          </a:lstStyle>
          <a:p xmlns:a="http://schemas.openxmlformats.org/drawingml/2006/main">
            <a:pPr>
              <a:defRPr sz="2850" b="0">
                <a:solidFill>
                  <a:srgbClr val="344638"/>
                </a:solidFill>
                <a:latin typeface="Georgia"/>
                <a:ea typeface="Georgia"/>
                <a:cs typeface="Georgia"/>
              </a:defRPr>
            </a:pPr>
            <a:r>
              <a:rPr sz="2850" b="0">
                <a:solidFill>
                  <a:srgbClr val="344638"/>
                </a:solidFill>
                <a:latin typeface="Georgia"/>
                <a:ea typeface="Georgia"/>
                <a:cs typeface="Georgia"/>
              </a:rPr>
              <a:t>Predict → measure → inspect the disagreement</a:t>
            </a:r>
          </a:p>
        </p:txBody>
      </p:sp>
      <p:sp>
        <p:nvSpPr>
          <p:cNvPr id="6" name="">
            <a:extLst xmlns:a="http://schemas.openxmlformats.org/drawingml/2006/main">
              <a:ext uri="{FF2B5EF4-FFF2-40B4-BE49-F238E27FC236}">
                <a16:creationId xmlns:a16="http://schemas.microsoft.com/office/drawing/2014/main" id="{883001DA-EE13-4939-8DC4-4CD9E8523327}"/>
              </a:ext>
            </a:extLst>
          </p:cNvPr>
          <p:cNvSpPr>
            <a:spLocks xmlns:a="http://schemas.openxmlformats.org/drawingml/2006/main" noGrp="1"/>
          </p:cNvSpPr>
          <p:nvPr/>
        </p:nvSpPr>
        <p:spPr>
          <a:xfrm xmlns:a="http://schemas.openxmlformats.org/drawingml/2006/main">
            <a:off x="666750" y="2571750"/>
            <a:ext cx="1028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44638"/>
                </a:solidFill>
                <a:latin typeface="Arial"/>
                <a:ea typeface="Arial"/>
                <a:cs typeface="Arial"/>
              </a:defRPr>
            </a:defPPr>
            <a:lvl1pPr>
              <a:defRPr sz="2025" b="0">
                <a:solidFill>
                  <a:srgbClr val="344638"/>
                </a:solidFill>
                <a:latin typeface="Arial"/>
                <a:ea typeface="Arial"/>
                <a:cs typeface="Arial"/>
              </a:defRPr>
            </a:lvl1pPr>
            <a:lvl2pPr>
              <a:defRPr sz="2025" b="0">
                <a:solidFill>
                  <a:srgbClr val="344638"/>
                </a:solidFill>
                <a:latin typeface="Arial"/>
                <a:ea typeface="Arial"/>
                <a:cs typeface="Arial"/>
              </a:defRPr>
            </a:lvl2pPr>
            <a:lvl3pPr>
              <a:defRPr sz="2025" b="0">
                <a:solidFill>
                  <a:srgbClr val="344638"/>
                </a:solidFill>
                <a:latin typeface="Arial"/>
                <a:ea typeface="Arial"/>
                <a:cs typeface="Arial"/>
              </a:defRPr>
            </a:lvl3pPr>
            <a:lvl4pPr>
              <a:defRPr sz="2025" b="0">
                <a:solidFill>
                  <a:srgbClr val="344638"/>
                </a:solidFill>
                <a:latin typeface="Arial"/>
                <a:ea typeface="Arial"/>
                <a:cs typeface="Arial"/>
              </a:defRPr>
            </a:lvl4pPr>
            <a:lvl5pPr>
              <a:defRPr sz="2025" b="0">
                <a:solidFill>
                  <a:srgbClr val="344638"/>
                </a:solidFill>
                <a:latin typeface="Arial"/>
                <a:ea typeface="Arial"/>
                <a:cs typeface="Arial"/>
              </a:defRPr>
            </a:lvl5pPr>
            <a:lvl6pPr>
              <a:defRPr sz="2025" b="0">
                <a:solidFill>
                  <a:srgbClr val="344638"/>
                </a:solidFill>
                <a:latin typeface="Arial"/>
                <a:ea typeface="Arial"/>
                <a:cs typeface="Arial"/>
              </a:defRPr>
            </a:lvl6pPr>
            <a:lvl7pPr>
              <a:defRPr sz="2025" b="0">
                <a:solidFill>
                  <a:srgbClr val="344638"/>
                </a:solidFill>
                <a:latin typeface="Arial"/>
                <a:ea typeface="Arial"/>
                <a:cs typeface="Arial"/>
              </a:defRPr>
            </a:lvl7pPr>
            <a:lvl8pPr>
              <a:defRPr sz="2025" b="0">
                <a:solidFill>
                  <a:srgbClr val="344638"/>
                </a:solidFill>
                <a:latin typeface="Arial"/>
                <a:ea typeface="Arial"/>
                <a:cs typeface="Arial"/>
              </a:defRPr>
            </a:lvl8pPr>
            <a:lvl9pPr>
              <a:defRPr sz="2025" b="0">
                <a:solidFill>
                  <a:srgbClr val="344638"/>
                </a:solidFill>
                <a:latin typeface="Arial"/>
                <a:ea typeface="Arial"/>
                <a:cs typeface="Arial"/>
              </a:defRPr>
            </a:lvl9pPr>
          </a:lstStyle>
          <a:p xmlns:a="http://schemas.openxmlformats.org/drawingml/2006/main">
            <a:pPr>
              <a:defRPr sz="2025" b="0">
                <a:solidFill>
                  <a:srgbClr val="344638"/>
                </a:solidFill>
                <a:latin typeface="Arial"/>
                <a:ea typeface="Arial"/>
                <a:cs typeface="Arial"/>
              </a:defRPr>
            </a:pPr>
            <a:r>
              <a:rPr sz="2025" b="0">
                <a:solidFill>
                  <a:srgbClr val="344638"/>
                </a:solidFill>
                <a:latin typeface="Arial"/>
                <a:ea typeface="Arial"/>
                <a:cs typeface="Arial"/>
              </a:rPr>
              <a:t>Learn from structural TAC examples using distance-weighted k-nearest-neighbor regression.</a:t>
            </a:r>
          </a:p>
        </p:txBody>
      </p:sp>
      <p:sp>
        <p:nvSpPr>
          <p:cNvPr id="7" name="">
            <a:extLst xmlns:a="http://schemas.openxmlformats.org/drawingml/2006/main">
              <a:ext uri="{FF2B5EF4-FFF2-40B4-BE49-F238E27FC236}">
                <a16:creationId xmlns:a16="http://schemas.microsoft.com/office/drawing/2014/main" id="{44ADA7BA-2917-4744-A180-A09F8C1F7F59}"/>
              </a:ext>
            </a:extLst>
          </p:cNvPr>
          <p:cNvSpPr>
            <a:spLocks xmlns:a="http://schemas.openxmlformats.org/drawingml/2006/main" noGrp="1"/>
          </p:cNvSpPr>
          <p:nvPr/>
        </p:nvSpPr>
        <p:spPr>
          <a:xfrm xmlns:a="http://schemas.openxmlformats.org/drawingml/2006/main">
            <a:off x="666750" y="3676650"/>
            <a:ext cx="1028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44638"/>
                </a:solidFill>
                <a:latin typeface="Arial"/>
                <a:ea typeface="Arial"/>
                <a:cs typeface="Arial"/>
              </a:defRPr>
            </a:defPPr>
            <a:lvl1pPr>
              <a:defRPr sz="2025" b="0">
                <a:solidFill>
                  <a:srgbClr val="344638"/>
                </a:solidFill>
                <a:latin typeface="Arial"/>
                <a:ea typeface="Arial"/>
                <a:cs typeface="Arial"/>
              </a:defRPr>
            </a:lvl1pPr>
            <a:lvl2pPr>
              <a:defRPr sz="2025" b="0">
                <a:solidFill>
                  <a:srgbClr val="344638"/>
                </a:solidFill>
                <a:latin typeface="Arial"/>
                <a:ea typeface="Arial"/>
                <a:cs typeface="Arial"/>
              </a:defRPr>
            </a:lvl2pPr>
            <a:lvl3pPr>
              <a:defRPr sz="2025" b="0">
                <a:solidFill>
                  <a:srgbClr val="344638"/>
                </a:solidFill>
                <a:latin typeface="Arial"/>
                <a:ea typeface="Arial"/>
                <a:cs typeface="Arial"/>
              </a:defRPr>
            </a:lvl3pPr>
            <a:lvl4pPr>
              <a:defRPr sz="2025" b="0">
                <a:solidFill>
                  <a:srgbClr val="344638"/>
                </a:solidFill>
                <a:latin typeface="Arial"/>
                <a:ea typeface="Arial"/>
                <a:cs typeface="Arial"/>
              </a:defRPr>
            </a:lvl4pPr>
            <a:lvl5pPr>
              <a:defRPr sz="2025" b="0">
                <a:solidFill>
                  <a:srgbClr val="344638"/>
                </a:solidFill>
                <a:latin typeface="Arial"/>
                <a:ea typeface="Arial"/>
                <a:cs typeface="Arial"/>
              </a:defRPr>
            </a:lvl5pPr>
            <a:lvl6pPr>
              <a:defRPr sz="2025" b="0">
                <a:solidFill>
                  <a:srgbClr val="344638"/>
                </a:solidFill>
                <a:latin typeface="Arial"/>
                <a:ea typeface="Arial"/>
                <a:cs typeface="Arial"/>
              </a:defRPr>
            </a:lvl6pPr>
            <a:lvl7pPr>
              <a:defRPr sz="2025" b="0">
                <a:solidFill>
                  <a:srgbClr val="344638"/>
                </a:solidFill>
                <a:latin typeface="Arial"/>
                <a:ea typeface="Arial"/>
                <a:cs typeface="Arial"/>
              </a:defRPr>
            </a:lvl7pPr>
            <a:lvl8pPr>
              <a:defRPr sz="2025" b="0">
                <a:solidFill>
                  <a:srgbClr val="344638"/>
                </a:solidFill>
                <a:latin typeface="Arial"/>
                <a:ea typeface="Arial"/>
                <a:cs typeface="Arial"/>
              </a:defRPr>
            </a:lvl8pPr>
            <a:lvl9pPr>
              <a:defRPr sz="2025" b="0">
                <a:solidFill>
                  <a:srgbClr val="344638"/>
                </a:solidFill>
                <a:latin typeface="Arial"/>
                <a:ea typeface="Arial"/>
                <a:cs typeface="Arial"/>
              </a:defRPr>
            </a:lvl9pPr>
          </a:lstStyle>
          <a:p xmlns:a="http://schemas.openxmlformats.org/drawingml/2006/main">
            <a:pPr>
              <a:defRPr sz="2025" b="0">
                <a:solidFill>
                  <a:srgbClr val="344638"/>
                </a:solidFill>
                <a:latin typeface="Arial"/>
                <a:ea typeface="Arial"/>
                <a:cs typeface="Arial"/>
              </a:defRPr>
            </a:pPr>
            <a:r>
              <a:rPr sz="2025" b="0">
                <a:solidFill>
                  <a:srgbClr val="344638"/>
                </a:solidFill>
                <a:latin typeface="Arial"/>
                <a:ea typeface="Arial"/>
                <a:cs typeface="Arial"/>
              </a:rPr>
              <a:t>Predict a rewrite count for each pass using five nearby training examples.</a:t>
            </a:r>
          </a:p>
        </p:txBody>
      </p:sp>
      <p:sp>
        <p:nvSpPr>
          <p:cNvPr id="8" name="">
            <a:extLst xmlns:a="http://schemas.openxmlformats.org/drawingml/2006/main">
              <a:ext uri="{FF2B5EF4-FFF2-40B4-BE49-F238E27FC236}">
                <a16:creationId xmlns:a16="http://schemas.microsoft.com/office/drawing/2014/main" id="{F2A1519F-6198-48B3-B8C1-9880B90E0574}"/>
              </a:ext>
            </a:extLst>
          </p:cNvPr>
          <p:cNvSpPr>
            <a:spLocks xmlns:a="http://schemas.openxmlformats.org/drawingml/2006/main" noGrp="1"/>
          </p:cNvSpPr>
          <p:nvPr/>
        </p:nvSpPr>
        <p:spPr>
          <a:xfrm xmlns:a="http://schemas.openxmlformats.org/drawingml/2006/main">
            <a:off x="666750" y="4781550"/>
            <a:ext cx="1028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44638"/>
                </a:solidFill>
                <a:latin typeface="Arial"/>
                <a:ea typeface="Arial"/>
                <a:cs typeface="Arial"/>
              </a:defRPr>
            </a:defPPr>
            <a:lvl1pPr>
              <a:defRPr sz="2025" b="0">
                <a:solidFill>
                  <a:srgbClr val="344638"/>
                </a:solidFill>
                <a:latin typeface="Arial"/>
                <a:ea typeface="Arial"/>
                <a:cs typeface="Arial"/>
              </a:defRPr>
            </a:lvl1pPr>
            <a:lvl2pPr>
              <a:defRPr sz="2025" b="0">
                <a:solidFill>
                  <a:srgbClr val="344638"/>
                </a:solidFill>
                <a:latin typeface="Arial"/>
                <a:ea typeface="Arial"/>
                <a:cs typeface="Arial"/>
              </a:defRPr>
            </a:lvl2pPr>
            <a:lvl3pPr>
              <a:defRPr sz="2025" b="0">
                <a:solidFill>
                  <a:srgbClr val="344638"/>
                </a:solidFill>
                <a:latin typeface="Arial"/>
                <a:ea typeface="Arial"/>
                <a:cs typeface="Arial"/>
              </a:defRPr>
            </a:lvl3pPr>
            <a:lvl4pPr>
              <a:defRPr sz="2025" b="0">
                <a:solidFill>
                  <a:srgbClr val="344638"/>
                </a:solidFill>
                <a:latin typeface="Arial"/>
                <a:ea typeface="Arial"/>
                <a:cs typeface="Arial"/>
              </a:defRPr>
            </a:lvl4pPr>
            <a:lvl5pPr>
              <a:defRPr sz="2025" b="0">
                <a:solidFill>
                  <a:srgbClr val="344638"/>
                </a:solidFill>
                <a:latin typeface="Arial"/>
                <a:ea typeface="Arial"/>
                <a:cs typeface="Arial"/>
              </a:defRPr>
            </a:lvl5pPr>
            <a:lvl6pPr>
              <a:defRPr sz="2025" b="0">
                <a:solidFill>
                  <a:srgbClr val="344638"/>
                </a:solidFill>
                <a:latin typeface="Arial"/>
                <a:ea typeface="Arial"/>
                <a:cs typeface="Arial"/>
              </a:defRPr>
            </a:lvl6pPr>
            <a:lvl7pPr>
              <a:defRPr sz="2025" b="0">
                <a:solidFill>
                  <a:srgbClr val="344638"/>
                </a:solidFill>
                <a:latin typeface="Arial"/>
                <a:ea typeface="Arial"/>
                <a:cs typeface="Arial"/>
              </a:defRPr>
            </a:lvl7pPr>
            <a:lvl8pPr>
              <a:defRPr sz="2025" b="0">
                <a:solidFill>
                  <a:srgbClr val="344638"/>
                </a:solidFill>
                <a:latin typeface="Arial"/>
                <a:ea typeface="Arial"/>
                <a:cs typeface="Arial"/>
              </a:defRPr>
            </a:lvl8pPr>
            <a:lvl9pPr>
              <a:defRPr sz="2025" b="0">
                <a:solidFill>
                  <a:srgbClr val="344638"/>
                </a:solidFill>
                <a:latin typeface="Arial"/>
                <a:ea typeface="Arial"/>
                <a:cs typeface="Arial"/>
              </a:defRPr>
            </a:lvl9pPr>
          </a:lstStyle>
          <a:p xmlns:a="http://schemas.openxmlformats.org/drawingml/2006/main">
            <a:pPr>
              <a:defRPr sz="2025" b="0">
                <a:solidFill>
                  <a:srgbClr val="344638"/>
                </a:solidFill>
                <a:latin typeface="Arial"/>
                <a:ea typeface="Arial"/>
                <a:cs typeface="Arial"/>
              </a:defRPr>
            </a:pPr>
            <a:r>
              <a:rPr sz="2025" b="0">
                <a:solidFill>
                  <a:srgbClr val="344638"/>
                </a:solidFill>
                <a:latin typeface="Arial"/>
                <a:ea typeface="Arial"/>
                <a:cs typeface="Arial"/>
              </a:rPr>
              <a:t>Run every pass on the original TAC to compare the prediction with measured evidence.</a:t>
            </a:r>
          </a:p>
        </p:txBody>
      </p:sp>
    </p:spTree>
    <p:extLst>
      <p:ext uri="{BB962C8B-B14F-4D97-AF65-F5344CB8AC3E}">
        <p14:creationId xmlns:p14="http://schemas.microsoft.com/office/powerpoint/2010/main" val="1706933640"/>
      </p:ext>
    </p:extLst>
  </p:cSld>
</p:sld>
</file>

<file path=ppt/slides/slide1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7CB57FB-9C68-4BDE-87B8-2A389F84861E}"/>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The scout exposes its reasoning</a:t>
            </a:r>
          </a:p>
        </p:txBody>
      </p:sp>
      <p:sp>
        <p:nvSpPr>
          <p:cNvPr id="3" name="">
            <a:extLst xmlns:a="http://schemas.openxmlformats.org/drawingml/2006/main">
              <a:ext uri="{FF2B5EF4-FFF2-40B4-BE49-F238E27FC236}">
                <a16:creationId xmlns:a16="http://schemas.microsoft.com/office/drawing/2014/main" id="{B7B5E866-F6D0-4391-8B7C-3D7EC2504622}"/>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0FA3706E-D72F-4ED1-8E36-0F4302D853AC}"/>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F012CA0C-C571-42A9-88D8-BF8225714C21}"/>
              </a:ext>
            </a:extLst>
          </p:cNvPr>
          <p:cNvSpPr>
            <a:spLocks xmlns:a="http://schemas.openxmlformats.org/drawingml/2006/main" noGrp="1"/>
          </p:cNvSpPr>
          <p:nvPr/>
        </p:nvSpPr>
        <p:spPr>
          <a:xfrm xmlns:a="http://schemas.openxmlformats.org/drawingml/2006/main">
            <a:off x="609600" y="1476375"/>
            <a:ext cx="3952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Seven structural features; no source-code embedding or API call.</a:t>
            </a:r>
          </a:p>
        </p:txBody>
      </p:sp>
      <p:sp>
        <p:nvSpPr>
          <p:cNvPr id="6" name="">
            <a:extLst xmlns:a="http://schemas.openxmlformats.org/drawingml/2006/main">
              <a:ext uri="{FF2B5EF4-FFF2-40B4-BE49-F238E27FC236}">
                <a16:creationId xmlns:a16="http://schemas.microsoft.com/office/drawing/2014/main" id="{B0FC6479-4CAD-4C88-BB07-3DB820B5768A}"/>
              </a:ext>
            </a:extLst>
          </p:cNvPr>
          <p:cNvSpPr>
            <a:spLocks xmlns:a="http://schemas.openxmlformats.org/drawingml/2006/main" noGrp="1"/>
          </p:cNvSpPr>
          <p:nvPr/>
        </p:nvSpPr>
        <p:spPr>
          <a:xfrm xmlns:a="http://schemas.openxmlformats.org/drawingml/2006/main">
            <a:off x="609600" y="2762250"/>
            <a:ext cx="3952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Neighbor IDs, distances and stored target counts are inspectable.</a:t>
            </a:r>
          </a:p>
        </p:txBody>
      </p:sp>
      <p:sp>
        <p:nvSpPr>
          <p:cNvPr id="7" name="">
            <a:extLst xmlns:a="http://schemas.openxmlformats.org/drawingml/2006/main">
              <a:ext uri="{FF2B5EF4-FFF2-40B4-BE49-F238E27FC236}">
                <a16:creationId xmlns:a16="http://schemas.microsoft.com/office/drawing/2014/main" id="{1499AD51-DD20-4AE3-9293-67B03C6E3589}"/>
              </a:ext>
            </a:extLst>
          </p:cNvPr>
          <p:cNvSpPr>
            <a:spLocks xmlns:a="http://schemas.openxmlformats.org/drawingml/2006/main" noGrp="1"/>
          </p:cNvSpPr>
          <p:nvPr/>
        </p:nvSpPr>
        <p:spPr>
          <a:xfrm xmlns:a="http://schemas.openxmlformats.org/drawingml/2006/main">
            <a:off x="609600" y="4048125"/>
            <a:ext cx="3952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The scout suggests what to investigate. Compiler execution checks remain separate and authoritative.</a:t>
            </a:r>
          </a:p>
        </p:txBody>
      </p:sp>
      <p:pic>
        <p:nvPicPr>
          <p:cNvPr id="8" name="">
            <a:extLst xmlns:a="http://schemas.openxmlformats.org/drawingml/2006/main">
              <a:ext uri="{FF2B5EF4-FFF2-40B4-BE49-F238E27FC236}">
                <a16:creationId xmlns:a16="http://schemas.microsoft.com/office/drawing/2014/main" id="{627C3CD2-8246-4893-A163-3CA373477051}"/>
              </a:ext>
            </a:extLst>
          </p:cNvPr>
          <p:cNvPicPr>
            <a:picLocks xmlns:a="http://schemas.openxmlformats.org/drawingml/2006/main" noChangeAspect="1"/>
          </p:cNvPicPr>
          <p:nvPr/>
        </p:nvPicPr>
        <p:blipFill>
          <a:blip xmlns:r="http://schemas.openxmlformats.org/officeDocument/2006/relationships" xmlns:a="http://schemas.openxmlformats.org/drawingml/2006/main" r:embed="Re32a563243da4e8d"/>
          <a:stretch xmlns:a="http://schemas.openxmlformats.org/drawingml/2006/main"/>
        </p:blipFill>
        <p:spPr>
          <a:xfrm xmlns:a="http://schemas.openxmlformats.org/drawingml/2006/main">
            <a:off x="4953000" y="1383212"/>
            <a:ext cx="6619875" cy="4615451"/>
          </a:xfrm>
          <a:prstGeom xmlns:a="http://schemas.openxmlformats.org/drawingml/2006/main" prst="rect">
            <a:avLst/>
          </a:prstGeom>
        </p:spPr>
      </p:pic>
    </p:spTree>
    <p:extLst>
      <p:ext uri="{BB962C8B-B14F-4D97-AF65-F5344CB8AC3E}">
        <p14:creationId xmlns:p14="http://schemas.microsoft.com/office/powerpoint/2010/main" val="1882795502"/>
      </p:ext>
    </p:extLst>
  </p:cSld>
</p:sld>
</file>

<file path=ppt/slides/slide1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A44B7FC-9B3C-441B-B682-59E944180AC8}"/>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Measured ML performance</a:t>
            </a:r>
          </a:p>
        </p:txBody>
      </p:sp>
      <p:sp>
        <p:nvSpPr>
          <p:cNvPr id="3" name="">
            <a:extLst xmlns:a="http://schemas.openxmlformats.org/drawingml/2006/main">
              <a:ext uri="{FF2B5EF4-FFF2-40B4-BE49-F238E27FC236}">
                <a16:creationId xmlns:a16="http://schemas.microsoft.com/office/drawing/2014/main" id="{1F4D09DF-0ABC-440D-AA40-81C5DF7117CC}"/>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B8834BF7-47D8-4898-941C-7133274D2AB6}"/>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BD78CC1E-D9FC-4235-89F1-CD05CD62DA15}"/>
              </a:ext>
            </a:extLst>
          </p:cNvPr>
          <p:cNvSpPr>
            <a:spLocks xmlns:a="http://schemas.openxmlformats.org/drawingml/2006/main" noGrp="1"/>
          </p:cNvSpPr>
          <p:nvPr/>
        </p:nvSpPr>
        <p:spPr>
          <a:xfrm xmlns:a="http://schemas.openxmlformats.org/drawingml/2006/main">
            <a:off x="628650" y="13620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F7F62"/>
                </a:solidFill>
                <a:latin typeface="Arial"/>
                <a:ea typeface="Arial"/>
                <a:cs typeface="Arial"/>
              </a:defRPr>
            </a:defPPr>
            <a:lvl1pPr>
              <a:defRPr sz="1950" b="0">
                <a:solidFill>
                  <a:srgbClr val="6F7F62"/>
                </a:solidFill>
                <a:latin typeface="Arial"/>
                <a:ea typeface="Arial"/>
                <a:cs typeface="Arial"/>
              </a:defRPr>
            </a:lvl1pPr>
            <a:lvl2pPr>
              <a:defRPr sz="1950" b="0">
                <a:solidFill>
                  <a:srgbClr val="6F7F62"/>
                </a:solidFill>
                <a:latin typeface="Arial"/>
                <a:ea typeface="Arial"/>
                <a:cs typeface="Arial"/>
              </a:defRPr>
            </a:lvl2pPr>
            <a:lvl3pPr>
              <a:defRPr sz="1950" b="0">
                <a:solidFill>
                  <a:srgbClr val="6F7F62"/>
                </a:solidFill>
                <a:latin typeface="Arial"/>
                <a:ea typeface="Arial"/>
                <a:cs typeface="Arial"/>
              </a:defRPr>
            </a:lvl3pPr>
            <a:lvl4pPr>
              <a:defRPr sz="1950" b="0">
                <a:solidFill>
                  <a:srgbClr val="6F7F62"/>
                </a:solidFill>
                <a:latin typeface="Arial"/>
                <a:ea typeface="Arial"/>
                <a:cs typeface="Arial"/>
              </a:defRPr>
            </a:lvl4pPr>
            <a:lvl5pPr>
              <a:defRPr sz="1950" b="0">
                <a:solidFill>
                  <a:srgbClr val="6F7F62"/>
                </a:solidFill>
                <a:latin typeface="Arial"/>
                <a:ea typeface="Arial"/>
                <a:cs typeface="Arial"/>
              </a:defRPr>
            </a:lvl5pPr>
            <a:lvl6pPr>
              <a:defRPr sz="1950" b="0">
                <a:solidFill>
                  <a:srgbClr val="6F7F62"/>
                </a:solidFill>
                <a:latin typeface="Arial"/>
                <a:ea typeface="Arial"/>
                <a:cs typeface="Arial"/>
              </a:defRPr>
            </a:lvl6pPr>
            <a:lvl7pPr>
              <a:defRPr sz="1950" b="0">
                <a:solidFill>
                  <a:srgbClr val="6F7F62"/>
                </a:solidFill>
                <a:latin typeface="Arial"/>
                <a:ea typeface="Arial"/>
                <a:cs typeface="Arial"/>
              </a:defRPr>
            </a:lvl7pPr>
            <a:lvl8pPr>
              <a:defRPr sz="1950" b="0">
                <a:solidFill>
                  <a:srgbClr val="6F7F62"/>
                </a:solidFill>
                <a:latin typeface="Arial"/>
                <a:ea typeface="Arial"/>
                <a:cs typeface="Arial"/>
              </a:defRPr>
            </a:lvl8pPr>
            <a:lvl9pPr>
              <a:defRPr sz="1950" b="0">
                <a:solidFill>
                  <a:srgbClr val="6F7F62"/>
                </a:solidFill>
                <a:latin typeface="Arial"/>
                <a:ea typeface="Arial"/>
                <a:cs typeface="Arial"/>
              </a:defRPr>
            </a:lvl9pPr>
          </a:lstStyle>
          <a:p xmlns:a="http://schemas.openxmlformats.org/drawingml/2006/main">
            <a:pPr>
              <a:defRPr sz="1950" b="0">
                <a:solidFill>
                  <a:srgbClr val="6F7F62"/>
                </a:solidFill>
                <a:latin typeface="Arial"/>
                <a:ea typeface="Arial"/>
                <a:cs typeface="Arial"/>
              </a:defRPr>
            </a:pPr>
            <a:r>
              <a:rPr sz="1950" b="0">
                <a:solidFill>
                  <a:srgbClr val="6F7F62"/>
                </a:solidFill>
                <a:latin typeface="Arial"/>
                <a:ea typeface="Arial"/>
                <a:cs typeface="Arial"/>
              </a:rPr>
              <a:t>192 training / 48 held-out synthetic programs</a:t>
            </a:r>
          </a:p>
        </p:txBody>
      </p:sp>
      <p:graphicFrame>
        <p:nvGraphicFramePr>
          <p:cNvPr id="6" name="Chart">
            <a:extLst xmlns:a="http://schemas.openxmlformats.org/drawingml/2006/main">
              <a:ext uri="{FF2B5EF4-FFF2-40B4-BE49-F238E27FC236}">
                <a16:creationId xmlns:a16="http://schemas.microsoft.com/office/drawing/2014/main" id="{116B0824-CC9B-4281-9E7B-91758D9E6145}"/>
              </a:ext>
            </a:extLst>
          </p:cNvPr>
          <p:cNvGraphicFramePr/>
          <p:nvPr/>
        </p:nvGraphicFramePr>
        <p:xfrm>
          <a:off xmlns:a="http://schemas.openxmlformats.org/drawingml/2006/main" x="628650" y="2095500"/>
          <a:ext xmlns:a="http://schemas.openxmlformats.org/drawingml/2006/main" cx="7239000" cy="3381375"/>
        </p:xfrm>
        <a:graphic xmlns:a="http://schemas.openxmlformats.org/drawingml/2006/main">
          <a:graphicData uri="http://schemas.openxmlformats.org/drawingml/2006/chart">
            <c:chart xmlns:r="http://schemas.openxmlformats.org/officeDocument/2006/relationships" xmlns:c="http://schemas.openxmlformats.org/drawingml/2006/chart" r:id="R720ac43733614534"/>
          </a:graphicData>
        </a:graphic>
      </p:graphicFrame>
      <p:sp>
        <p:nvSpPr>
          <p:cNvPr id="7" name="">
            <a:extLst xmlns:a="http://schemas.openxmlformats.org/drawingml/2006/main">
              <a:ext uri="{FF2B5EF4-FFF2-40B4-BE49-F238E27FC236}">
                <a16:creationId xmlns:a16="http://schemas.microsoft.com/office/drawing/2014/main" id="{5A532850-1671-41AC-89BF-894DB027EA22}"/>
              </a:ext>
            </a:extLst>
          </p:cNvPr>
          <p:cNvSpPr>
            <a:spLocks xmlns:a="http://schemas.openxmlformats.org/drawingml/2006/main" noGrp="1"/>
          </p:cNvSpPr>
          <p:nvPr/>
        </p:nvSpPr>
        <p:spPr>
          <a:xfrm xmlns:a="http://schemas.openxmlformats.org/drawingml/2006/main">
            <a:off x="8382000" y="22860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F7F62"/>
                </a:solidFill>
                <a:latin typeface="Arial"/>
                <a:ea typeface="Arial"/>
                <a:cs typeface="Arial"/>
              </a:defRPr>
            </a:defPPr>
            <a:lvl1pPr>
              <a:defRPr sz="1725" b="0">
                <a:solidFill>
                  <a:srgbClr val="6F7F62"/>
                </a:solidFill>
                <a:latin typeface="Arial"/>
                <a:ea typeface="Arial"/>
                <a:cs typeface="Arial"/>
              </a:defRPr>
            </a:lvl1pPr>
            <a:lvl2pPr>
              <a:defRPr sz="1725" b="0">
                <a:solidFill>
                  <a:srgbClr val="6F7F62"/>
                </a:solidFill>
                <a:latin typeface="Arial"/>
                <a:ea typeface="Arial"/>
                <a:cs typeface="Arial"/>
              </a:defRPr>
            </a:lvl2pPr>
            <a:lvl3pPr>
              <a:defRPr sz="1725" b="0">
                <a:solidFill>
                  <a:srgbClr val="6F7F62"/>
                </a:solidFill>
                <a:latin typeface="Arial"/>
                <a:ea typeface="Arial"/>
                <a:cs typeface="Arial"/>
              </a:defRPr>
            </a:lvl3pPr>
            <a:lvl4pPr>
              <a:defRPr sz="1725" b="0">
                <a:solidFill>
                  <a:srgbClr val="6F7F62"/>
                </a:solidFill>
                <a:latin typeface="Arial"/>
                <a:ea typeface="Arial"/>
                <a:cs typeface="Arial"/>
              </a:defRPr>
            </a:lvl4pPr>
            <a:lvl5pPr>
              <a:defRPr sz="1725" b="0">
                <a:solidFill>
                  <a:srgbClr val="6F7F62"/>
                </a:solidFill>
                <a:latin typeface="Arial"/>
                <a:ea typeface="Arial"/>
                <a:cs typeface="Arial"/>
              </a:defRPr>
            </a:lvl5pPr>
            <a:lvl6pPr>
              <a:defRPr sz="1725" b="0">
                <a:solidFill>
                  <a:srgbClr val="6F7F62"/>
                </a:solidFill>
                <a:latin typeface="Arial"/>
                <a:ea typeface="Arial"/>
                <a:cs typeface="Arial"/>
              </a:defRPr>
            </a:lvl6pPr>
            <a:lvl7pPr>
              <a:defRPr sz="1725" b="0">
                <a:solidFill>
                  <a:srgbClr val="6F7F62"/>
                </a:solidFill>
                <a:latin typeface="Arial"/>
                <a:ea typeface="Arial"/>
                <a:cs typeface="Arial"/>
              </a:defRPr>
            </a:lvl7pPr>
            <a:lvl8pPr>
              <a:defRPr sz="1725" b="0">
                <a:solidFill>
                  <a:srgbClr val="6F7F62"/>
                </a:solidFill>
                <a:latin typeface="Arial"/>
                <a:ea typeface="Arial"/>
                <a:cs typeface="Arial"/>
              </a:defRPr>
            </a:lvl8pPr>
            <a:lvl9pPr>
              <a:defRPr sz="1725" b="0">
                <a:solidFill>
                  <a:srgbClr val="6F7F62"/>
                </a:solidFill>
                <a:latin typeface="Arial"/>
                <a:ea typeface="Arial"/>
                <a:cs typeface="Arial"/>
              </a:defRPr>
            </a:lvl9pPr>
          </a:lstStyle>
          <a:p xmlns:a="http://schemas.openxmlformats.org/drawingml/2006/main">
            <a:pPr>
              <a:defRPr sz="1725" b="0">
                <a:solidFill>
                  <a:srgbClr val="6F7F62"/>
                </a:solidFill>
                <a:latin typeface="Arial"/>
                <a:ea typeface="Arial"/>
                <a:cs typeface="Arial"/>
              </a:defRPr>
            </a:pPr>
            <a:r>
              <a:rPr sz="1725" b="0">
                <a:solidFill>
                  <a:srgbClr val="6F7F62"/>
                </a:solidFill>
                <a:latin typeface="Arial"/>
                <a:ea typeface="Arial"/>
                <a:cs typeface="Arial"/>
              </a:rPr>
              <a:t>Mean absolute error</a:t>
            </a:r>
          </a:p>
        </p:txBody>
      </p:sp>
      <p:sp>
        <p:nvSpPr>
          <p:cNvPr id="8" name="">
            <a:extLst xmlns:a="http://schemas.openxmlformats.org/drawingml/2006/main">
              <a:ext uri="{FF2B5EF4-FFF2-40B4-BE49-F238E27FC236}">
                <a16:creationId xmlns:a16="http://schemas.microsoft.com/office/drawing/2014/main" id="{D06940B4-8E03-43D9-B32D-8E848AB20251}"/>
              </a:ext>
            </a:extLst>
          </p:cNvPr>
          <p:cNvSpPr>
            <a:spLocks xmlns:a="http://schemas.openxmlformats.org/drawingml/2006/main" noGrp="1"/>
          </p:cNvSpPr>
          <p:nvPr/>
        </p:nvSpPr>
        <p:spPr>
          <a:xfrm xmlns:a="http://schemas.openxmlformats.org/drawingml/2006/main">
            <a:off x="8382000" y="29051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0">
                <a:solidFill>
                  <a:srgbClr val="344638"/>
                </a:solidFill>
                <a:latin typeface="Georgia"/>
                <a:ea typeface="Georgia"/>
                <a:cs typeface="Georgia"/>
              </a:defRPr>
            </a:defPPr>
            <a:lvl1pPr>
              <a:defRPr sz="4650" b="0">
                <a:solidFill>
                  <a:srgbClr val="344638"/>
                </a:solidFill>
                <a:latin typeface="Georgia"/>
                <a:ea typeface="Georgia"/>
                <a:cs typeface="Georgia"/>
              </a:defRPr>
            </a:lvl1pPr>
            <a:lvl2pPr>
              <a:defRPr sz="4650" b="0">
                <a:solidFill>
                  <a:srgbClr val="344638"/>
                </a:solidFill>
                <a:latin typeface="Georgia"/>
                <a:ea typeface="Georgia"/>
                <a:cs typeface="Georgia"/>
              </a:defRPr>
            </a:lvl2pPr>
            <a:lvl3pPr>
              <a:defRPr sz="4650" b="0">
                <a:solidFill>
                  <a:srgbClr val="344638"/>
                </a:solidFill>
                <a:latin typeface="Georgia"/>
                <a:ea typeface="Georgia"/>
                <a:cs typeface="Georgia"/>
              </a:defRPr>
            </a:lvl3pPr>
            <a:lvl4pPr>
              <a:defRPr sz="4650" b="0">
                <a:solidFill>
                  <a:srgbClr val="344638"/>
                </a:solidFill>
                <a:latin typeface="Georgia"/>
                <a:ea typeface="Georgia"/>
                <a:cs typeface="Georgia"/>
              </a:defRPr>
            </a:lvl4pPr>
            <a:lvl5pPr>
              <a:defRPr sz="4650" b="0">
                <a:solidFill>
                  <a:srgbClr val="344638"/>
                </a:solidFill>
                <a:latin typeface="Georgia"/>
                <a:ea typeface="Georgia"/>
                <a:cs typeface="Georgia"/>
              </a:defRPr>
            </a:lvl5pPr>
            <a:lvl6pPr>
              <a:defRPr sz="4650" b="0">
                <a:solidFill>
                  <a:srgbClr val="344638"/>
                </a:solidFill>
                <a:latin typeface="Georgia"/>
                <a:ea typeface="Georgia"/>
                <a:cs typeface="Georgia"/>
              </a:defRPr>
            </a:lvl6pPr>
            <a:lvl7pPr>
              <a:defRPr sz="4650" b="0">
                <a:solidFill>
                  <a:srgbClr val="344638"/>
                </a:solidFill>
                <a:latin typeface="Georgia"/>
                <a:ea typeface="Georgia"/>
                <a:cs typeface="Georgia"/>
              </a:defRPr>
            </a:lvl7pPr>
            <a:lvl8pPr>
              <a:defRPr sz="4650" b="0">
                <a:solidFill>
                  <a:srgbClr val="344638"/>
                </a:solidFill>
                <a:latin typeface="Georgia"/>
                <a:ea typeface="Georgia"/>
                <a:cs typeface="Georgia"/>
              </a:defRPr>
            </a:lvl8pPr>
            <a:lvl9pPr>
              <a:defRPr sz="4650" b="0">
                <a:solidFill>
                  <a:srgbClr val="344638"/>
                </a:solidFill>
                <a:latin typeface="Georgia"/>
                <a:ea typeface="Georgia"/>
                <a:cs typeface="Georgia"/>
              </a:defRPr>
            </a:lvl9pPr>
          </a:lstStyle>
          <a:p xmlns:a="http://schemas.openxmlformats.org/drawingml/2006/main">
            <a:pPr>
              <a:defRPr sz="4650" b="0">
                <a:solidFill>
                  <a:srgbClr val="344638"/>
                </a:solidFill>
                <a:latin typeface="Georgia"/>
                <a:ea typeface="Georgia"/>
                <a:cs typeface="Georgia"/>
              </a:defRPr>
            </a:pPr>
            <a:r>
              <a:rPr sz="4650" b="0">
                <a:solidFill>
                  <a:srgbClr val="344638"/>
                </a:solidFill>
                <a:latin typeface="Georgia"/>
                <a:ea typeface="Georgia"/>
                <a:cs typeface="Georgia"/>
              </a:rPr>
              <a:t>1.025</a:t>
            </a:r>
          </a:p>
        </p:txBody>
      </p:sp>
      <p:sp>
        <p:nvSpPr>
          <p:cNvPr id="9" name="">
            <a:extLst xmlns:a="http://schemas.openxmlformats.org/drawingml/2006/main">
              <a:ext uri="{FF2B5EF4-FFF2-40B4-BE49-F238E27FC236}">
                <a16:creationId xmlns:a16="http://schemas.microsoft.com/office/drawing/2014/main" id="{B9117CA8-101F-4B25-8343-B80403188617}"/>
              </a:ext>
            </a:extLst>
          </p:cNvPr>
          <p:cNvSpPr>
            <a:spLocks xmlns:a="http://schemas.openxmlformats.org/drawingml/2006/main" noGrp="1"/>
          </p:cNvSpPr>
          <p:nvPr/>
        </p:nvSpPr>
        <p:spPr>
          <a:xfrm xmlns:a="http://schemas.openxmlformats.org/drawingml/2006/main">
            <a:off x="8410575" y="38100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F7F62"/>
                </a:solidFill>
                <a:latin typeface="Arial"/>
                <a:ea typeface="Arial"/>
                <a:cs typeface="Arial"/>
              </a:defRPr>
            </a:defPPr>
            <a:lvl1pPr>
              <a:defRPr sz="1725" b="0">
                <a:solidFill>
                  <a:srgbClr val="6F7F62"/>
                </a:solidFill>
                <a:latin typeface="Arial"/>
                <a:ea typeface="Arial"/>
                <a:cs typeface="Arial"/>
              </a:defRPr>
            </a:lvl1pPr>
            <a:lvl2pPr>
              <a:defRPr sz="1725" b="0">
                <a:solidFill>
                  <a:srgbClr val="6F7F62"/>
                </a:solidFill>
                <a:latin typeface="Arial"/>
                <a:ea typeface="Arial"/>
                <a:cs typeface="Arial"/>
              </a:defRPr>
            </a:lvl2pPr>
            <a:lvl3pPr>
              <a:defRPr sz="1725" b="0">
                <a:solidFill>
                  <a:srgbClr val="6F7F62"/>
                </a:solidFill>
                <a:latin typeface="Arial"/>
                <a:ea typeface="Arial"/>
                <a:cs typeface="Arial"/>
              </a:defRPr>
            </a:lvl3pPr>
            <a:lvl4pPr>
              <a:defRPr sz="1725" b="0">
                <a:solidFill>
                  <a:srgbClr val="6F7F62"/>
                </a:solidFill>
                <a:latin typeface="Arial"/>
                <a:ea typeface="Arial"/>
                <a:cs typeface="Arial"/>
              </a:defRPr>
            </a:lvl4pPr>
            <a:lvl5pPr>
              <a:defRPr sz="1725" b="0">
                <a:solidFill>
                  <a:srgbClr val="6F7F62"/>
                </a:solidFill>
                <a:latin typeface="Arial"/>
                <a:ea typeface="Arial"/>
                <a:cs typeface="Arial"/>
              </a:defRPr>
            </a:lvl5pPr>
            <a:lvl6pPr>
              <a:defRPr sz="1725" b="0">
                <a:solidFill>
                  <a:srgbClr val="6F7F62"/>
                </a:solidFill>
                <a:latin typeface="Arial"/>
                <a:ea typeface="Arial"/>
                <a:cs typeface="Arial"/>
              </a:defRPr>
            </a:lvl6pPr>
            <a:lvl7pPr>
              <a:defRPr sz="1725" b="0">
                <a:solidFill>
                  <a:srgbClr val="6F7F62"/>
                </a:solidFill>
                <a:latin typeface="Arial"/>
                <a:ea typeface="Arial"/>
                <a:cs typeface="Arial"/>
              </a:defRPr>
            </a:lvl7pPr>
            <a:lvl8pPr>
              <a:defRPr sz="1725" b="0">
                <a:solidFill>
                  <a:srgbClr val="6F7F62"/>
                </a:solidFill>
                <a:latin typeface="Arial"/>
                <a:ea typeface="Arial"/>
                <a:cs typeface="Arial"/>
              </a:defRPr>
            </a:lvl8pPr>
            <a:lvl9pPr>
              <a:defRPr sz="1725" b="0">
                <a:solidFill>
                  <a:srgbClr val="6F7F62"/>
                </a:solidFill>
                <a:latin typeface="Arial"/>
                <a:ea typeface="Arial"/>
                <a:cs typeface="Arial"/>
              </a:defRPr>
            </a:lvl9pPr>
          </a:lstStyle>
          <a:p xmlns:a="http://schemas.openxmlformats.org/drawingml/2006/main">
            <a:pPr>
              <a:defRPr sz="1725" b="0">
                <a:solidFill>
                  <a:srgbClr val="6F7F62"/>
                </a:solidFill>
                <a:latin typeface="Arial"/>
                <a:ea typeface="Arial"/>
                <a:cs typeface="Arial"/>
              </a:defRPr>
            </a:pPr>
            <a:r>
              <a:rPr sz="1725" b="0">
                <a:solidFill>
                  <a:srgbClr val="6F7F62"/>
                </a:solidFill>
                <a:latin typeface="Arial"/>
                <a:ea typeface="Arial"/>
                <a:cs typeface="Arial"/>
              </a:rPr>
              <a:t>rewrites per pass</a:t>
            </a:r>
          </a:p>
        </p:txBody>
      </p:sp>
      <p:sp>
        <p:nvSpPr>
          <p:cNvPr id="10" name="">
            <a:extLst xmlns:a="http://schemas.openxmlformats.org/drawingml/2006/main">
              <a:ext uri="{FF2B5EF4-FFF2-40B4-BE49-F238E27FC236}">
                <a16:creationId xmlns:a16="http://schemas.microsoft.com/office/drawing/2014/main" id="{62C271A5-8FD3-4FCB-BBB3-9295FEBF3B22}"/>
              </a:ext>
            </a:extLst>
          </p:cNvPr>
          <p:cNvSpPr>
            <a:spLocks xmlns:a="http://schemas.openxmlformats.org/drawingml/2006/main" noGrp="1"/>
          </p:cNvSpPr>
          <p:nvPr/>
        </p:nvSpPr>
        <p:spPr>
          <a:xfrm xmlns:a="http://schemas.openxmlformats.org/drawingml/2006/main">
            <a:off x="628650" y="58102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F7F62"/>
                </a:solidFill>
                <a:latin typeface="Arial"/>
                <a:ea typeface="Arial"/>
                <a:cs typeface="Arial"/>
              </a:defRPr>
            </a:defPPr>
            <a:lvl1pPr>
              <a:defRPr sz="1725" b="0">
                <a:solidFill>
                  <a:srgbClr val="6F7F62"/>
                </a:solidFill>
                <a:latin typeface="Arial"/>
                <a:ea typeface="Arial"/>
                <a:cs typeface="Arial"/>
              </a:defRPr>
            </a:lvl1pPr>
            <a:lvl2pPr>
              <a:defRPr sz="1725" b="0">
                <a:solidFill>
                  <a:srgbClr val="6F7F62"/>
                </a:solidFill>
                <a:latin typeface="Arial"/>
                <a:ea typeface="Arial"/>
                <a:cs typeface="Arial"/>
              </a:defRPr>
            </a:lvl2pPr>
            <a:lvl3pPr>
              <a:defRPr sz="1725" b="0">
                <a:solidFill>
                  <a:srgbClr val="6F7F62"/>
                </a:solidFill>
                <a:latin typeface="Arial"/>
                <a:ea typeface="Arial"/>
                <a:cs typeface="Arial"/>
              </a:defRPr>
            </a:lvl3pPr>
            <a:lvl4pPr>
              <a:defRPr sz="1725" b="0">
                <a:solidFill>
                  <a:srgbClr val="6F7F62"/>
                </a:solidFill>
                <a:latin typeface="Arial"/>
                <a:ea typeface="Arial"/>
                <a:cs typeface="Arial"/>
              </a:defRPr>
            </a:lvl4pPr>
            <a:lvl5pPr>
              <a:defRPr sz="1725" b="0">
                <a:solidFill>
                  <a:srgbClr val="6F7F62"/>
                </a:solidFill>
                <a:latin typeface="Arial"/>
                <a:ea typeface="Arial"/>
                <a:cs typeface="Arial"/>
              </a:defRPr>
            </a:lvl5pPr>
            <a:lvl6pPr>
              <a:defRPr sz="1725" b="0">
                <a:solidFill>
                  <a:srgbClr val="6F7F62"/>
                </a:solidFill>
                <a:latin typeface="Arial"/>
                <a:ea typeface="Arial"/>
                <a:cs typeface="Arial"/>
              </a:defRPr>
            </a:lvl6pPr>
            <a:lvl7pPr>
              <a:defRPr sz="1725" b="0">
                <a:solidFill>
                  <a:srgbClr val="6F7F62"/>
                </a:solidFill>
                <a:latin typeface="Arial"/>
                <a:ea typeface="Arial"/>
                <a:cs typeface="Arial"/>
              </a:defRPr>
            </a:lvl7pPr>
            <a:lvl8pPr>
              <a:defRPr sz="1725" b="0">
                <a:solidFill>
                  <a:srgbClr val="6F7F62"/>
                </a:solidFill>
                <a:latin typeface="Arial"/>
                <a:ea typeface="Arial"/>
                <a:cs typeface="Arial"/>
              </a:defRPr>
            </a:lvl8pPr>
            <a:lvl9pPr>
              <a:defRPr sz="1725" b="0">
                <a:solidFill>
                  <a:srgbClr val="6F7F62"/>
                </a:solidFill>
                <a:latin typeface="Arial"/>
                <a:ea typeface="Arial"/>
                <a:cs typeface="Arial"/>
              </a:defRPr>
            </a:lvl9pPr>
          </a:lstStyle>
          <a:p xmlns:a="http://schemas.openxmlformats.org/drawingml/2006/main">
            <a:pPr>
              <a:defRPr sz="1725" b="0">
                <a:solidFill>
                  <a:srgbClr val="6F7F62"/>
                </a:solidFill>
                <a:latin typeface="Arial"/>
                <a:ea typeface="Arial"/>
                <a:cs typeface="Arial"/>
              </a:defRPr>
            </a:pPr>
            <a:r>
              <a:rPr sz="1725" b="0">
                <a:solidFill>
                  <a:srgbClr val="6F7F62"/>
                </a:solidFill>
                <a:latin typeface="Arial"/>
                <a:ea typeface="Arial"/>
                <a:cs typeface="Arial"/>
              </a:rPr>
              <a:t>A small synthetic evaluation, not an accuracy guarantee on arbitrary programs.</a:t>
            </a:r>
          </a:p>
        </p:txBody>
      </p:sp>
    </p:spTree>
    <p:extLst>
      <p:ext uri="{BB962C8B-B14F-4D97-AF65-F5344CB8AC3E}">
        <p14:creationId xmlns:p14="http://schemas.microsoft.com/office/powerpoint/2010/main" val="421295128"/>
      </p:ext>
    </p:extLst>
  </p:cSld>
</p:sld>
</file>

<file path=ppt/slides/slide1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39A9530-173F-4437-9B89-D804E20DA9EE}"/>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Challenge Hall / game progress with feedback</a:t>
            </a:r>
          </a:p>
        </p:txBody>
      </p:sp>
      <p:sp>
        <p:nvSpPr>
          <p:cNvPr id="3" name="">
            <a:extLst xmlns:a="http://schemas.openxmlformats.org/drawingml/2006/main">
              <a:ext uri="{FF2B5EF4-FFF2-40B4-BE49-F238E27FC236}">
                <a16:creationId xmlns:a16="http://schemas.microsoft.com/office/drawing/2014/main" id="{188D7A81-1284-46D9-80F4-1BEA46FBD19E}"/>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8A1E8858-468D-4FCA-A4A4-24FEED42548A}"/>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E5BC55C7-C186-4A26-BD99-32F01FE4A434}"/>
              </a:ext>
            </a:extLst>
          </p:cNvPr>
          <p:cNvSpPr>
            <a:spLocks xmlns:a="http://schemas.openxmlformats.org/drawingml/2006/main" noGrp="1"/>
          </p:cNvSpPr>
          <p:nvPr/>
        </p:nvSpPr>
        <p:spPr>
          <a:xfrm xmlns:a="http://schemas.openxmlformats.org/drawingml/2006/main">
            <a:off x="609600" y="147637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Seven knowledge challenges earn seven passport stamps.</a:t>
            </a:r>
          </a:p>
        </p:txBody>
      </p:sp>
      <p:sp>
        <p:nvSpPr>
          <p:cNvPr id="6" name="">
            <a:extLst xmlns:a="http://schemas.openxmlformats.org/drawingml/2006/main">
              <a:ext uri="{FF2B5EF4-FFF2-40B4-BE49-F238E27FC236}">
                <a16:creationId xmlns:a16="http://schemas.microsoft.com/office/drawing/2014/main" id="{1608E811-3DF6-4F7A-852C-C622372630A9}"/>
              </a:ext>
            </a:extLst>
          </p:cNvPr>
          <p:cNvSpPr>
            <a:spLocks xmlns:a="http://schemas.openxmlformats.org/drawingml/2006/main" noGrp="1"/>
          </p:cNvSpPr>
          <p:nvPr/>
        </p:nvSpPr>
        <p:spPr>
          <a:xfrm xmlns:a="http://schemas.openxmlformats.org/drawingml/2006/main">
            <a:off x="609600" y="2762250"/>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Wrong answers explain the idea; a correct answer cannot earn duplicate stamps.</a:t>
            </a:r>
          </a:p>
        </p:txBody>
      </p:sp>
      <p:sp>
        <p:nvSpPr>
          <p:cNvPr id="7" name="">
            <a:extLst xmlns:a="http://schemas.openxmlformats.org/drawingml/2006/main">
              <a:ext uri="{FF2B5EF4-FFF2-40B4-BE49-F238E27FC236}">
                <a16:creationId xmlns:a16="http://schemas.microsoft.com/office/drawing/2014/main" id="{67F1668E-A24E-4B4F-A9E8-AE5515BD52CB}"/>
              </a:ext>
            </a:extLst>
          </p:cNvPr>
          <p:cNvSpPr>
            <a:spLocks xmlns:a="http://schemas.openxmlformats.org/drawingml/2006/main" noGrp="1"/>
          </p:cNvSpPr>
          <p:nvPr/>
        </p:nvSpPr>
        <p:spPr>
          <a:xfrm xmlns:a="http://schemas.openxmlformats.org/drawingml/2006/main">
            <a:off x="609600" y="404812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44638"/>
                </a:solidFill>
                <a:latin typeface="Arial"/>
                <a:ea typeface="Arial"/>
                <a:cs typeface="Arial"/>
              </a:defRPr>
            </a:defPPr>
            <a:lvl1pPr>
              <a:defRPr sz="1800" b="0">
                <a:solidFill>
                  <a:srgbClr val="344638"/>
                </a:solidFill>
                <a:latin typeface="Arial"/>
                <a:ea typeface="Arial"/>
                <a:cs typeface="Arial"/>
              </a:defRPr>
            </a:lvl1pPr>
            <a:lvl2pPr>
              <a:defRPr sz="1800" b="0">
                <a:solidFill>
                  <a:srgbClr val="344638"/>
                </a:solidFill>
                <a:latin typeface="Arial"/>
                <a:ea typeface="Arial"/>
                <a:cs typeface="Arial"/>
              </a:defRPr>
            </a:lvl2pPr>
            <a:lvl3pPr>
              <a:defRPr sz="1800" b="0">
                <a:solidFill>
                  <a:srgbClr val="344638"/>
                </a:solidFill>
                <a:latin typeface="Arial"/>
                <a:ea typeface="Arial"/>
                <a:cs typeface="Arial"/>
              </a:defRPr>
            </a:lvl3pPr>
            <a:lvl4pPr>
              <a:defRPr sz="1800" b="0">
                <a:solidFill>
                  <a:srgbClr val="344638"/>
                </a:solidFill>
                <a:latin typeface="Arial"/>
                <a:ea typeface="Arial"/>
                <a:cs typeface="Arial"/>
              </a:defRPr>
            </a:lvl4pPr>
            <a:lvl5pPr>
              <a:defRPr sz="1800" b="0">
                <a:solidFill>
                  <a:srgbClr val="344638"/>
                </a:solidFill>
                <a:latin typeface="Arial"/>
                <a:ea typeface="Arial"/>
                <a:cs typeface="Arial"/>
              </a:defRPr>
            </a:lvl5pPr>
            <a:lvl6pPr>
              <a:defRPr sz="1800" b="0">
                <a:solidFill>
                  <a:srgbClr val="344638"/>
                </a:solidFill>
                <a:latin typeface="Arial"/>
                <a:ea typeface="Arial"/>
                <a:cs typeface="Arial"/>
              </a:defRPr>
            </a:lvl6pPr>
            <a:lvl7pPr>
              <a:defRPr sz="1800" b="0">
                <a:solidFill>
                  <a:srgbClr val="344638"/>
                </a:solidFill>
                <a:latin typeface="Arial"/>
                <a:ea typeface="Arial"/>
                <a:cs typeface="Arial"/>
              </a:defRPr>
            </a:lvl7pPr>
            <a:lvl8pPr>
              <a:defRPr sz="1800" b="0">
                <a:solidFill>
                  <a:srgbClr val="344638"/>
                </a:solidFill>
                <a:latin typeface="Arial"/>
                <a:ea typeface="Arial"/>
                <a:cs typeface="Arial"/>
              </a:defRPr>
            </a:lvl8pPr>
            <a:lvl9pPr>
              <a:defRPr sz="1800" b="0">
                <a:solidFill>
                  <a:srgbClr val="344638"/>
                </a:solidFill>
                <a:latin typeface="Arial"/>
                <a:ea typeface="Arial"/>
                <a:cs typeface="Arial"/>
              </a:defRPr>
            </a:lvl9pPr>
          </a:lstStyle>
          <a:p xmlns:a="http://schemas.openxmlformats.org/drawingml/2006/main">
            <a:pPr>
              <a:defRPr sz="1800" b="0">
                <a:solidFill>
                  <a:srgbClr val="344638"/>
                </a:solidFill>
                <a:latin typeface="Arial"/>
                <a:ea typeface="Arial"/>
                <a:cs typeface="Arial"/>
              </a:defRPr>
            </a:pPr>
            <a:r>
              <a:rPr sz="1800" b="0">
                <a:solidFill>
                  <a:srgbClr val="344638"/>
                </a:solidFill>
                <a:latin typeface="Arial"/>
                <a:ea typeface="Arial"/>
                <a:cs typeface="Arial"/>
              </a:rPr>
              <a:t>Every shop stays open. Progress supports exploration rather than restricting it.</a:t>
            </a:r>
          </a:p>
        </p:txBody>
      </p:sp>
      <p:pic>
        <p:nvPicPr>
          <p:cNvPr id="8" name="">
            <a:extLst xmlns:a="http://schemas.openxmlformats.org/drawingml/2006/main">
              <a:ext uri="{FF2B5EF4-FFF2-40B4-BE49-F238E27FC236}">
                <a16:creationId xmlns:a16="http://schemas.microsoft.com/office/drawing/2014/main" id="{082545FA-ACB9-46BD-A4FB-E7ED395D0F4E}"/>
              </a:ext>
            </a:extLst>
          </p:cNvPr>
          <p:cNvPicPr>
            <a:picLocks xmlns:a="http://schemas.openxmlformats.org/drawingml/2006/main" noChangeAspect="1"/>
          </p:cNvPicPr>
          <p:nvPr/>
        </p:nvPicPr>
        <p:blipFill>
          <a:blip xmlns:r="http://schemas.openxmlformats.org/officeDocument/2006/relationships" xmlns:a="http://schemas.openxmlformats.org/drawingml/2006/main" r:embed="R803e32de4cde4fac"/>
          <a:stretch xmlns:a="http://schemas.openxmlformats.org/drawingml/2006/main"/>
        </p:blipFill>
        <p:spPr>
          <a:xfrm xmlns:a="http://schemas.openxmlformats.org/drawingml/2006/main">
            <a:off x="4953000" y="2702732"/>
            <a:ext cx="6619875" cy="1976411"/>
          </a:xfrm>
          <a:prstGeom xmlns:a="http://schemas.openxmlformats.org/drawingml/2006/main" prst="rect">
            <a:avLst/>
          </a:prstGeom>
        </p:spPr>
      </p:pic>
    </p:spTree>
    <p:extLst>
      <p:ext uri="{BB962C8B-B14F-4D97-AF65-F5344CB8AC3E}">
        <p14:creationId xmlns:p14="http://schemas.microsoft.com/office/powerpoint/2010/main" val="1475121532"/>
      </p:ext>
    </p:extLst>
  </p:cSld>
</p:sld>
</file>

<file path=ppt/slides/slide1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6519031-8C2F-482D-BB81-FAB35646C028}"/>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Validation coverage</a:t>
            </a:r>
          </a:p>
        </p:txBody>
      </p:sp>
      <p:sp>
        <p:nvSpPr>
          <p:cNvPr id="3" name="">
            <a:extLst xmlns:a="http://schemas.openxmlformats.org/drawingml/2006/main">
              <a:ext uri="{FF2B5EF4-FFF2-40B4-BE49-F238E27FC236}">
                <a16:creationId xmlns:a16="http://schemas.microsoft.com/office/drawing/2014/main" id="{5C397B50-56F7-44AC-89BD-1C5D3E5C2ED1}"/>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E9E0B12E-5B51-4B42-B51D-DBE4AACC94F3}"/>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96C0F413-8AD1-4C89-A871-22B8C20180E8}"/>
              </a:ext>
            </a:extLst>
          </p:cNvPr>
          <p:cNvGraphicFramePr/>
          <p:nvPr/>
        </p:nvGraphicFramePr>
        <p:xfrm>
          <a:off xmlns:a="http://schemas.openxmlformats.org/drawingml/2006/main" x="628650" y="1381125"/>
          <a:ext xmlns:a="http://schemas.openxmlformats.org/drawingml/2006/main" cx="10858500" cy="4000500"/>
        </p:xfrm>
        <a:graphic xmlns:a="http://schemas.openxmlformats.org/drawingml/2006/main">
          <a:graphicData uri="http://schemas.openxmlformats.org/drawingml/2006/table">
            <a:tbl>
              <a:tblPr/>
              <a:tblGrid>
                <a:gridCol w="3714750"/>
                <a:gridCol w="7143750"/>
              </a:tblGrid>
              <a:tr h="666750">
                <a:tc>
                  <a:txBody>
                    <a:bodyPr lIns="95250" tIns="95250" rIns="95250" bIns="95250"/>
                    <a:lstStyle/>
                    <a:p>
                      <a:r>
                        <a:rPr sz="1575" b="1">
                          <a:solidFill>
                            <a:srgbClr val="344638"/>
                          </a:solidFill>
                          <a:latin typeface="Arial"/>
                          <a:ea typeface="Arial"/>
                          <a:cs typeface="Arial"/>
                        </a:rPr>
                        <a:t>Check</a:t>
                      </a:r>
                    </a:p>
                  </a:txBody>
                  <a:tcPr marL="91440" marR="91440" marT="45720" marB="45720">
                    <a:solidFill>
                      <a:srgbClr val="DCE6CE"/>
                    </a:solidFill>
                  </a:tcPr>
                </a:tc>
                <a:tc>
                  <a:txBody>
                    <a:bodyPr lIns="95250" tIns="95250" rIns="95250" bIns="95250"/>
                    <a:lstStyle/>
                    <a:p>
                      <a:r>
                        <a:rPr sz="1575" b="1">
                          <a:solidFill>
                            <a:srgbClr val="344638"/>
                          </a:solidFill>
                          <a:latin typeface="Arial"/>
                          <a:ea typeface="Arial"/>
                          <a:cs typeface="Arial"/>
                        </a:rPr>
                        <a:t>Evidence</a:t>
                      </a:r>
                    </a:p>
                  </a:txBody>
                  <a:tcPr marL="91440" marR="91440" marT="45720" marB="45720">
                    <a:solidFill>
                      <a:srgbClr val="DCE6CE"/>
                    </a:solidFill>
                  </a:tcPr>
                </a:tc>
              </a:tr>
              <a:tr h="666750">
                <a:tc>
                  <a:txBody>
                    <a:bodyPr lIns="95250" tIns="95250" rIns="95250" bIns="95250"/>
                    <a:lstStyle/>
                    <a:p>
                      <a:r>
                        <a:rPr sz="1575" b="0">
                          <a:solidFill>
                            <a:srgbClr val="6F7F62"/>
                          </a:solidFill>
                          <a:latin typeface="Arial"/>
                          <a:ea typeface="Arial"/>
                          <a:cs typeface="Arial"/>
                        </a:rPr>
                        <a:t>Automated test cases</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126 passing cases across two test files</a:t>
                      </a:r>
                    </a:p>
                  </a:txBody>
                  <a:tcPr marL="91440" marR="91440" marT="45720" marB="45720">
                    <a:solidFill>
                      <a:srgbClr val="EEF1E4"/>
                    </a:solidFill>
                  </a:tcPr>
                </a:tc>
              </a:tr>
              <a:tr h="666750">
                <a:tc>
                  <a:txBody>
                    <a:bodyPr lIns="95250" tIns="95250" rIns="95250" bIns="95250"/>
                    <a:lstStyle/>
                    <a:p>
                      <a:r>
                        <a:rPr sz="1575" b="0">
                          <a:solidFill>
                            <a:srgbClr val="6F7F62"/>
                          </a:solidFill>
                          <a:latin typeface="Arial"/>
                          <a:ea typeface="Arial"/>
                          <a:cs typeface="Arial"/>
                        </a:rPr>
                        <a:t>Independent arithmetic oracle</a:t>
                      </a:r>
                    </a:p>
                  </a:txBody>
                  <a:tcPr marL="91440" marR="91440" marT="45720" marB="45720">
                    <a:solidFill>
                      <a:srgbClr val="F6F3EA"/>
                    </a:solidFill>
                  </a:tcPr>
                </a:tc>
                <a:tc>
                  <a:txBody>
                    <a:bodyPr lIns="95250" tIns="95250" rIns="95250" bIns="95250"/>
                    <a:lstStyle/>
                    <a:p>
                      <a:r>
                        <a:rPr sz="1575" b="0">
                          <a:solidFill>
                            <a:srgbClr val="6F7F62"/>
                          </a:solidFill>
                          <a:latin typeface="Arial"/>
                          <a:ea typeface="Arial"/>
                          <a:cs typeface="Arial"/>
                        </a:rPr>
                        <a:t>60 expressions × 32 pass subsets = 1,920 cases</a:t>
                      </a:r>
                    </a:p>
                  </a:txBody>
                  <a:tcPr marL="91440" marR="91440" marT="45720" marB="45720">
                    <a:solidFill>
                      <a:srgbClr val="F6F3EA"/>
                    </a:solidFill>
                  </a:tcPr>
                </a:tc>
              </a:tr>
              <a:tr h="666750">
                <a:tc>
                  <a:txBody>
                    <a:bodyPr lIns="95250" tIns="95250" rIns="95250" bIns="95250"/>
                    <a:lstStyle/>
                    <a:p>
                      <a:r>
                        <a:rPr sz="1575" b="0">
                          <a:solidFill>
                            <a:srgbClr val="6F7F62"/>
                          </a:solidFill>
                          <a:latin typeface="Arial"/>
                          <a:ea typeface="Arial"/>
                          <a:cs typeface="Arial"/>
                        </a:rPr>
                        <a:t>Isolated-pass observations</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60 synthetic programs × 5 passes = 300 checks</a:t>
                      </a:r>
                    </a:p>
                  </a:txBody>
                  <a:tcPr marL="91440" marR="91440" marT="45720" marB="45720">
                    <a:solidFill>
                      <a:srgbClr val="EEF1E4"/>
                    </a:solidFill>
                  </a:tcPr>
                </a:tc>
              </a:tr>
              <a:tr h="666750">
                <a:tc>
                  <a:txBody>
                    <a:bodyPr lIns="95250" tIns="95250" rIns="95250" bIns="95250"/>
                    <a:lstStyle/>
                    <a:p>
                      <a:r>
                        <a:rPr sz="1575" b="0">
                          <a:solidFill>
                            <a:srgbClr val="6F7F62"/>
                          </a:solidFill>
                          <a:latin typeface="Arial"/>
                          <a:ea typeface="Arial"/>
                          <a:cs typeface="Arial"/>
                        </a:rPr>
                        <a:t>Numeric / error regressions</a:t>
                      </a:r>
                    </a:p>
                  </a:txBody>
                  <a:tcPr marL="91440" marR="91440" marT="45720" marB="45720">
                    <a:solidFill>
                      <a:srgbClr val="F6F3EA"/>
                    </a:solidFill>
                  </a:tcPr>
                </a:tc>
                <a:tc>
                  <a:txBody>
                    <a:bodyPr lIns="95250" tIns="95250" rIns="95250" bIns="95250"/>
                    <a:lstStyle/>
                    <a:p>
                      <a:r>
                        <a:rPr sz="1575" b="0">
                          <a:solidFill>
                            <a:srgbClr val="6F7F62"/>
                          </a:solidFill>
                          <a:latin typeface="Arial"/>
                          <a:ea typeface="Arial"/>
                          <a:cs typeface="Arial"/>
                        </a:rPr>
                        <a:t>Signed zero, scientific notation, NaN, traps</a:t>
                      </a:r>
                    </a:p>
                  </a:txBody>
                  <a:tcPr marL="91440" marR="91440" marT="45720" marB="45720">
                    <a:solidFill>
                      <a:srgbClr val="F6F3EA"/>
                    </a:solidFill>
                  </a:tcPr>
                </a:tc>
              </a:tr>
              <a:tr h="666750">
                <a:tc>
                  <a:txBody>
                    <a:bodyPr lIns="95250" tIns="95250" rIns="95250" bIns="95250"/>
                    <a:lstStyle/>
                    <a:p>
                      <a:r>
                        <a:rPr sz="1575" b="0">
                          <a:solidFill>
                            <a:srgbClr val="6F7F62"/>
                          </a:solidFill>
                          <a:latin typeface="Arial"/>
                          <a:ea typeface="Arial"/>
                          <a:cs typeface="Arial"/>
                        </a:rPr>
                        <a:t>Browser journeys</a:t>
                      </a:r>
                    </a:p>
                  </a:txBody>
                  <a:tcPr marL="91440" marR="91440" marT="45720" marB="45720">
                    <a:solidFill>
                      <a:srgbClr val="EEF1E4"/>
                    </a:solidFill>
                  </a:tcPr>
                </a:tc>
                <a:tc>
                  <a:txBody>
                    <a:bodyPr lIns="95250" tIns="95250" rIns="95250" bIns="95250"/>
                    <a:lstStyle/>
                    <a:p>
                      <a:r>
                        <a:rPr sz="1575" b="0">
                          <a:solidFill>
                            <a:srgbClr val="6F7F62"/>
                          </a:solidFill>
                          <a:latin typeface="Arial"/>
                          <a:ea typeface="Arial"/>
                          <a:cs typeface="Arial"/>
                        </a:rPr>
                        <a:t>8 shops, replay, logs, export, stamps, mobile, offline</a:t>
                      </a:r>
                    </a:p>
                  </a:txBody>
                  <a:tcPr marL="91440" marR="91440" marT="45720" marB="45720">
                    <a:solidFill>
                      <a:srgbClr val="EEF1E4"/>
                    </a:solidFill>
                  </a:tcPr>
                </a:tc>
              </a:tr>
            </a:tbl>
          </a:graphicData>
        </a:graphic>
      </p:graphicFrame>
      <p:sp>
        <p:nvSpPr>
          <p:cNvPr id="6" name="">
            <a:extLst xmlns:a="http://schemas.openxmlformats.org/drawingml/2006/main">
              <a:ext uri="{FF2B5EF4-FFF2-40B4-BE49-F238E27FC236}">
                <a16:creationId xmlns:a16="http://schemas.microsoft.com/office/drawing/2014/main" id="{636F6F81-3460-4323-9DA0-202267DC8124}"/>
              </a:ext>
            </a:extLst>
          </p:cNvPr>
          <p:cNvSpPr>
            <a:spLocks xmlns:a="http://schemas.openxmlformats.org/drawingml/2006/main" noGrp="1"/>
          </p:cNvSpPr>
          <p:nvPr/>
        </p:nvSpPr>
        <p:spPr>
          <a:xfrm xmlns:a="http://schemas.openxmlformats.org/drawingml/2006/main">
            <a:off x="6477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F7F62"/>
                </a:solidFill>
                <a:latin typeface="Arial"/>
                <a:ea typeface="Arial"/>
                <a:cs typeface="Arial"/>
              </a:defRPr>
            </a:defPPr>
            <a:lvl1pPr>
              <a:defRPr sz="1725" b="0">
                <a:solidFill>
                  <a:srgbClr val="6F7F62"/>
                </a:solidFill>
                <a:latin typeface="Arial"/>
                <a:ea typeface="Arial"/>
                <a:cs typeface="Arial"/>
              </a:defRPr>
            </a:lvl1pPr>
            <a:lvl2pPr>
              <a:defRPr sz="1725" b="0">
                <a:solidFill>
                  <a:srgbClr val="6F7F62"/>
                </a:solidFill>
                <a:latin typeface="Arial"/>
                <a:ea typeface="Arial"/>
                <a:cs typeface="Arial"/>
              </a:defRPr>
            </a:lvl2pPr>
            <a:lvl3pPr>
              <a:defRPr sz="1725" b="0">
                <a:solidFill>
                  <a:srgbClr val="6F7F62"/>
                </a:solidFill>
                <a:latin typeface="Arial"/>
                <a:ea typeface="Arial"/>
                <a:cs typeface="Arial"/>
              </a:defRPr>
            </a:lvl3pPr>
            <a:lvl4pPr>
              <a:defRPr sz="1725" b="0">
                <a:solidFill>
                  <a:srgbClr val="6F7F62"/>
                </a:solidFill>
                <a:latin typeface="Arial"/>
                <a:ea typeface="Arial"/>
                <a:cs typeface="Arial"/>
              </a:defRPr>
            </a:lvl4pPr>
            <a:lvl5pPr>
              <a:defRPr sz="1725" b="0">
                <a:solidFill>
                  <a:srgbClr val="6F7F62"/>
                </a:solidFill>
                <a:latin typeface="Arial"/>
                <a:ea typeface="Arial"/>
                <a:cs typeface="Arial"/>
              </a:defRPr>
            </a:lvl5pPr>
            <a:lvl6pPr>
              <a:defRPr sz="1725" b="0">
                <a:solidFill>
                  <a:srgbClr val="6F7F62"/>
                </a:solidFill>
                <a:latin typeface="Arial"/>
                <a:ea typeface="Arial"/>
                <a:cs typeface="Arial"/>
              </a:defRPr>
            </a:lvl6pPr>
            <a:lvl7pPr>
              <a:defRPr sz="1725" b="0">
                <a:solidFill>
                  <a:srgbClr val="6F7F62"/>
                </a:solidFill>
                <a:latin typeface="Arial"/>
                <a:ea typeface="Arial"/>
                <a:cs typeface="Arial"/>
              </a:defRPr>
            </a:lvl7pPr>
            <a:lvl8pPr>
              <a:defRPr sz="1725" b="0">
                <a:solidFill>
                  <a:srgbClr val="6F7F62"/>
                </a:solidFill>
                <a:latin typeface="Arial"/>
                <a:ea typeface="Arial"/>
                <a:cs typeface="Arial"/>
              </a:defRPr>
            </a:lvl8pPr>
            <a:lvl9pPr>
              <a:defRPr sz="1725" b="0">
                <a:solidFill>
                  <a:srgbClr val="6F7F62"/>
                </a:solidFill>
                <a:latin typeface="Arial"/>
                <a:ea typeface="Arial"/>
                <a:cs typeface="Arial"/>
              </a:defRPr>
            </a:lvl9pPr>
          </a:lstStyle>
          <a:p xmlns:a="http://schemas.openxmlformats.org/drawingml/2006/main">
            <a:pPr>
              <a:defRPr sz="1725" b="0">
                <a:solidFill>
                  <a:srgbClr val="6F7F62"/>
                </a:solidFill>
                <a:latin typeface="Arial"/>
                <a:ea typeface="Arial"/>
                <a:cs typeface="Arial"/>
              </a:defRPr>
            </a:pPr>
            <a:r>
              <a:rPr sz="1725" b="0">
                <a:solidFill>
                  <a:srgbClr val="6F7F62"/>
                </a:solidFill>
                <a:latin typeface="Arial"/>
                <a:ea typeface="Arial"/>
                <a:cs typeface="Arial"/>
              </a:rPr>
              <a:t>Tested behavior is reported explicitly; universal correctness is not claimed.</a:t>
            </a:r>
          </a:p>
        </p:txBody>
      </p:sp>
    </p:spTree>
    <p:extLst>
      <p:ext uri="{BB962C8B-B14F-4D97-AF65-F5344CB8AC3E}">
        <p14:creationId xmlns:p14="http://schemas.microsoft.com/office/powerpoint/2010/main" val="636444885"/>
      </p:ext>
    </p:extLst>
  </p:cSld>
</p:sld>
</file>

<file path=ppt/slides/slide1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37FAB72-A515-47A2-A92E-A0C26785FBA9}"/>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The proposed contribution</a:t>
            </a:r>
          </a:p>
        </p:txBody>
      </p:sp>
      <p:sp>
        <p:nvSpPr>
          <p:cNvPr id="3" name="">
            <a:extLst xmlns:a="http://schemas.openxmlformats.org/drawingml/2006/main">
              <a:ext uri="{FF2B5EF4-FFF2-40B4-BE49-F238E27FC236}">
                <a16:creationId xmlns:a16="http://schemas.microsoft.com/office/drawing/2014/main" id="{61032797-1D75-43B8-8779-D763AAC0F0C2}"/>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E559B84D-7164-445A-8F73-767CD173A14E}"/>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9ADDC2C1-7A9B-4048-A81A-7FD49B9EF3C7}"/>
              </a:ext>
            </a:extLst>
          </p:cNvPr>
          <p:cNvSpPr>
            <a:spLocks xmlns:a="http://schemas.openxmlformats.org/drawingml/2006/main" noGrp="1"/>
          </p:cNvSpPr>
          <p:nvPr/>
        </p:nvSpPr>
        <p:spPr>
          <a:xfrm xmlns:a="http://schemas.openxmlformats.org/drawingml/2006/main">
            <a:off x="628650" y="1381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a:solidFill>
                  <a:srgbClr val="344638"/>
                </a:solidFill>
                <a:latin typeface="Georgia"/>
                <a:ea typeface="Georgia"/>
                <a:cs typeface="Georgia"/>
              </a:defRPr>
            </a:defPPr>
            <a:lvl1pPr>
              <a:defRPr sz="3225" b="0">
                <a:solidFill>
                  <a:srgbClr val="344638"/>
                </a:solidFill>
                <a:latin typeface="Georgia"/>
                <a:ea typeface="Georgia"/>
                <a:cs typeface="Georgia"/>
              </a:defRPr>
            </a:lvl1pPr>
            <a:lvl2pPr>
              <a:defRPr sz="3225" b="0">
                <a:solidFill>
                  <a:srgbClr val="344638"/>
                </a:solidFill>
                <a:latin typeface="Georgia"/>
                <a:ea typeface="Georgia"/>
                <a:cs typeface="Georgia"/>
              </a:defRPr>
            </a:lvl2pPr>
            <a:lvl3pPr>
              <a:defRPr sz="3225" b="0">
                <a:solidFill>
                  <a:srgbClr val="344638"/>
                </a:solidFill>
                <a:latin typeface="Georgia"/>
                <a:ea typeface="Georgia"/>
                <a:cs typeface="Georgia"/>
              </a:defRPr>
            </a:lvl3pPr>
            <a:lvl4pPr>
              <a:defRPr sz="3225" b="0">
                <a:solidFill>
                  <a:srgbClr val="344638"/>
                </a:solidFill>
                <a:latin typeface="Georgia"/>
                <a:ea typeface="Georgia"/>
                <a:cs typeface="Georgia"/>
              </a:defRPr>
            </a:lvl4pPr>
            <a:lvl5pPr>
              <a:defRPr sz="3225" b="0">
                <a:solidFill>
                  <a:srgbClr val="344638"/>
                </a:solidFill>
                <a:latin typeface="Georgia"/>
                <a:ea typeface="Georgia"/>
                <a:cs typeface="Georgia"/>
              </a:defRPr>
            </a:lvl5pPr>
            <a:lvl6pPr>
              <a:defRPr sz="3225" b="0">
                <a:solidFill>
                  <a:srgbClr val="344638"/>
                </a:solidFill>
                <a:latin typeface="Georgia"/>
                <a:ea typeface="Georgia"/>
                <a:cs typeface="Georgia"/>
              </a:defRPr>
            </a:lvl6pPr>
            <a:lvl7pPr>
              <a:defRPr sz="3225" b="0">
                <a:solidFill>
                  <a:srgbClr val="344638"/>
                </a:solidFill>
                <a:latin typeface="Georgia"/>
                <a:ea typeface="Georgia"/>
                <a:cs typeface="Georgia"/>
              </a:defRPr>
            </a:lvl7pPr>
            <a:lvl8pPr>
              <a:defRPr sz="3225" b="0">
                <a:solidFill>
                  <a:srgbClr val="344638"/>
                </a:solidFill>
                <a:latin typeface="Georgia"/>
                <a:ea typeface="Georgia"/>
                <a:cs typeface="Georgia"/>
              </a:defRPr>
            </a:lvl8pPr>
            <a:lvl9pPr>
              <a:defRPr sz="3225" b="0">
                <a:solidFill>
                  <a:srgbClr val="344638"/>
                </a:solidFill>
                <a:latin typeface="Georgia"/>
                <a:ea typeface="Georgia"/>
                <a:cs typeface="Georgia"/>
              </a:defRPr>
            </a:lvl9pPr>
          </a:lstStyle>
          <a:p xmlns:a="http://schemas.openxmlformats.org/drawingml/2006/main">
            <a:pPr>
              <a:defRPr sz="3225" b="0">
                <a:solidFill>
                  <a:srgbClr val="344638"/>
                </a:solidFill>
                <a:latin typeface="Georgia"/>
                <a:ea typeface="Georgia"/>
                <a:cs typeface="Georgia"/>
              </a:defRPr>
            </a:pPr>
            <a:r>
              <a:rPr sz="3225" b="0">
                <a:solidFill>
                  <a:srgbClr val="344638"/>
                </a:solidFill>
                <a:latin typeface="Georgia"/>
                <a:ea typeface="Georgia"/>
                <a:cs typeface="Georgia"/>
              </a:rPr>
              <a:t>A spatial, evidence-checked learning loop</a:t>
            </a:r>
          </a:p>
        </p:txBody>
      </p:sp>
      <p:sp>
        <p:nvSpPr>
          <p:cNvPr id="6" name="">
            <a:extLst xmlns:a="http://schemas.openxmlformats.org/drawingml/2006/main">
              <a:ext uri="{FF2B5EF4-FFF2-40B4-BE49-F238E27FC236}">
                <a16:creationId xmlns:a16="http://schemas.microsoft.com/office/drawing/2014/main" id="{E4B2BB0B-39FA-4E0D-A061-3C66DA62288C}"/>
              </a:ext>
            </a:extLst>
          </p:cNvPr>
          <p:cNvSpPr>
            <a:spLocks xmlns:a="http://schemas.openxmlformats.org/drawingml/2006/main" noGrp="1"/>
          </p:cNvSpPr>
          <p:nvPr/>
        </p:nvSpPr>
        <p:spPr>
          <a:xfrm xmlns:a="http://schemas.openxmlformats.org/drawingml/2006/main">
            <a:off x="666750" y="26670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44638"/>
                </a:solidFill>
                <a:latin typeface="Arial"/>
                <a:ea typeface="Arial"/>
                <a:cs typeface="Arial"/>
              </a:defRPr>
            </a:defPPr>
            <a:lvl1pPr>
              <a:defRPr sz="2100" b="0">
                <a:solidFill>
                  <a:srgbClr val="344638"/>
                </a:solidFill>
                <a:latin typeface="Arial"/>
                <a:ea typeface="Arial"/>
                <a:cs typeface="Arial"/>
              </a:defRPr>
            </a:lvl1pPr>
            <a:lvl2pPr>
              <a:defRPr sz="2100" b="0">
                <a:solidFill>
                  <a:srgbClr val="344638"/>
                </a:solidFill>
                <a:latin typeface="Arial"/>
                <a:ea typeface="Arial"/>
                <a:cs typeface="Arial"/>
              </a:defRPr>
            </a:lvl2pPr>
            <a:lvl3pPr>
              <a:defRPr sz="2100" b="0">
                <a:solidFill>
                  <a:srgbClr val="344638"/>
                </a:solidFill>
                <a:latin typeface="Arial"/>
                <a:ea typeface="Arial"/>
                <a:cs typeface="Arial"/>
              </a:defRPr>
            </a:lvl3pPr>
            <a:lvl4pPr>
              <a:defRPr sz="2100" b="0">
                <a:solidFill>
                  <a:srgbClr val="344638"/>
                </a:solidFill>
                <a:latin typeface="Arial"/>
                <a:ea typeface="Arial"/>
                <a:cs typeface="Arial"/>
              </a:defRPr>
            </a:lvl4pPr>
            <a:lvl5pPr>
              <a:defRPr sz="2100" b="0">
                <a:solidFill>
                  <a:srgbClr val="344638"/>
                </a:solidFill>
                <a:latin typeface="Arial"/>
                <a:ea typeface="Arial"/>
                <a:cs typeface="Arial"/>
              </a:defRPr>
            </a:lvl5pPr>
            <a:lvl6pPr>
              <a:defRPr sz="2100" b="0">
                <a:solidFill>
                  <a:srgbClr val="344638"/>
                </a:solidFill>
                <a:latin typeface="Arial"/>
                <a:ea typeface="Arial"/>
                <a:cs typeface="Arial"/>
              </a:defRPr>
            </a:lvl6pPr>
            <a:lvl7pPr>
              <a:defRPr sz="2100" b="0">
                <a:solidFill>
                  <a:srgbClr val="344638"/>
                </a:solidFill>
                <a:latin typeface="Arial"/>
                <a:ea typeface="Arial"/>
                <a:cs typeface="Arial"/>
              </a:defRPr>
            </a:lvl7pPr>
            <a:lvl8pPr>
              <a:defRPr sz="2100" b="0">
                <a:solidFill>
                  <a:srgbClr val="344638"/>
                </a:solidFill>
                <a:latin typeface="Arial"/>
                <a:ea typeface="Arial"/>
                <a:cs typeface="Arial"/>
              </a:defRPr>
            </a:lvl8pPr>
            <a:lvl9pPr>
              <a:defRPr sz="2100" b="0">
                <a:solidFill>
                  <a:srgbClr val="344638"/>
                </a:solidFill>
                <a:latin typeface="Arial"/>
                <a:ea typeface="Arial"/>
                <a:cs typeface="Arial"/>
              </a:defRPr>
            </a:lvl9pPr>
          </a:lstStyle>
          <a:p xmlns:a="http://schemas.openxmlformats.org/drawingml/2006/main">
            <a:pPr>
              <a:defRPr sz="2100" b="0">
                <a:solidFill>
                  <a:srgbClr val="344638"/>
                </a:solidFill>
                <a:latin typeface="Arial"/>
                <a:ea typeface="Arial"/>
                <a:cs typeface="Arial"/>
              </a:defRPr>
            </a:pPr>
            <a:r>
              <a:rPr sz="2100" b="0">
                <a:solidFill>
                  <a:srgbClr val="344638"/>
                </a:solidFill>
                <a:latin typeface="Arial"/>
                <a:ea typeface="Arial"/>
                <a:cs typeface="Arial"/>
              </a:rPr>
              <a:t>A program becomes a parcel with an artifact at each shop.</a:t>
            </a:r>
          </a:p>
        </p:txBody>
      </p:sp>
      <p:sp>
        <p:nvSpPr>
          <p:cNvPr id="7" name="">
            <a:extLst xmlns:a="http://schemas.openxmlformats.org/drawingml/2006/main">
              <a:ext uri="{FF2B5EF4-FFF2-40B4-BE49-F238E27FC236}">
                <a16:creationId xmlns:a16="http://schemas.microsoft.com/office/drawing/2014/main" id="{E410DB05-E1D0-488C-BC63-4388D21FD38A}"/>
              </a:ext>
            </a:extLst>
          </p:cNvPr>
          <p:cNvSpPr>
            <a:spLocks xmlns:a="http://schemas.openxmlformats.org/drawingml/2006/main" noGrp="1"/>
          </p:cNvSpPr>
          <p:nvPr/>
        </p:nvSpPr>
        <p:spPr>
          <a:xfrm xmlns:a="http://schemas.openxmlformats.org/drawingml/2006/main">
            <a:off x="666750" y="37147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44638"/>
                </a:solidFill>
                <a:latin typeface="Arial"/>
                <a:ea typeface="Arial"/>
                <a:cs typeface="Arial"/>
              </a:defRPr>
            </a:defPPr>
            <a:lvl1pPr>
              <a:defRPr sz="2100" b="0">
                <a:solidFill>
                  <a:srgbClr val="344638"/>
                </a:solidFill>
                <a:latin typeface="Arial"/>
                <a:ea typeface="Arial"/>
                <a:cs typeface="Arial"/>
              </a:defRPr>
            </a:lvl1pPr>
            <a:lvl2pPr>
              <a:defRPr sz="2100" b="0">
                <a:solidFill>
                  <a:srgbClr val="344638"/>
                </a:solidFill>
                <a:latin typeface="Arial"/>
                <a:ea typeface="Arial"/>
                <a:cs typeface="Arial"/>
              </a:defRPr>
            </a:lvl2pPr>
            <a:lvl3pPr>
              <a:defRPr sz="2100" b="0">
                <a:solidFill>
                  <a:srgbClr val="344638"/>
                </a:solidFill>
                <a:latin typeface="Arial"/>
                <a:ea typeface="Arial"/>
                <a:cs typeface="Arial"/>
              </a:defRPr>
            </a:lvl3pPr>
            <a:lvl4pPr>
              <a:defRPr sz="2100" b="0">
                <a:solidFill>
                  <a:srgbClr val="344638"/>
                </a:solidFill>
                <a:latin typeface="Arial"/>
                <a:ea typeface="Arial"/>
                <a:cs typeface="Arial"/>
              </a:defRPr>
            </a:lvl4pPr>
            <a:lvl5pPr>
              <a:defRPr sz="2100" b="0">
                <a:solidFill>
                  <a:srgbClr val="344638"/>
                </a:solidFill>
                <a:latin typeface="Arial"/>
                <a:ea typeface="Arial"/>
                <a:cs typeface="Arial"/>
              </a:defRPr>
            </a:lvl5pPr>
            <a:lvl6pPr>
              <a:defRPr sz="2100" b="0">
                <a:solidFill>
                  <a:srgbClr val="344638"/>
                </a:solidFill>
                <a:latin typeface="Arial"/>
                <a:ea typeface="Arial"/>
                <a:cs typeface="Arial"/>
              </a:defRPr>
            </a:lvl6pPr>
            <a:lvl7pPr>
              <a:defRPr sz="2100" b="0">
                <a:solidFill>
                  <a:srgbClr val="344638"/>
                </a:solidFill>
                <a:latin typeface="Arial"/>
                <a:ea typeface="Arial"/>
                <a:cs typeface="Arial"/>
              </a:defRPr>
            </a:lvl7pPr>
            <a:lvl8pPr>
              <a:defRPr sz="2100" b="0">
                <a:solidFill>
                  <a:srgbClr val="344638"/>
                </a:solidFill>
                <a:latin typeface="Arial"/>
                <a:ea typeface="Arial"/>
                <a:cs typeface="Arial"/>
              </a:defRPr>
            </a:lvl8pPr>
            <a:lvl9pPr>
              <a:defRPr sz="2100" b="0">
                <a:solidFill>
                  <a:srgbClr val="344638"/>
                </a:solidFill>
                <a:latin typeface="Arial"/>
                <a:ea typeface="Arial"/>
                <a:cs typeface="Arial"/>
              </a:defRPr>
            </a:lvl9pPr>
          </a:lstStyle>
          <a:p xmlns:a="http://schemas.openxmlformats.org/drawingml/2006/main">
            <a:pPr>
              <a:defRPr sz="2100" b="0">
                <a:solidFill>
                  <a:srgbClr val="344638"/>
                </a:solidFill>
                <a:latin typeface="Arial"/>
                <a:ea typeface="Arial"/>
                <a:cs typeface="Arial"/>
              </a:defRPr>
            </a:pPr>
            <a:r>
              <a:rPr sz="2100" b="0">
                <a:solidFill>
                  <a:srgbClr val="344638"/>
                </a:solidFill>
                <a:latin typeface="Arial"/>
                <a:ea typeface="Arial"/>
                <a:cs typeface="Arial"/>
              </a:rPr>
              <a:t>Optimization experiments expose both behavior and pass interactions.</a:t>
            </a:r>
          </a:p>
        </p:txBody>
      </p:sp>
      <p:sp>
        <p:nvSpPr>
          <p:cNvPr id="8" name="">
            <a:extLst xmlns:a="http://schemas.openxmlformats.org/drawingml/2006/main">
              <a:ext uri="{FF2B5EF4-FFF2-40B4-BE49-F238E27FC236}">
                <a16:creationId xmlns:a16="http://schemas.microsoft.com/office/drawing/2014/main" id="{ADAA9DB1-5F5B-43C0-98F0-BD803037220C}"/>
              </a:ext>
            </a:extLst>
          </p:cNvPr>
          <p:cNvSpPr>
            <a:spLocks xmlns:a="http://schemas.openxmlformats.org/drawingml/2006/main" noGrp="1"/>
          </p:cNvSpPr>
          <p:nvPr/>
        </p:nvSpPr>
        <p:spPr>
          <a:xfrm xmlns:a="http://schemas.openxmlformats.org/drawingml/2006/main">
            <a:off x="666750" y="47625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44638"/>
                </a:solidFill>
                <a:latin typeface="Arial"/>
                <a:ea typeface="Arial"/>
                <a:cs typeface="Arial"/>
              </a:defRPr>
            </a:defPPr>
            <a:lvl1pPr>
              <a:defRPr sz="2100" b="0">
                <a:solidFill>
                  <a:srgbClr val="344638"/>
                </a:solidFill>
                <a:latin typeface="Arial"/>
                <a:ea typeface="Arial"/>
                <a:cs typeface="Arial"/>
              </a:defRPr>
            </a:lvl1pPr>
            <a:lvl2pPr>
              <a:defRPr sz="2100" b="0">
                <a:solidFill>
                  <a:srgbClr val="344638"/>
                </a:solidFill>
                <a:latin typeface="Arial"/>
                <a:ea typeface="Arial"/>
                <a:cs typeface="Arial"/>
              </a:defRPr>
            </a:lvl2pPr>
            <a:lvl3pPr>
              <a:defRPr sz="2100" b="0">
                <a:solidFill>
                  <a:srgbClr val="344638"/>
                </a:solidFill>
                <a:latin typeface="Arial"/>
                <a:ea typeface="Arial"/>
                <a:cs typeface="Arial"/>
              </a:defRPr>
            </a:lvl3pPr>
            <a:lvl4pPr>
              <a:defRPr sz="2100" b="0">
                <a:solidFill>
                  <a:srgbClr val="344638"/>
                </a:solidFill>
                <a:latin typeface="Arial"/>
                <a:ea typeface="Arial"/>
                <a:cs typeface="Arial"/>
              </a:defRPr>
            </a:lvl4pPr>
            <a:lvl5pPr>
              <a:defRPr sz="2100" b="0">
                <a:solidFill>
                  <a:srgbClr val="344638"/>
                </a:solidFill>
                <a:latin typeface="Arial"/>
                <a:ea typeface="Arial"/>
                <a:cs typeface="Arial"/>
              </a:defRPr>
            </a:lvl5pPr>
            <a:lvl6pPr>
              <a:defRPr sz="2100" b="0">
                <a:solidFill>
                  <a:srgbClr val="344638"/>
                </a:solidFill>
                <a:latin typeface="Arial"/>
                <a:ea typeface="Arial"/>
                <a:cs typeface="Arial"/>
              </a:defRPr>
            </a:lvl6pPr>
            <a:lvl7pPr>
              <a:defRPr sz="2100" b="0">
                <a:solidFill>
                  <a:srgbClr val="344638"/>
                </a:solidFill>
                <a:latin typeface="Arial"/>
                <a:ea typeface="Arial"/>
                <a:cs typeface="Arial"/>
              </a:defRPr>
            </a:lvl7pPr>
            <a:lvl8pPr>
              <a:defRPr sz="2100" b="0">
                <a:solidFill>
                  <a:srgbClr val="344638"/>
                </a:solidFill>
                <a:latin typeface="Arial"/>
                <a:ea typeface="Arial"/>
                <a:cs typeface="Arial"/>
              </a:defRPr>
            </a:lvl8pPr>
            <a:lvl9pPr>
              <a:defRPr sz="2100" b="0">
                <a:solidFill>
                  <a:srgbClr val="344638"/>
                </a:solidFill>
                <a:latin typeface="Arial"/>
                <a:ea typeface="Arial"/>
                <a:cs typeface="Arial"/>
              </a:defRPr>
            </a:lvl9pPr>
          </a:lstStyle>
          <a:p xmlns:a="http://schemas.openxmlformats.org/drawingml/2006/main">
            <a:pPr>
              <a:defRPr sz="2100" b="0">
                <a:solidFill>
                  <a:srgbClr val="344638"/>
                </a:solidFill>
                <a:latin typeface="Arial"/>
                <a:ea typeface="Arial"/>
                <a:cs typeface="Arial"/>
              </a:defRPr>
            </a:pPr>
            <a:r>
              <a:rPr sz="2100" b="0">
                <a:solidFill>
                  <a:srgbClr val="344638"/>
                </a:solidFill>
                <a:latin typeface="Arial"/>
                <a:ea typeface="Arial"/>
                <a:cs typeface="Arial"/>
              </a:rPr>
              <a:t>An inspectable ML suggestion is checked against compiler evidence, so disagreement becomes a teaching moment.</a:t>
            </a:r>
          </a:p>
        </p:txBody>
      </p:sp>
    </p:spTree>
    <p:extLst>
      <p:ext uri="{BB962C8B-B14F-4D97-AF65-F5344CB8AC3E}">
        <p14:creationId xmlns:p14="http://schemas.microsoft.com/office/powerpoint/2010/main" val="687215285"/>
      </p:ext>
    </p:extLst>
  </p:cSld>
</p:sld>
</file>

<file path=ppt/slides/slide18.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57CA7A9-AA1B-46E2-AB99-8D041F2D7870}"/>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Project boundaries and research next steps</a:t>
            </a:r>
          </a:p>
        </p:txBody>
      </p:sp>
      <p:sp>
        <p:nvSpPr>
          <p:cNvPr id="3" name="">
            <a:extLst xmlns:a="http://schemas.openxmlformats.org/drawingml/2006/main">
              <a:ext uri="{FF2B5EF4-FFF2-40B4-BE49-F238E27FC236}">
                <a16:creationId xmlns:a16="http://schemas.microsoft.com/office/drawing/2014/main" id="{8B89311B-8485-46D8-B4C0-40685443DEC0}"/>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03532F8B-25A2-4A63-8F9F-18DCBB7F3469}"/>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03A79DBB-D4A7-496F-8274-51854E3A7C5C}"/>
              </a:ext>
            </a:extLst>
          </p:cNvPr>
          <p:cNvSpPr>
            <a:spLocks xmlns:a="http://schemas.openxmlformats.org/drawingml/2006/main" noGrp="1"/>
          </p:cNvSpPr>
          <p:nvPr/>
        </p:nvSpPr>
        <p:spPr>
          <a:xfrm xmlns:a="http://schemas.openxmlformats.org/drawingml/2006/main">
            <a:off x="647700" y="14287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44638"/>
                </a:solidFill>
                <a:latin typeface="Georgia"/>
                <a:ea typeface="Georgia"/>
                <a:cs typeface="Georgia"/>
              </a:defRPr>
            </a:defPPr>
            <a:lvl1pPr>
              <a:defRPr sz="2400" b="0">
                <a:solidFill>
                  <a:srgbClr val="344638"/>
                </a:solidFill>
                <a:latin typeface="Georgia"/>
                <a:ea typeface="Georgia"/>
                <a:cs typeface="Georgia"/>
              </a:defRPr>
            </a:lvl1pPr>
            <a:lvl2pPr>
              <a:defRPr sz="2400" b="0">
                <a:solidFill>
                  <a:srgbClr val="344638"/>
                </a:solidFill>
                <a:latin typeface="Georgia"/>
                <a:ea typeface="Georgia"/>
                <a:cs typeface="Georgia"/>
              </a:defRPr>
            </a:lvl2pPr>
            <a:lvl3pPr>
              <a:defRPr sz="2400" b="0">
                <a:solidFill>
                  <a:srgbClr val="344638"/>
                </a:solidFill>
                <a:latin typeface="Georgia"/>
                <a:ea typeface="Georgia"/>
                <a:cs typeface="Georgia"/>
              </a:defRPr>
            </a:lvl3pPr>
            <a:lvl4pPr>
              <a:defRPr sz="2400" b="0">
                <a:solidFill>
                  <a:srgbClr val="344638"/>
                </a:solidFill>
                <a:latin typeface="Georgia"/>
                <a:ea typeface="Georgia"/>
                <a:cs typeface="Georgia"/>
              </a:defRPr>
            </a:lvl4pPr>
            <a:lvl5pPr>
              <a:defRPr sz="2400" b="0">
                <a:solidFill>
                  <a:srgbClr val="344638"/>
                </a:solidFill>
                <a:latin typeface="Georgia"/>
                <a:ea typeface="Georgia"/>
                <a:cs typeface="Georgia"/>
              </a:defRPr>
            </a:lvl5pPr>
            <a:lvl6pPr>
              <a:defRPr sz="2400" b="0">
                <a:solidFill>
                  <a:srgbClr val="344638"/>
                </a:solidFill>
                <a:latin typeface="Georgia"/>
                <a:ea typeface="Georgia"/>
                <a:cs typeface="Georgia"/>
              </a:defRPr>
            </a:lvl6pPr>
            <a:lvl7pPr>
              <a:defRPr sz="2400" b="0">
                <a:solidFill>
                  <a:srgbClr val="344638"/>
                </a:solidFill>
                <a:latin typeface="Georgia"/>
                <a:ea typeface="Georgia"/>
                <a:cs typeface="Georgia"/>
              </a:defRPr>
            </a:lvl7pPr>
            <a:lvl8pPr>
              <a:defRPr sz="2400" b="0">
                <a:solidFill>
                  <a:srgbClr val="344638"/>
                </a:solidFill>
                <a:latin typeface="Georgia"/>
                <a:ea typeface="Georgia"/>
                <a:cs typeface="Georgia"/>
              </a:defRPr>
            </a:lvl8pPr>
            <a:lvl9pPr>
              <a:defRPr sz="2400" b="0">
                <a:solidFill>
                  <a:srgbClr val="344638"/>
                </a:solidFill>
                <a:latin typeface="Georgia"/>
                <a:ea typeface="Georgia"/>
                <a:cs typeface="Georgia"/>
              </a:defRPr>
            </a:lvl9pPr>
          </a:lstStyle>
          <a:p xmlns:a="http://schemas.openxmlformats.org/drawingml/2006/main">
            <a:pPr>
              <a:defRPr sz="2400" b="0">
                <a:solidFill>
                  <a:srgbClr val="344638"/>
                </a:solidFill>
                <a:latin typeface="Georgia"/>
                <a:ea typeface="Georgia"/>
                <a:cs typeface="Georgia"/>
              </a:defRPr>
            </a:pPr>
            <a:r>
              <a:rPr sz="2400" b="0">
                <a:solidFill>
                  <a:srgbClr val="344638"/>
                </a:solidFill>
                <a:latin typeface="Georgia"/>
                <a:ea typeface="Georgia"/>
                <a:cs typeface="Georgia"/>
              </a:rPr>
              <a:t>Implemented</a:t>
            </a:r>
          </a:p>
        </p:txBody>
      </p:sp>
      <p:sp>
        <p:nvSpPr>
          <p:cNvPr id="6" name="">
            <a:extLst xmlns:a="http://schemas.openxmlformats.org/drawingml/2006/main">
              <a:ext uri="{FF2B5EF4-FFF2-40B4-BE49-F238E27FC236}">
                <a16:creationId xmlns:a16="http://schemas.microsoft.com/office/drawing/2014/main" id="{675DD036-88F1-497D-9BF0-5463037396F3}"/>
              </a:ext>
            </a:extLst>
          </p:cNvPr>
          <p:cNvSpPr>
            <a:spLocks xmlns:a="http://schemas.openxmlformats.org/drawingml/2006/main" noGrp="1"/>
          </p:cNvSpPr>
          <p:nvPr/>
        </p:nvSpPr>
        <p:spPr>
          <a:xfrm xmlns:a="http://schemas.openxmlformats.org/drawingml/2006/main">
            <a:off x="647700" y="2190750"/>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F7F62"/>
                </a:solidFill>
                <a:latin typeface="Arial"/>
                <a:ea typeface="Arial"/>
                <a:cs typeface="Arial"/>
              </a:defRPr>
            </a:defPPr>
            <a:lvl1pPr>
              <a:defRPr sz="2100" b="0">
                <a:solidFill>
                  <a:srgbClr val="6F7F62"/>
                </a:solidFill>
                <a:latin typeface="Arial"/>
                <a:ea typeface="Arial"/>
                <a:cs typeface="Arial"/>
              </a:defRPr>
            </a:lvl1pPr>
            <a:lvl2pPr>
              <a:defRPr sz="2100" b="0">
                <a:solidFill>
                  <a:srgbClr val="6F7F62"/>
                </a:solidFill>
                <a:latin typeface="Arial"/>
                <a:ea typeface="Arial"/>
                <a:cs typeface="Arial"/>
              </a:defRPr>
            </a:lvl2pPr>
            <a:lvl3pPr>
              <a:defRPr sz="2100" b="0">
                <a:solidFill>
                  <a:srgbClr val="6F7F62"/>
                </a:solidFill>
                <a:latin typeface="Arial"/>
                <a:ea typeface="Arial"/>
                <a:cs typeface="Arial"/>
              </a:defRPr>
            </a:lvl3pPr>
            <a:lvl4pPr>
              <a:defRPr sz="2100" b="0">
                <a:solidFill>
                  <a:srgbClr val="6F7F62"/>
                </a:solidFill>
                <a:latin typeface="Arial"/>
                <a:ea typeface="Arial"/>
                <a:cs typeface="Arial"/>
              </a:defRPr>
            </a:lvl4pPr>
            <a:lvl5pPr>
              <a:defRPr sz="2100" b="0">
                <a:solidFill>
                  <a:srgbClr val="6F7F62"/>
                </a:solidFill>
                <a:latin typeface="Arial"/>
                <a:ea typeface="Arial"/>
                <a:cs typeface="Arial"/>
              </a:defRPr>
            </a:lvl5pPr>
            <a:lvl6pPr>
              <a:defRPr sz="2100" b="0">
                <a:solidFill>
                  <a:srgbClr val="6F7F62"/>
                </a:solidFill>
                <a:latin typeface="Arial"/>
                <a:ea typeface="Arial"/>
                <a:cs typeface="Arial"/>
              </a:defRPr>
            </a:lvl6pPr>
            <a:lvl7pPr>
              <a:defRPr sz="2100" b="0">
                <a:solidFill>
                  <a:srgbClr val="6F7F62"/>
                </a:solidFill>
                <a:latin typeface="Arial"/>
                <a:ea typeface="Arial"/>
                <a:cs typeface="Arial"/>
              </a:defRPr>
            </a:lvl7pPr>
            <a:lvl8pPr>
              <a:defRPr sz="2100" b="0">
                <a:solidFill>
                  <a:srgbClr val="6F7F62"/>
                </a:solidFill>
                <a:latin typeface="Arial"/>
                <a:ea typeface="Arial"/>
                <a:cs typeface="Arial"/>
              </a:defRPr>
            </a:lvl8pPr>
            <a:lvl9pPr>
              <a:defRPr sz="2100" b="0">
                <a:solidFill>
                  <a:srgbClr val="6F7F62"/>
                </a:solidFill>
                <a:latin typeface="Arial"/>
                <a:ea typeface="Arial"/>
                <a:cs typeface="Arial"/>
              </a:defRPr>
            </a:lvl9pPr>
          </a:lstStyle>
          <a:p xmlns:a="http://schemas.openxmlformats.org/drawingml/2006/main">
            <a:pPr>
              <a:defRPr sz="2100" b="0">
                <a:solidFill>
                  <a:srgbClr val="6F7F62"/>
                </a:solidFill>
                <a:latin typeface="Arial"/>
                <a:ea typeface="Arial"/>
                <a:cs typeface="Arial"/>
              </a:defRPr>
            </a:pPr>
            <a:r>
              <a:rPr sz="2100" b="0">
                <a:solidFill>
                  <a:srgbClr val="6F7F62"/>
                </a:solidFill>
                <a:latin typeface="Arial"/>
                <a:ea typeface="Arial"/>
                <a:cs typeface="Arial"/>
              </a:rPr>
              <a:t>Local compiler, inspectable artifacts, five-pass experiments, detailed traces, local ML, passport challenges and evidence export.</a:t>
            </a:r>
          </a:p>
        </p:txBody>
      </p:sp>
      <p:sp>
        <p:nvSpPr>
          <p:cNvPr id="7" name="">
            <a:extLst xmlns:a="http://schemas.openxmlformats.org/drawingml/2006/main">
              <a:ext uri="{FF2B5EF4-FFF2-40B4-BE49-F238E27FC236}">
                <a16:creationId xmlns:a16="http://schemas.microsoft.com/office/drawing/2014/main" id="{3CFDEEF2-30F0-47B2-ADD4-7591A9C2F69A}"/>
              </a:ext>
            </a:extLst>
          </p:cNvPr>
          <p:cNvSpPr>
            <a:spLocks xmlns:a="http://schemas.openxmlformats.org/drawingml/2006/main" noGrp="1"/>
          </p:cNvSpPr>
          <p:nvPr/>
        </p:nvSpPr>
        <p:spPr>
          <a:xfrm xmlns:a="http://schemas.openxmlformats.org/drawingml/2006/main">
            <a:off x="6619875" y="14287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44638"/>
                </a:solidFill>
                <a:latin typeface="Georgia"/>
                <a:ea typeface="Georgia"/>
                <a:cs typeface="Georgia"/>
              </a:defRPr>
            </a:defPPr>
            <a:lvl1pPr>
              <a:defRPr sz="2400" b="0">
                <a:solidFill>
                  <a:srgbClr val="344638"/>
                </a:solidFill>
                <a:latin typeface="Georgia"/>
                <a:ea typeface="Georgia"/>
                <a:cs typeface="Georgia"/>
              </a:defRPr>
            </a:lvl1pPr>
            <a:lvl2pPr>
              <a:defRPr sz="2400" b="0">
                <a:solidFill>
                  <a:srgbClr val="344638"/>
                </a:solidFill>
                <a:latin typeface="Georgia"/>
                <a:ea typeface="Georgia"/>
                <a:cs typeface="Georgia"/>
              </a:defRPr>
            </a:lvl2pPr>
            <a:lvl3pPr>
              <a:defRPr sz="2400" b="0">
                <a:solidFill>
                  <a:srgbClr val="344638"/>
                </a:solidFill>
                <a:latin typeface="Georgia"/>
                <a:ea typeface="Georgia"/>
                <a:cs typeface="Georgia"/>
              </a:defRPr>
            </a:lvl3pPr>
            <a:lvl4pPr>
              <a:defRPr sz="2400" b="0">
                <a:solidFill>
                  <a:srgbClr val="344638"/>
                </a:solidFill>
                <a:latin typeface="Georgia"/>
                <a:ea typeface="Georgia"/>
                <a:cs typeface="Georgia"/>
              </a:defRPr>
            </a:lvl4pPr>
            <a:lvl5pPr>
              <a:defRPr sz="2400" b="0">
                <a:solidFill>
                  <a:srgbClr val="344638"/>
                </a:solidFill>
                <a:latin typeface="Georgia"/>
                <a:ea typeface="Georgia"/>
                <a:cs typeface="Georgia"/>
              </a:defRPr>
            </a:lvl5pPr>
            <a:lvl6pPr>
              <a:defRPr sz="2400" b="0">
                <a:solidFill>
                  <a:srgbClr val="344638"/>
                </a:solidFill>
                <a:latin typeface="Georgia"/>
                <a:ea typeface="Georgia"/>
                <a:cs typeface="Georgia"/>
              </a:defRPr>
            </a:lvl6pPr>
            <a:lvl7pPr>
              <a:defRPr sz="2400" b="0">
                <a:solidFill>
                  <a:srgbClr val="344638"/>
                </a:solidFill>
                <a:latin typeface="Georgia"/>
                <a:ea typeface="Georgia"/>
                <a:cs typeface="Georgia"/>
              </a:defRPr>
            </a:lvl7pPr>
            <a:lvl8pPr>
              <a:defRPr sz="2400" b="0">
                <a:solidFill>
                  <a:srgbClr val="344638"/>
                </a:solidFill>
                <a:latin typeface="Georgia"/>
                <a:ea typeface="Georgia"/>
                <a:cs typeface="Georgia"/>
              </a:defRPr>
            </a:lvl8pPr>
            <a:lvl9pPr>
              <a:defRPr sz="2400" b="0">
                <a:solidFill>
                  <a:srgbClr val="344638"/>
                </a:solidFill>
                <a:latin typeface="Georgia"/>
                <a:ea typeface="Georgia"/>
                <a:cs typeface="Georgia"/>
              </a:defRPr>
            </a:lvl9pPr>
          </a:lstStyle>
          <a:p xmlns:a="http://schemas.openxmlformats.org/drawingml/2006/main">
            <a:pPr>
              <a:defRPr sz="2400" b="0">
                <a:solidFill>
                  <a:srgbClr val="344638"/>
                </a:solidFill>
                <a:latin typeface="Georgia"/>
                <a:ea typeface="Georgia"/>
                <a:cs typeface="Georgia"/>
              </a:defRPr>
            </a:pPr>
            <a:r>
              <a:rPr sz="2400" b="0">
                <a:solidFill>
                  <a:srgbClr val="344638"/>
                </a:solidFill>
                <a:latin typeface="Georgia"/>
                <a:ea typeface="Georgia"/>
                <a:cs typeface="Georgia"/>
              </a:rPr>
              <a:t>Still open</a:t>
            </a:r>
          </a:p>
        </p:txBody>
      </p:sp>
      <p:sp>
        <p:nvSpPr>
          <p:cNvPr id="8" name="">
            <a:extLst xmlns:a="http://schemas.openxmlformats.org/drawingml/2006/main">
              <a:ext uri="{FF2B5EF4-FFF2-40B4-BE49-F238E27FC236}">
                <a16:creationId xmlns:a16="http://schemas.microsoft.com/office/drawing/2014/main" id="{BCA54B8F-515A-4B45-9475-FCE47105822B}"/>
              </a:ext>
            </a:extLst>
          </p:cNvPr>
          <p:cNvSpPr>
            <a:spLocks xmlns:a="http://schemas.openxmlformats.org/drawingml/2006/main" noGrp="1"/>
          </p:cNvSpPr>
          <p:nvPr/>
        </p:nvSpPr>
        <p:spPr>
          <a:xfrm xmlns:a="http://schemas.openxmlformats.org/drawingml/2006/main">
            <a:off x="6619875" y="2190750"/>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F7F62"/>
                </a:solidFill>
                <a:latin typeface="Arial"/>
                <a:ea typeface="Arial"/>
                <a:cs typeface="Arial"/>
              </a:defRPr>
            </a:defPPr>
            <a:lvl1pPr>
              <a:defRPr sz="2100" b="0">
                <a:solidFill>
                  <a:srgbClr val="6F7F62"/>
                </a:solidFill>
                <a:latin typeface="Arial"/>
                <a:ea typeface="Arial"/>
                <a:cs typeface="Arial"/>
              </a:defRPr>
            </a:lvl1pPr>
            <a:lvl2pPr>
              <a:defRPr sz="2100" b="0">
                <a:solidFill>
                  <a:srgbClr val="6F7F62"/>
                </a:solidFill>
                <a:latin typeface="Arial"/>
                <a:ea typeface="Arial"/>
                <a:cs typeface="Arial"/>
              </a:defRPr>
            </a:lvl2pPr>
            <a:lvl3pPr>
              <a:defRPr sz="2100" b="0">
                <a:solidFill>
                  <a:srgbClr val="6F7F62"/>
                </a:solidFill>
                <a:latin typeface="Arial"/>
                <a:ea typeface="Arial"/>
                <a:cs typeface="Arial"/>
              </a:defRPr>
            </a:lvl3pPr>
            <a:lvl4pPr>
              <a:defRPr sz="2100" b="0">
                <a:solidFill>
                  <a:srgbClr val="6F7F62"/>
                </a:solidFill>
                <a:latin typeface="Arial"/>
                <a:ea typeface="Arial"/>
                <a:cs typeface="Arial"/>
              </a:defRPr>
            </a:lvl4pPr>
            <a:lvl5pPr>
              <a:defRPr sz="2100" b="0">
                <a:solidFill>
                  <a:srgbClr val="6F7F62"/>
                </a:solidFill>
                <a:latin typeface="Arial"/>
                <a:ea typeface="Arial"/>
                <a:cs typeface="Arial"/>
              </a:defRPr>
            </a:lvl5pPr>
            <a:lvl6pPr>
              <a:defRPr sz="2100" b="0">
                <a:solidFill>
                  <a:srgbClr val="6F7F62"/>
                </a:solidFill>
                <a:latin typeface="Arial"/>
                <a:ea typeface="Arial"/>
                <a:cs typeface="Arial"/>
              </a:defRPr>
            </a:lvl6pPr>
            <a:lvl7pPr>
              <a:defRPr sz="2100" b="0">
                <a:solidFill>
                  <a:srgbClr val="6F7F62"/>
                </a:solidFill>
                <a:latin typeface="Arial"/>
                <a:ea typeface="Arial"/>
                <a:cs typeface="Arial"/>
              </a:defRPr>
            </a:lvl7pPr>
            <a:lvl8pPr>
              <a:defRPr sz="2100" b="0">
                <a:solidFill>
                  <a:srgbClr val="6F7F62"/>
                </a:solidFill>
                <a:latin typeface="Arial"/>
                <a:ea typeface="Arial"/>
                <a:cs typeface="Arial"/>
              </a:defRPr>
            </a:lvl8pPr>
            <a:lvl9pPr>
              <a:defRPr sz="2100" b="0">
                <a:solidFill>
                  <a:srgbClr val="6F7F62"/>
                </a:solidFill>
                <a:latin typeface="Arial"/>
                <a:ea typeface="Arial"/>
                <a:cs typeface="Arial"/>
              </a:defRPr>
            </a:lvl9pPr>
          </a:lstStyle>
          <a:p xmlns:a="http://schemas.openxmlformats.org/drawingml/2006/main">
            <a:pPr>
              <a:defRPr sz="2100" b="0">
                <a:solidFill>
                  <a:srgbClr val="6F7F62"/>
                </a:solidFill>
                <a:latin typeface="Arial"/>
                <a:ea typeface="Arial"/>
                <a:cs typeface="Arial"/>
              </a:defRPr>
            </a:pPr>
            <a:r>
              <a:rPr sz="2100" b="0">
                <a:solidFill>
                  <a:srgbClr val="6F7F62"/>
                </a:solidFill>
                <a:latin typeface="Arial"/>
                <a:ea typeface="Arial"/>
                <a:cs typeface="Arial"/>
              </a:rPr>
              <a:t>Branching and loops; symbolic checking; stronger external ML evaluation; measured learner outcomes.</a:t>
            </a:r>
          </a:p>
        </p:txBody>
      </p:sp>
      <p:sp>
        <p:nvSpPr>
          <p:cNvPr id="9" name="">
            <a:extLst xmlns:a="http://schemas.openxmlformats.org/drawingml/2006/main">
              <a:ext uri="{FF2B5EF4-FFF2-40B4-BE49-F238E27FC236}">
                <a16:creationId xmlns:a16="http://schemas.microsoft.com/office/drawing/2014/main" id="{9744D634-C38F-4DB7-93F2-37C73A16FC79}"/>
              </a:ext>
            </a:extLst>
          </p:cNvPr>
          <p:cNvSpPr>
            <a:spLocks xmlns:a="http://schemas.openxmlformats.org/drawingml/2006/main" noGrp="1"/>
          </p:cNvSpPr>
          <p:nvPr/>
        </p:nvSpPr>
        <p:spPr>
          <a:xfrm xmlns:a="http://schemas.openxmlformats.org/drawingml/2006/main">
            <a:off x="647700" y="52863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F7F62"/>
                </a:solidFill>
                <a:latin typeface="Arial"/>
                <a:ea typeface="Arial"/>
                <a:cs typeface="Arial"/>
              </a:defRPr>
            </a:defPPr>
            <a:lvl1pPr>
              <a:defRPr sz="1800" b="0">
                <a:solidFill>
                  <a:srgbClr val="6F7F62"/>
                </a:solidFill>
                <a:latin typeface="Arial"/>
                <a:ea typeface="Arial"/>
                <a:cs typeface="Arial"/>
              </a:defRPr>
            </a:lvl1pPr>
            <a:lvl2pPr>
              <a:defRPr sz="1800" b="0">
                <a:solidFill>
                  <a:srgbClr val="6F7F62"/>
                </a:solidFill>
                <a:latin typeface="Arial"/>
                <a:ea typeface="Arial"/>
                <a:cs typeface="Arial"/>
              </a:defRPr>
            </a:lvl2pPr>
            <a:lvl3pPr>
              <a:defRPr sz="1800" b="0">
                <a:solidFill>
                  <a:srgbClr val="6F7F62"/>
                </a:solidFill>
                <a:latin typeface="Arial"/>
                <a:ea typeface="Arial"/>
                <a:cs typeface="Arial"/>
              </a:defRPr>
            </a:lvl3pPr>
            <a:lvl4pPr>
              <a:defRPr sz="1800" b="0">
                <a:solidFill>
                  <a:srgbClr val="6F7F62"/>
                </a:solidFill>
                <a:latin typeface="Arial"/>
                <a:ea typeface="Arial"/>
                <a:cs typeface="Arial"/>
              </a:defRPr>
            </a:lvl4pPr>
            <a:lvl5pPr>
              <a:defRPr sz="1800" b="0">
                <a:solidFill>
                  <a:srgbClr val="6F7F62"/>
                </a:solidFill>
                <a:latin typeface="Arial"/>
                <a:ea typeface="Arial"/>
                <a:cs typeface="Arial"/>
              </a:defRPr>
            </a:lvl5pPr>
            <a:lvl6pPr>
              <a:defRPr sz="1800" b="0">
                <a:solidFill>
                  <a:srgbClr val="6F7F62"/>
                </a:solidFill>
                <a:latin typeface="Arial"/>
                <a:ea typeface="Arial"/>
                <a:cs typeface="Arial"/>
              </a:defRPr>
            </a:lvl6pPr>
            <a:lvl7pPr>
              <a:defRPr sz="1800" b="0">
                <a:solidFill>
                  <a:srgbClr val="6F7F62"/>
                </a:solidFill>
                <a:latin typeface="Arial"/>
                <a:ea typeface="Arial"/>
                <a:cs typeface="Arial"/>
              </a:defRPr>
            </a:lvl7pPr>
            <a:lvl8pPr>
              <a:defRPr sz="1800" b="0">
                <a:solidFill>
                  <a:srgbClr val="6F7F62"/>
                </a:solidFill>
                <a:latin typeface="Arial"/>
                <a:ea typeface="Arial"/>
                <a:cs typeface="Arial"/>
              </a:defRPr>
            </a:lvl8pPr>
            <a:lvl9pPr>
              <a:defRPr sz="1800" b="0">
                <a:solidFill>
                  <a:srgbClr val="6F7F62"/>
                </a:solidFill>
                <a:latin typeface="Arial"/>
                <a:ea typeface="Arial"/>
                <a:cs typeface="Arial"/>
              </a:defRPr>
            </a:lvl9pPr>
          </a:lstStyle>
          <a:p xmlns:a="http://schemas.openxmlformats.org/drawingml/2006/main">
            <a:pPr>
              <a:defRPr sz="1800" b="0">
                <a:solidFill>
                  <a:srgbClr val="6F7F62"/>
                </a:solidFill>
                <a:latin typeface="Arial"/>
                <a:ea typeface="Arial"/>
                <a:cs typeface="Arial"/>
              </a:defRPr>
            </a:pPr>
            <a:r>
              <a:rPr sz="1800" b="0">
                <a:solidFill>
                  <a:srgbClr val="6F7F62"/>
                </a:solidFill>
                <a:latin typeface="Arial"/>
                <a:ea typeface="Arial"/>
                <a:cs typeface="Arial"/>
              </a:rPr>
              <a:t>The integrated workflow is a research direction. Novelty and publication require broader comparison and evaluation.</a:t>
            </a:r>
          </a:p>
        </p:txBody>
      </p:sp>
    </p:spTree>
    <p:extLst>
      <p:ext uri="{BB962C8B-B14F-4D97-AF65-F5344CB8AC3E}">
        <p14:creationId xmlns:p14="http://schemas.microsoft.com/office/powerpoint/2010/main" val="442586926"/>
      </p:ext>
    </p:extLst>
  </p:cSld>
</p:sld>
</file>

<file path=ppt/slides/slide19.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7F9F277-8FB7-4C4A-AD9F-CB1F157F8AC5}"/>
              </a:ext>
            </a:extLst>
          </p:cNvPr>
          <p:cNvSpPr>
            <a:spLocks xmlns:a="http://schemas.openxmlformats.org/drawingml/2006/main" noGrp="1"/>
          </p:cNvSpPr>
          <p:nvPr/>
        </p:nvSpPr>
        <p:spPr>
          <a:xfrm xmlns:a="http://schemas.openxmlformats.org/drawingml/2006/main">
            <a:off x="609600" y="400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344638"/>
                </a:solidFill>
                <a:latin typeface="Georgia"/>
                <a:ea typeface="Georgia"/>
                <a:cs typeface="Georgia"/>
              </a:defRPr>
            </a:defPPr>
            <a:lvl1pPr>
              <a:defRPr sz="3150" b="0">
                <a:solidFill>
                  <a:srgbClr val="344638"/>
                </a:solidFill>
                <a:latin typeface="Georgia"/>
                <a:ea typeface="Georgia"/>
                <a:cs typeface="Georgia"/>
              </a:defRPr>
            </a:lvl1pPr>
            <a:lvl2pPr>
              <a:defRPr sz="3150" b="0">
                <a:solidFill>
                  <a:srgbClr val="344638"/>
                </a:solidFill>
                <a:latin typeface="Georgia"/>
                <a:ea typeface="Georgia"/>
                <a:cs typeface="Georgia"/>
              </a:defRPr>
            </a:lvl2pPr>
            <a:lvl3pPr>
              <a:defRPr sz="3150" b="0">
                <a:solidFill>
                  <a:srgbClr val="344638"/>
                </a:solidFill>
                <a:latin typeface="Georgia"/>
                <a:ea typeface="Georgia"/>
                <a:cs typeface="Georgia"/>
              </a:defRPr>
            </a:lvl3pPr>
            <a:lvl4pPr>
              <a:defRPr sz="3150" b="0">
                <a:solidFill>
                  <a:srgbClr val="344638"/>
                </a:solidFill>
                <a:latin typeface="Georgia"/>
                <a:ea typeface="Georgia"/>
                <a:cs typeface="Georgia"/>
              </a:defRPr>
            </a:lvl4pPr>
            <a:lvl5pPr>
              <a:defRPr sz="3150" b="0">
                <a:solidFill>
                  <a:srgbClr val="344638"/>
                </a:solidFill>
                <a:latin typeface="Georgia"/>
                <a:ea typeface="Georgia"/>
                <a:cs typeface="Georgia"/>
              </a:defRPr>
            </a:lvl5pPr>
            <a:lvl6pPr>
              <a:defRPr sz="3150" b="0">
                <a:solidFill>
                  <a:srgbClr val="344638"/>
                </a:solidFill>
                <a:latin typeface="Georgia"/>
                <a:ea typeface="Georgia"/>
                <a:cs typeface="Georgia"/>
              </a:defRPr>
            </a:lvl6pPr>
            <a:lvl7pPr>
              <a:defRPr sz="3150" b="0">
                <a:solidFill>
                  <a:srgbClr val="344638"/>
                </a:solidFill>
                <a:latin typeface="Georgia"/>
                <a:ea typeface="Georgia"/>
                <a:cs typeface="Georgia"/>
              </a:defRPr>
            </a:lvl7pPr>
            <a:lvl8pPr>
              <a:defRPr sz="3150" b="0">
                <a:solidFill>
                  <a:srgbClr val="344638"/>
                </a:solidFill>
                <a:latin typeface="Georgia"/>
                <a:ea typeface="Georgia"/>
                <a:cs typeface="Georgia"/>
              </a:defRPr>
            </a:lvl8pPr>
            <a:lvl9pPr>
              <a:defRPr sz="3150" b="0">
                <a:solidFill>
                  <a:srgbClr val="344638"/>
                </a:solidFill>
                <a:latin typeface="Georgia"/>
                <a:ea typeface="Georgia"/>
                <a:cs typeface="Georgia"/>
              </a:defRPr>
            </a:lvl9pPr>
          </a:lstStyle>
          <a:p xmlns:a="http://schemas.openxmlformats.org/drawingml/2006/main">
            <a:pPr>
              <a:defRPr sz="3150" b="0">
                <a:solidFill>
                  <a:srgbClr val="344638"/>
                </a:solidFill>
                <a:latin typeface="Georgia"/>
                <a:ea typeface="Georgia"/>
                <a:cs typeface="Georgia"/>
              </a:defRPr>
            </a:pPr>
            <a:r>
              <a:rPr sz="3150" b="0">
                <a:solidFill>
                  <a:srgbClr val="344638"/>
                </a:solidFill>
                <a:latin typeface="Georgia"/>
                <a:ea typeface="Georgia"/>
                <a:cs typeface="Georgia"/>
              </a:rPr>
              <a:t>Demonstration route</a:t>
            </a:r>
          </a:p>
        </p:txBody>
      </p:sp>
      <p:sp>
        <p:nvSpPr>
          <p:cNvPr id="3" name="">
            <a:extLst xmlns:a="http://schemas.openxmlformats.org/drawingml/2006/main">
              <a:ext uri="{FF2B5EF4-FFF2-40B4-BE49-F238E27FC236}">
                <a16:creationId xmlns:a16="http://schemas.microsoft.com/office/drawing/2014/main" id="{4F6F1B37-9BE4-49E0-B130-5B5B6B62B764}"/>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
            <a:extLst xmlns:a="http://schemas.openxmlformats.org/drawingml/2006/main">
              <a:ext uri="{FF2B5EF4-FFF2-40B4-BE49-F238E27FC236}">
                <a16:creationId xmlns:a16="http://schemas.microsoft.com/office/drawing/2014/main" id="{87DCB532-F957-4CA7-A331-C693DAE94DA9}"/>
              </a:ext>
            </a:extLst>
          </p:cNvPr>
          <p:cNvSpPr>
            <a:spLocks xmlns:a="http://schemas.openxmlformats.org/drawingml/2006/main" noGrp="1"/>
          </p:cNvSpPr>
          <p:nvPr/>
        </p:nvSpPr>
        <p:spPr>
          <a:xfrm xmlns:a="http://schemas.openxmlformats.org/drawingml/2006/main">
            <a:off x="10953750" y="643890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F7F62"/>
                </a:solidFill>
                <a:latin typeface="Arial"/>
                <a:ea typeface="Arial"/>
                <a:cs typeface="Arial"/>
              </a:defRPr>
            </a:defPPr>
            <a:lvl1pPr>
              <a:defRPr sz="1050" b="0">
                <a:solidFill>
                  <a:srgbClr val="6F7F62"/>
                </a:solidFill>
                <a:latin typeface="Arial"/>
                <a:ea typeface="Arial"/>
                <a:cs typeface="Arial"/>
              </a:defRPr>
            </a:lvl1pPr>
            <a:lvl2pPr>
              <a:defRPr sz="1050" b="0">
                <a:solidFill>
                  <a:srgbClr val="6F7F62"/>
                </a:solidFill>
                <a:latin typeface="Arial"/>
                <a:ea typeface="Arial"/>
                <a:cs typeface="Arial"/>
              </a:defRPr>
            </a:lvl2pPr>
            <a:lvl3pPr>
              <a:defRPr sz="1050" b="0">
                <a:solidFill>
                  <a:srgbClr val="6F7F62"/>
                </a:solidFill>
                <a:latin typeface="Arial"/>
                <a:ea typeface="Arial"/>
                <a:cs typeface="Arial"/>
              </a:defRPr>
            </a:lvl3pPr>
            <a:lvl4pPr>
              <a:defRPr sz="1050" b="0">
                <a:solidFill>
                  <a:srgbClr val="6F7F62"/>
                </a:solidFill>
                <a:latin typeface="Arial"/>
                <a:ea typeface="Arial"/>
                <a:cs typeface="Arial"/>
              </a:defRPr>
            </a:lvl4pPr>
            <a:lvl5pPr>
              <a:defRPr sz="1050" b="0">
                <a:solidFill>
                  <a:srgbClr val="6F7F62"/>
                </a:solidFill>
                <a:latin typeface="Arial"/>
                <a:ea typeface="Arial"/>
                <a:cs typeface="Arial"/>
              </a:defRPr>
            </a:lvl5pPr>
            <a:lvl6pPr>
              <a:defRPr sz="1050" b="0">
                <a:solidFill>
                  <a:srgbClr val="6F7F62"/>
                </a:solidFill>
                <a:latin typeface="Arial"/>
                <a:ea typeface="Arial"/>
                <a:cs typeface="Arial"/>
              </a:defRPr>
            </a:lvl6pPr>
            <a:lvl7pPr>
              <a:defRPr sz="1050" b="0">
                <a:solidFill>
                  <a:srgbClr val="6F7F62"/>
                </a:solidFill>
                <a:latin typeface="Arial"/>
                <a:ea typeface="Arial"/>
                <a:cs typeface="Arial"/>
              </a:defRPr>
            </a:lvl7pPr>
            <a:lvl8pPr>
              <a:defRPr sz="1050" b="0">
                <a:solidFill>
                  <a:srgbClr val="6F7F62"/>
                </a:solidFill>
                <a:latin typeface="Arial"/>
                <a:ea typeface="Arial"/>
                <a:cs typeface="Arial"/>
              </a:defRPr>
            </a:lvl8pPr>
            <a:lvl9pPr>
              <a:defRPr sz="1050" b="0">
                <a:solidFill>
                  <a:srgbClr val="6F7F62"/>
                </a:solidFill>
                <a:latin typeface="Arial"/>
                <a:ea typeface="Arial"/>
                <a:cs typeface="Arial"/>
              </a:defRPr>
            </a:lvl9pPr>
          </a:lstStyle>
          <a:p xmlns:a="http://schemas.openxmlformats.org/drawingml/2006/main">
            <a:pPr>
              <a:defRPr sz="1050" b="0">
                <a:solidFill>
                  <a:srgbClr val="6F7F62"/>
                </a:solidFill>
                <a:latin typeface="Arial"/>
                <a:ea typeface="Arial"/>
                <a:cs typeface="Arial"/>
              </a:defRPr>
            </a:pPr>
            <a:r>
              <a:rPr sz="1050" b="0">
                <a:solidFill>
                  <a:srgbClr val="6F7F62"/>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8AA58BC0-6B69-44CB-B3A1-88F141579369}"/>
              </a:ext>
            </a:extLst>
          </p:cNvPr>
          <p:cNvSpPr>
            <a:spLocks xmlns:a="http://schemas.openxmlformats.org/drawingml/2006/main" noGrp="1"/>
          </p:cNvSpPr>
          <p:nvPr/>
        </p:nvSpPr>
        <p:spPr>
          <a:xfrm xmlns:a="http://schemas.openxmlformats.org/drawingml/2006/main">
            <a:off x="647700" y="1447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0">
                <a:solidFill>
                  <a:srgbClr val="344638"/>
                </a:solidFill>
                <a:latin typeface="Consolas"/>
                <a:ea typeface="Consolas"/>
                <a:cs typeface="Consolas"/>
              </a:defRPr>
            </a:defPPr>
            <a:lvl1pPr>
              <a:defRPr sz="3900" b="0">
                <a:solidFill>
                  <a:srgbClr val="344638"/>
                </a:solidFill>
                <a:latin typeface="Consolas"/>
                <a:ea typeface="Consolas"/>
                <a:cs typeface="Consolas"/>
              </a:defRPr>
            </a:lvl1pPr>
            <a:lvl2pPr>
              <a:defRPr sz="3900" b="0">
                <a:solidFill>
                  <a:srgbClr val="344638"/>
                </a:solidFill>
                <a:latin typeface="Consolas"/>
                <a:ea typeface="Consolas"/>
                <a:cs typeface="Consolas"/>
              </a:defRPr>
            </a:lvl2pPr>
            <a:lvl3pPr>
              <a:defRPr sz="3900" b="0">
                <a:solidFill>
                  <a:srgbClr val="344638"/>
                </a:solidFill>
                <a:latin typeface="Consolas"/>
                <a:ea typeface="Consolas"/>
                <a:cs typeface="Consolas"/>
              </a:defRPr>
            </a:lvl3pPr>
            <a:lvl4pPr>
              <a:defRPr sz="3900" b="0">
                <a:solidFill>
                  <a:srgbClr val="344638"/>
                </a:solidFill>
                <a:latin typeface="Consolas"/>
                <a:ea typeface="Consolas"/>
                <a:cs typeface="Consolas"/>
              </a:defRPr>
            </a:lvl4pPr>
            <a:lvl5pPr>
              <a:defRPr sz="3900" b="0">
                <a:solidFill>
                  <a:srgbClr val="344638"/>
                </a:solidFill>
                <a:latin typeface="Consolas"/>
                <a:ea typeface="Consolas"/>
                <a:cs typeface="Consolas"/>
              </a:defRPr>
            </a:lvl5pPr>
            <a:lvl6pPr>
              <a:defRPr sz="3900" b="0">
                <a:solidFill>
                  <a:srgbClr val="344638"/>
                </a:solidFill>
                <a:latin typeface="Consolas"/>
                <a:ea typeface="Consolas"/>
                <a:cs typeface="Consolas"/>
              </a:defRPr>
            </a:lvl6pPr>
            <a:lvl7pPr>
              <a:defRPr sz="3900" b="0">
                <a:solidFill>
                  <a:srgbClr val="344638"/>
                </a:solidFill>
                <a:latin typeface="Consolas"/>
                <a:ea typeface="Consolas"/>
                <a:cs typeface="Consolas"/>
              </a:defRPr>
            </a:lvl7pPr>
            <a:lvl8pPr>
              <a:defRPr sz="3900" b="0">
                <a:solidFill>
                  <a:srgbClr val="344638"/>
                </a:solidFill>
                <a:latin typeface="Consolas"/>
                <a:ea typeface="Consolas"/>
                <a:cs typeface="Consolas"/>
              </a:defRPr>
            </a:lvl8pPr>
            <a:lvl9pPr>
              <a:defRPr sz="3900" b="0">
                <a:solidFill>
                  <a:srgbClr val="344638"/>
                </a:solidFill>
                <a:latin typeface="Consolas"/>
                <a:ea typeface="Consolas"/>
                <a:cs typeface="Consolas"/>
              </a:defRPr>
            </a:lvl9pPr>
          </a:lstStyle>
          <a:p xmlns:a="http://schemas.openxmlformats.org/drawingml/2006/main">
            <a:pPr>
              <a:defRPr sz="3900" b="0">
                <a:solidFill>
                  <a:srgbClr val="344638"/>
                </a:solidFill>
                <a:latin typeface="Consolas"/>
                <a:ea typeface="Consolas"/>
                <a:cs typeface="Consolas"/>
              </a:defRPr>
            </a:pPr>
            <a:r>
              <a:rPr sz="3900" b="0">
                <a:solidFill>
                  <a:srgbClr val="344638"/>
                </a:solidFill>
                <a:latin typeface="Consolas"/>
                <a:ea typeface="Consolas"/>
                <a:cs typeface="Consolas"/>
              </a:rPr>
              <a:t>npm run dev</a:t>
            </a:r>
          </a:p>
        </p:txBody>
      </p:sp>
      <p:sp>
        <p:nvSpPr>
          <p:cNvPr id="6" name="">
            <a:extLst xmlns:a="http://schemas.openxmlformats.org/drawingml/2006/main">
              <a:ext uri="{FF2B5EF4-FFF2-40B4-BE49-F238E27FC236}">
                <a16:creationId xmlns:a16="http://schemas.microsoft.com/office/drawing/2014/main" id="{3B359509-6FC9-4559-9109-09DDD2CA71C3}"/>
              </a:ext>
            </a:extLst>
          </p:cNvPr>
          <p:cNvSpPr>
            <a:spLocks xmlns:a="http://schemas.openxmlformats.org/drawingml/2006/main" noGrp="1"/>
          </p:cNvSpPr>
          <p:nvPr/>
        </p:nvSpPr>
        <p:spPr>
          <a:xfrm xmlns:a="http://schemas.openxmlformats.org/drawingml/2006/main">
            <a:off x="685800" y="28956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44638"/>
                </a:solidFill>
                <a:latin typeface="Arial"/>
                <a:ea typeface="Arial"/>
                <a:cs typeface="Arial"/>
              </a:defRPr>
            </a:defPPr>
            <a:lvl1pPr>
              <a:defRPr sz="2100" b="0">
                <a:solidFill>
                  <a:srgbClr val="344638"/>
                </a:solidFill>
                <a:latin typeface="Arial"/>
                <a:ea typeface="Arial"/>
                <a:cs typeface="Arial"/>
              </a:defRPr>
            </a:lvl1pPr>
            <a:lvl2pPr>
              <a:defRPr sz="2100" b="0">
                <a:solidFill>
                  <a:srgbClr val="344638"/>
                </a:solidFill>
                <a:latin typeface="Arial"/>
                <a:ea typeface="Arial"/>
                <a:cs typeface="Arial"/>
              </a:defRPr>
            </a:lvl2pPr>
            <a:lvl3pPr>
              <a:defRPr sz="2100" b="0">
                <a:solidFill>
                  <a:srgbClr val="344638"/>
                </a:solidFill>
                <a:latin typeface="Arial"/>
                <a:ea typeface="Arial"/>
                <a:cs typeface="Arial"/>
              </a:defRPr>
            </a:lvl3pPr>
            <a:lvl4pPr>
              <a:defRPr sz="2100" b="0">
                <a:solidFill>
                  <a:srgbClr val="344638"/>
                </a:solidFill>
                <a:latin typeface="Arial"/>
                <a:ea typeface="Arial"/>
                <a:cs typeface="Arial"/>
              </a:defRPr>
            </a:lvl4pPr>
            <a:lvl5pPr>
              <a:defRPr sz="2100" b="0">
                <a:solidFill>
                  <a:srgbClr val="344638"/>
                </a:solidFill>
                <a:latin typeface="Arial"/>
                <a:ea typeface="Arial"/>
                <a:cs typeface="Arial"/>
              </a:defRPr>
            </a:lvl5pPr>
            <a:lvl6pPr>
              <a:defRPr sz="2100" b="0">
                <a:solidFill>
                  <a:srgbClr val="344638"/>
                </a:solidFill>
                <a:latin typeface="Arial"/>
                <a:ea typeface="Arial"/>
                <a:cs typeface="Arial"/>
              </a:defRPr>
            </a:lvl6pPr>
            <a:lvl7pPr>
              <a:defRPr sz="2100" b="0">
                <a:solidFill>
                  <a:srgbClr val="344638"/>
                </a:solidFill>
                <a:latin typeface="Arial"/>
                <a:ea typeface="Arial"/>
                <a:cs typeface="Arial"/>
              </a:defRPr>
            </a:lvl7pPr>
            <a:lvl8pPr>
              <a:defRPr sz="2100" b="0">
                <a:solidFill>
                  <a:srgbClr val="344638"/>
                </a:solidFill>
                <a:latin typeface="Arial"/>
                <a:ea typeface="Arial"/>
                <a:cs typeface="Arial"/>
              </a:defRPr>
            </a:lvl8pPr>
            <a:lvl9pPr>
              <a:defRPr sz="2100" b="0">
                <a:solidFill>
                  <a:srgbClr val="344638"/>
                </a:solidFill>
                <a:latin typeface="Arial"/>
                <a:ea typeface="Arial"/>
                <a:cs typeface="Arial"/>
              </a:defRPr>
            </a:lvl9pPr>
          </a:lstStyle>
          <a:p xmlns:a="http://schemas.openxmlformats.org/drawingml/2006/main">
            <a:pPr>
              <a:defRPr sz="2100" b="0">
                <a:solidFill>
                  <a:srgbClr val="344638"/>
                </a:solidFill>
                <a:latin typeface="Arial"/>
                <a:ea typeface="Arial"/>
                <a:cs typeface="Arial"/>
              </a:defRPr>
            </a:pPr>
            <a:r>
              <a:rPr sz="2100" b="0">
                <a:solidFill>
                  <a:srgbClr val="344638"/>
                </a:solidFill>
                <a:latin typeface="Arial"/>
                <a:ea typeface="Arial"/>
                <a:cs typeface="Arial"/>
              </a:rPr>
              <a:t>Market order → visit the frontend shops → replay the pipeline</a:t>
            </a:r>
          </a:p>
        </p:txBody>
      </p:sp>
      <p:sp>
        <p:nvSpPr>
          <p:cNvPr id="7" name="">
            <a:extLst xmlns:a="http://schemas.openxmlformats.org/drawingml/2006/main">
              <a:ext uri="{FF2B5EF4-FFF2-40B4-BE49-F238E27FC236}">
                <a16:creationId xmlns:a16="http://schemas.microsoft.com/office/drawing/2014/main" id="{5A903E22-A70A-46C7-AE1E-ED77A9C96C0B}"/>
              </a:ext>
            </a:extLst>
          </p:cNvPr>
          <p:cNvSpPr>
            <a:spLocks xmlns:a="http://schemas.openxmlformats.org/drawingml/2006/main" noGrp="1"/>
          </p:cNvSpPr>
          <p:nvPr/>
        </p:nvSpPr>
        <p:spPr>
          <a:xfrm xmlns:a="http://schemas.openxmlformats.org/drawingml/2006/main">
            <a:off x="685800" y="37814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44638"/>
                </a:solidFill>
                <a:latin typeface="Arial"/>
                <a:ea typeface="Arial"/>
                <a:cs typeface="Arial"/>
              </a:defRPr>
            </a:defPPr>
            <a:lvl1pPr>
              <a:defRPr sz="2100" b="0">
                <a:solidFill>
                  <a:srgbClr val="344638"/>
                </a:solidFill>
                <a:latin typeface="Arial"/>
                <a:ea typeface="Arial"/>
                <a:cs typeface="Arial"/>
              </a:defRPr>
            </a:lvl1pPr>
            <a:lvl2pPr>
              <a:defRPr sz="2100" b="0">
                <a:solidFill>
                  <a:srgbClr val="344638"/>
                </a:solidFill>
                <a:latin typeface="Arial"/>
                <a:ea typeface="Arial"/>
                <a:cs typeface="Arial"/>
              </a:defRPr>
            </a:lvl2pPr>
            <a:lvl3pPr>
              <a:defRPr sz="2100" b="0">
                <a:solidFill>
                  <a:srgbClr val="344638"/>
                </a:solidFill>
                <a:latin typeface="Arial"/>
                <a:ea typeface="Arial"/>
                <a:cs typeface="Arial"/>
              </a:defRPr>
            </a:lvl3pPr>
            <a:lvl4pPr>
              <a:defRPr sz="2100" b="0">
                <a:solidFill>
                  <a:srgbClr val="344638"/>
                </a:solidFill>
                <a:latin typeface="Arial"/>
                <a:ea typeface="Arial"/>
                <a:cs typeface="Arial"/>
              </a:defRPr>
            </a:lvl4pPr>
            <a:lvl5pPr>
              <a:defRPr sz="2100" b="0">
                <a:solidFill>
                  <a:srgbClr val="344638"/>
                </a:solidFill>
                <a:latin typeface="Arial"/>
                <a:ea typeface="Arial"/>
                <a:cs typeface="Arial"/>
              </a:defRPr>
            </a:lvl5pPr>
            <a:lvl6pPr>
              <a:defRPr sz="2100" b="0">
                <a:solidFill>
                  <a:srgbClr val="344638"/>
                </a:solidFill>
                <a:latin typeface="Arial"/>
                <a:ea typeface="Arial"/>
                <a:cs typeface="Arial"/>
              </a:defRPr>
            </a:lvl6pPr>
            <a:lvl7pPr>
              <a:defRPr sz="2100" b="0">
                <a:solidFill>
                  <a:srgbClr val="344638"/>
                </a:solidFill>
                <a:latin typeface="Arial"/>
                <a:ea typeface="Arial"/>
                <a:cs typeface="Arial"/>
              </a:defRPr>
            </a:lvl7pPr>
            <a:lvl8pPr>
              <a:defRPr sz="2100" b="0">
                <a:solidFill>
                  <a:srgbClr val="344638"/>
                </a:solidFill>
                <a:latin typeface="Arial"/>
                <a:ea typeface="Arial"/>
                <a:cs typeface="Arial"/>
              </a:defRPr>
            </a:lvl8pPr>
            <a:lvl9pPr>
              <a:defRPr sz="2100" b="0">
                <a:solidFill>
                  <a:srgbClr val="344638"/>
                </a:solidFill>
                <a:latin typeface="Arial"/>
                <a:ea typeface="Arial"/>
                <a:cs typeface="Arial"/>
              </a:defRPr>
            </a:lvl9pPr>
          </a:lstStyle>
          <a:p xmlns:a="http://schemas.openxmlformats.org/drawingml/2006/main">
            <a:pPr>
              <a:defRPr sz="2100" b="0">
                <a:solidFill>
                  <a:srgbClr val="344638"/>
                </a:solidFill>
                <a:latin typeface="Arial"/>
                <a:ea typeface="Arial"/>
                <a:cs typeface="Arial"/>
              </a:defRPr>
            </a:pPr>
            <a:r>
              <a:rPr sz="2100" b="0">
                <a:solidFill>
                  <a:srgbClr val="344638"/>
                </a:solidFill>
                <a:latin typeface="Arial"/>
                <a:ea typeface="Arial"/>
                <a:cs typeface="Arial"/>
              </a:rPr>
              <a:t>Repair Garage → inspect intermediate logs → ask the ML scout</a:t>
            </a:r>
          </a:p>
        </p:txBody>
      </p:sp>
      <p:sp>
        <p:nvSpPr>
          <p:cNvPr id="8" name="">
            <a:extLst xmlns:a="http://schemas.openxmlformats.org/drawingml/2006/main">
              <a:ext uri="{FF2B5EF4-FFF2-40B4-BE49-F238E27FC236}">
                <a16:creationId xmlns:a16="http://schemas.microsoft.com/office/drawing/2014/main" id="{26004784-556B-4984-8827-8620492B81B4}"/>
              </a:ext>
            </a:extLst>
          </p:cNvPr>
          <p:cNvSpPr>
            <a:spLocks xmlns:a="http://schemas.openxmlformats.org/drawingml/2006/main" noGrp="1"/>
          </p:cNvSpPr>
          <p:nvPr/>
        </p:nvSpPr>
        <p:spPr>
          <a:xfrm xmlns:a="http://schemas.openxmlformats.org/drawingml/2006/main">
            <a:off x="685800" y="46672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44638"/>
                </a:solidFill>
                <a:latin typeface="Arial"/>
                <a:ea typeface="Arial"/>
                <a:cs typeface="Arial"/>
              </a:defRPr>
            </a:defPPr>
            <a:lvl1pPr>
              <a:defRPr sz="2100" b="0">
                <a:solidFill>
                  <a:srgbClr val="344638"/>
                </a:solidFill>
                <a:latin typeface="Arial"/>
                <a:ea typeface="Arial"/>
                <a:cs typeface="Arial"/>
              </a:defRPr>
            </a:lvl1pPr>
            <a:lvl2pPr>
              <a:defRPr sz="2100" b="0">
                <a:solidFill>
                  <a:srgbClr val="344638"/>
                </a:solidFill>
                <a:latin typeface="Arial"/>
                <a:ea typeface="Arial"/>
                <a:cs typeface="Arial"/>
              </a:defRPr>
            </a:lvl2pPr>
            <a:lvl3pPr>
              <a:defRPr sz="2100" b="0">
                <a:solidFill>
                  <a:srgbClr val="344638"/>
                </a:solidFill>
                <a:latin typeface="Arial"/>
                <a:ea typeface="Arial"/>
                <a:cs typeface="Arial"/>
              </a:defRPr>
            </a:lvl3pPr>
            <a:lvl4pPr>
              <a:defRPr sz="2100" b="0">
                <a:solidFill>
                  <a:srgbClr val="344638"/>
                </a:solidFill>
                <a:latin typeface="Arial"/>
                <a:ea typeface="Arial"/>
                <a:cs typeface="Arial"/>
              </a:defRPr>
            </a:lvl4pPr>
            <a:lvl5pPr>
              <a:defRPr sz="2100" b="0">
                <a:solidFill>
                  <a:srgbClr val="344638"/>
                </a:solidFill>
                <a:latin typeface="Arial"/>
                <a:ea typeface="Arial"/>
                <a:cs typeface="Arial"/>
              </a:defRPr>
            </a:lvl5pPr>
            <a:lvl6pPr>
              <a:defRPr sz="2100" b="0">
                <a:solidFill>
                  <a:srgbClr val="344638"/>
                </a:solidFill>
                <a:latin typeface="Arial"/>
                <a:ea typeface="Arial"/>
                <a:cs typeface="Arial"/>
              </a:defRPr>
            </a:lvl6pPr>
            <a:lvl7pPr>
              <a:defRPr sz="2100" b="0">
                <a:solidFill>
                  <a:srgbClr val="344638"/>
                </a:solidFill>
                <a:latin typeface="Arial"/>
                <a:ea typeface="Arial"/>
                <a:cs typeface="Arial"/>
              </a:defRPr>
            </a:lvl7pPr>
            <a:lvl8pPr>
              <a:defRPr sz="2100" b="0">
                <a:solidFill>
                  <a:srgbClr val="344638"/>
                </a:solidFill>
                <a:latin typeface="Arial"/>
                <a:ea typeface="Arial"/>
                <a:cs typeface="Arial"/>
              </a:defRPr>
            </a:lvl8pPr>
            <a:lvl9pPr>
              <a:defRPr sz="2100" b="0">
                <a:solidFill>
                  <a:srgbClr val="344638"/>
                </a:solidFill>
                <a:latin typeface="Arial"/>
                <a:ea typeface="Arial"/>
                <a:cs typeface="Arial"/>
              </a:defRPr>
            </a:lvl9pPr>
          </a:lstStyle>
          <a:p xmlns:a="http://schemas.openxmlformats.org/drawingml/2006/main">
            <a:pPr>
              <a:defRPr sz="2100" b="0">
                <a:solidFill>
                  <a:srgbClr val="344638"/>
                </a:solidFill>
                <a:latin typeface="Arial"/>
                <a:ea typeface="Arial"/>
                <a:cs typeface="Arial"/>
              </a:defRPr>
            </a:pPr>
            <a:r>
              <a:rPr sz="2100" b="0">
                <a:solidFill>
                  <a:srgbClr val="344638"/>
                </a:solidFill>
                <a:latin typeface="Arial"/>
                <a:ea typeface="Arial"/>
                <a:cs typeface="Arial"/>
              </a:rPr>
              <a:t>Hidden trap → preserve the runtime error → export the evidence</a:t>
            </a:r>
          </a:p>
        </p:txBody>
      </p:sp>
      <p:sp>
        <p:nvSpPr>
          <p:cNvPr id="9" name="">
            <a:extLst xmlns:a="http://schemas.openxmlformats.org/drawingml/2006/main">
              <a:ext uri="{FF2B5EF4-FFF2-40B4-BE49-F238E27FC236}">
                <a16:creationId xmlns:a16="http://schemas.microsoft.com/office/drawing/2014/main" id="{D1305AAA-E134-4D70-8C2D-FEE139F0039E}"/>
              </a:ext>
            </a:extLst>
          </p:cNvPr>
          <p:cNvSpPr>
            <a:spLocks xmlns:a="http://schemas.openxmlformats.org/drawingml/2006/main" noGrp="1"/>
          </p:cNvSpPr>
          <p:nvPr/>
        </p:nvSpPr>
        <p:spPr>
          <a:xfrm xmlns:a="http://schemas.openxmlformats.org/drawingml/2006/main">
            <a:off x="685800" y="57531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344638"/>
                </a:solidFill>
                <a:latin typeface="Georgia"/>
                <a:ea typeface="Georgia"/>
                <a:cs typeface="Georgia"/>
              </a:defRPr>
            </a:defPPr>
            <a:lvl1pPr>
              <a:defRPr sz="2175" b="0">
                <a:solidFill>
                  <a:srgbClr val="344638"/>
                </a:solidFill>
                <a:latin typeface="Georgia"/>
                <a:ea typeface="Georgia"/>
                <a:cs typeface="Georgia"/>
              </a:defRPr>
            </a:lvl1pPr>
            <a:lvl2pPr>
              <a:defRPr sz="2175" b="0">
                <a:solidFill>
                  <a:srgbClr val="344638"/>
                </a:solidFill>
                <a:latin typeface="Georgia"/>
                <a:ea typeface="Georgia"/>
                <a:cs typeface="Georgia"/>
              </a:defRPr>
            </a:lvl2pPr>
            <a:lvl3pPr>
              <a:defRPr sz="2175" b="0">
                <a:solidFill>
                  <a:srgbClr val="344638"/>
                </a:solidFill>
                <a:latin typeface="Georgia"/>
                <a:ea typeface="Georgia"/>
                <a:cs typeface="Georgia"/>
              </a:defRPr>
            </a:lvl3pPr>
            <a:lvl4pPr>
              <a:defRPr sz="2175" b="0">
                <a:solidFill>
                  <a:srgbClr val="344638"/>
                </a:solidFill>
                <a:latin typeface="Georgia"/>
                <a:ea typeface="Georgia"/>
                <a:cs typeface="Georgia"/>
              </a:defRPr>
            </a:lvl4pPr>
            <a:lvl5pPr>
              <a:defRPr sz="2175" b="0">
                <a:solidFill>
                  <a:srgbClr val="344638"/>
                </a:solidFill>
                <a:latin typeface="Georgia"/>
                <a:ea typeface="Georgia"/>
                <a:cs typeface="Georgia"/>
              </a:defRPr>
            </a:lvl5pPr>
            <a:lvl6pPr>
              <a:defRPr sz="2175" b="0">
                <a:solidFill>
                  <a:srgbClr val="344638"/>
                </a:solidFill>
                <a:latin typeface="Georgia"/>
                <a:ea typeface="Georgia"/>
                <a:cs typeface="Georgia"/>
              </a:defRPr>
            </a:lvl6pPr>
            <a:lvl7pPr>
              <a:defRPr sz="2175" b="0">
                <a:solidFill>
                  <a:srgbClr val="344638"/>
                </a:solidFill>
                <a:latin typeface="Georgia"/>
                <a:ea typeface="Georgia"/>
                <a:cs typeface="Georgia"/>
              </a:defRPr>
            </a:lvl7pPr>
            <a:lvl8pPr>
              <a:defRPr sz="2175" b="0">
                <a:solidFill>
                  <a:srgbClr val="344638"/>
                </a:solidFill>
                <a:latin typeface="Georgia"/>
                <a:ea typeface="Georgia"/>
                <a:cs typeface="Georgia"/>
              </a:defRPr>
            </a:lvl8pPr>
            <a:lvl9pPr>
              <a:defRPr sz="2175" b="0">
                <a:solidFill>
                  <a:srgbClr val="344638"/>
                </a:solidFill>
                <a:latin typeface="Georgia"/>
                <a:ea typeface="Georgia"/>
                <a:cs typeface="Georgia"/>
              </a:defRPr>
            </a:lvl9pPr>
          </a:lstStyle>
          <a:p xmlns:a="http://schemas.openxmlformats.org/drawingml/2006/main">
            <a:pPr>
              <a:defRPr sz="2175" b="0">
                <a:solidFill>
                  <a:srgbClr val="344638"/>
                </a:solidFill>
                <a:latin typeface="Georgia"/>
                <a:ea typeface="Georgia"/>
                <a:cs typeface="Georgia"/>
              </a:defRPr>
            </a:pPr>
            <a:r>
              <a:rPr sz="2175" b="0">
                <a:solidFill>
                  <a:srgbClr val="344638"/>
                </a:solidFill>
                <a:latin typeface="Georgia"/>
                <a:ea typeface="Georgia"/>
                <a:cs typeface="Georgia"/>
              </a:rPr>
              <a:t>Questions welcome at any stop.</a:t>
            </a:r>
          </a:p>
        </p:txBody>
      </p:sp>
    </p:spTree>
    <p:extLst>
      <p:ext uri="{BB962C8B-B14F-4D97-AF65-F5344CB8AC3E}">
        <p14:creationId xmlns:p14="http://schemas.microsoft.com/office/powerpoint/2010/main" val="70109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2026-10-23T16:31:00.8380000Z</dcterms:created>
  <dcterms:modified xsi:type="dcterms:W3CDTF">2026-10-23T16:31:00.8400000Z</dcterms:modified>
</coreProperties>
</file>
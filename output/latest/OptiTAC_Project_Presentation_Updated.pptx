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be88c5c2d04ce1" /><Relationship Type="http://schemas.openxmlformats.org/officeDocument/2006/relationships/extended-properties" Target="/docProps/app.xml" Id="R688217e38e32413c" /><Relationship Type="http://schemas.openxmlformats.org/officeDocument/2006/relationships/officeDocument" Target="/ppt/presentation.xml" Id="R22ce0e0116b24f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a1aa31dce64fe5"/>
  </p:sldMasterIdLst>
  <p:notesMasterIdLst>
    <p:notesMasterId xmlns:r="http://schemas.openxmlformats.org/officeDocument/2006/relationships" r:id="R101c39d5fbaf4c9b"/>
  </p:notesMasterIdLst>
  <p:sldIdLst>
    <p:sldId xmlns:r="http://schemas.openxmlformats.org/officeDocument/2006/relationships" id="256" r:id="Rd6453572d3e34590"/>
    <p:sldId xmlns:r="http://schemas.openxmlformats.org/officeDocument/2006/relationships" id="257" r:id="R6e4e1be521364e9a"/>
    <p:sldId xmlns:r="http://schemas.openxmlformats.org/officeDocument/2006/relationships" id="258" r:id="Reca4a31cabf24b54"/>
    <p:sldId xmlns:r="http://schemas.openxmlformats.org/officeDocument/2006/relationships" id="259" r:id="R9f6d4da579184d1f"/>
    <p:sldId xmlns:r="http://schemas.openxmlformats.org/officeDocument/2006/relationships" id="260" r:id="Ra36416d257a64e36"/>
    <p:sldId xmlns:r="http://schemas.openxmlformats.org/officeDocument/2006/relationships" id="261" r:id="R9214d57045f24cdd"/>
    <p:sldId xmlns:r="http://schemas.openxmlformats.org/officeDocument/2006/relationships" id="262" r:id="Rea37c18919364ab9"/>
    <p:sldId xmlns:r="http://schemas.openxmlformats.org/officeDocument/2006/relationships" id="263" r:id="R6809d18a6d494547"/>
    <p:sldId xmlns:r="http://schemas.openxmlformats.org/officeDocument/2006/relationships" id="264" r:id="Re3ea3b8ad9dc4d56"/>
    <p:sldId xmlns:r="http://schemas.openxmlformats.org/officeDocument/2006/relationships" id="265" r:id="Ra0e9280b81b34b71"/>
    <p:sldId xmlns:r="http://schemas.openxmlformats.org/officeDocument/2006/relationships" id="266" r:id="R2a978f408388443d"/>
    <p:sldId xmlns:r="http://schemas.openxmlformats.org/officeDocument/2006/relationships" id="267" r:id="Rdd5934ef6d864819"/>
    <p:sldId xmlns:r="http://schemas.openxmlformats.org/officeDocument/2006/relationships" id="268" r:id="Rc6524450d5624c7f"/>
    <p:sldId xmlns:r="http://schemas.openxmlformats.org/officeDocument/2006/relationships" id="269" r:id="Rf48b4219e4854fdc"/>
    <p:sldId xmlns:r="http://schemas.openxmlformats.org/officeDocument/2006/relationships" id="270" r:id="Rbba9690aa5254909"/>
    <p:sldId xmlns:r="http://schemas.openxmlformats.org/officeDocument/2006/relationships" id="271" r:id="R505ef9799be04156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9a74b87c794943" /><Relationship Type="http://schemas.openxmlformats.org/officeDocument/2006/relationships/slideMaster" Target="/ppt/slideMasters/slideMaster1.xml" Id="Ra8a1aa31dce64fe5" /><Relationship Type="http://schemas.openxmlformats.org/officeDocument/2006/relationships/notesMaster" Target="/ppt/notesMasters/notesMaster1.xml" Id="R101c39d5fbaf4c9b" /><Relationship Type="http://schemas.openxmlformats.org/officeDocument/2006/relationships/presProps" Target="/ppt/presProps.xml" Id="R821b39f72eff436b" /><Relationship Type="http://schemas.openxmlformats.org/officeDocument/2006/relationships/viewProps" Target="/ppt/viewProps.xml" Id="R2f6df303b4c7491b" /><Relationship Type="http://schemas.openxmlformats.org/officeDocument/2006/relationships/tableStyles" Target="/ppt/tableStyles.xml" Id="R0e04bf5da67f41f9" /><Relationship Type="http://schemas.openxmlformats.org/officeDocument/2006/relationships/slide" Target="/ppt/slides/slide1.xml" Id="Rd6453572d3e34590" /><Relationship Type="http://schemas.openxmlformats.org/officeDocument/2006/relationships/slide" Target="/ppt/slides/slide2.xml" Id="R6e4e1be521364e9a" /><Relationship Type="http://schemas.openxmlformats.org/officeDocument/2006/relationships/slide" Target="/ppt/slides/slide3.xml" Id="Reca4a31cabf24b54" /><Relationship Type="http://schemas.openxmlformats.org/officeDocument/2006/relationships/slide" Target="/ppt/slides/slide4.xml" Id="R9f6d4da579184d1f" /><Relationship Type="http://schemas.openxmlformats.org/officeDocument/2006/relationships/slide" Target="/ppt/slides/slide5.xml" Id="Ra36416d257a64e36" /><Relationship Type="http://schemas.openxmlformats.org/officeDocument/2006/relationships/slide" Target="/ppt/slides/slide6.xml" Id="R9214d57045f24cdd" /><Relationship Type="http://schemas.openxmlformats.org/officeDocument/2006/relationships/slide" Target="/ppt/slides/slide7.xml" Id="Rea37c18919364ab9" /><Relationship Type="http://schemas.openxmlformats.org/officeDocument/2006/relationships/slide" Target="/ppt/slides/slide8.xml" Id="R6809d18a6d494547" /><Relationship Type="http://schemas.openxmlformats.org/officeDocument/2006/relationships/slide" Target="/ppt/slides/slide9.xml" Id="Re3ea3b8ad9dc4d56" /><Relationship Type="http://schemas.openxmlformats.org/officeDocument/2006/relationships/slide" Target="/ppt/slides/slide10.xml" Id="Ra0e9280b81b34b71" /><Relationship Type="http://schemas.openxmlformats.org/officeDocument/2006/relationships/slide" Target="/ppt/slides/slide11.xml" Id="R2a978f408388443d" /><Relationship Type="http://schemas.openxmlformats.org/officeDocument/2006/relationships/slide" Target="/ppt/slides/slide12.xml" Id="Rdd5934ef6d864819" /><Relationship Type="http://schemas.openxmlformats.org/officeDocument/2006/relationships/slide" Target="/ppt/slides/slide13.xml" Id="Rc6524450d5624c7f" /><Relationship Type="http://schemas.openxmlformats.org/officeDocument/2006/relationships/slide" Target="/ppt/slides/slide14.xml" Id="Rf48b4219e4854fdc" /><Relationship Type="http://schemas.openxmlformats.org/officeDocument/2006/relationships/slide" Target="/ppt/slides/slide15.xml" Id="Rbba9690aa5254909" /><Relationship Type="http://schemas.openxmlformats.org/officeDocument/2006/relationships/slide" Target="/ppt/slides/slide16.xml" Id="R505ef9799be041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b65aea0263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ptiTAC">
  <a:themeElements>
    <a:clrScheme name="OptiTAC">
      <a:dk1>
        <a:srgbClr val="20282D"/>
      </a:dk1>
      <a:lt1>
        <a:srgbClr val="FAFAF7"/>
      </a:lt1>
      <a:dk2>
        <a:srgbClr val="31586D"/>
      </a:dk2>
      <a:lt2>
        <a:srgbClr val="FFFFFF"/>
      </a:lt2>
      <a:accent1>
        <a:srgbClr val="31586D"/>
      </a:accent1>
      <a:accent2>
        <a:srgbClr val="68747B"/>
      </a:accent2>
      <a:accent3>
        <a:srgbClr val="2E7D5B"/>
      </a:accent3>
      <a:accent4>
        <a:srgbClr val="B5483A"/>
      </a:accent4>
      <a:accent5>
        <a:srgbClr val="1B2226"/>
      </a:accent5>
      <a:accent6>
        <a:srgbClr val="D5D9DB"/>
      </a:accent6>
      <a:hlink>
        <a:srgbClr val="31586D"/>
      </a:hlink>
      <a:folHlink>
        <a:srgbClr val="68747B"/>
      </a:folHlink>
    </a:clrScheme>
    <a:fontScheme name="OptiTA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ptiTAC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8f81fdecc0435d" /><Relationship Type="http://schemas.openxmlformats.org/officeDocument/2006/relationships/notesMaster" Target="/ppt/notesMasters/notesMaster1.xml" Id="R73c6e1a56ed345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786cefcfc04b97" /><Relationship Type="http://schemas.openxmlformats.org/officeDocument/2006/relationships/notesMaster" Target="/ppt/notesMasters/notesMaster1.xml" Id="R2b17134ce7d647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8bcb838ad642d0" /><Relationship Type="http://schemas.openxmlformats.org/officeDocument/2006/relationships/notesMaster" Target="/ppt/notesMasters/notesMaster1.xml" Id="R474a0172931c48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87dd5645694258" /><Relationship Type="http://schemas.openxmlformats.org/officeDocument/2006/relationships/notesMaster" Target="/ppt/notesMasters/notesMaster1.xml" Id="R9a4ee44049444c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186080d53c44cb" /><Relationship Type="http://schemas.openxmlformats.org/officeDocument/2006/relationships/notesMaster" Target="/ppt/notesMasters/notesMaster1.xml" Id="R02a2add0071743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c1e983978b431d" /><Relationship Type="http://schemas.openxmlformats.org/officeDocument/2006/relationships/notesMaster" Target="/ppt/notesMasters/notesMaster1.xml" Id="Rfa89f02dd5c843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34ba173b8f4e1b" /><Relationship Type="http://schemas.openxmlformats.org/officeDocument/2006/relationships/notesMaster" Target="/ppt/notesMasters/notesMaster1.xml" Id="Rbe7d558ffc824e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b934d6ab494b3f" /><Relationship Type="http://schemas.openxmlformats.org/officeDocument/2006/relationships/notesMaster" Target="/ppt/notesMasters/notesMaster1.xml" Id="Re1b9170e53554b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e4a88681ec4ad2" /><Relationship Type="http://schemas.openxmlformats.org/officeDocument/2006/relationships/notesMaster" Target="/ppt/notesMasters/notesMaster1.xml" Id="Re11fd142afdc41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f725ad080a4735" /><Relationship Type="http://schemas.openxmlformats.org/officeDocument/2006/relationships/notesMaster" Target="/ppt/notesMasters/notesMaster1.xml" Id="R90d2aab3036b4d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f231c71f744d2e" /><Relationship Type="http://schemas.openxmlformats.org/officeDocument/2006/relationships/notesMaster" Target="/ppt/notesMasters/notesMaster1.xml" Id="R99ecb794680246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f46d6119bb41b7" /><Relationship Type="http://schemas.openxmlformats.org/officeDocument/2006/relationships/notesMaster" Target="/ppt/notesMasters/notesMaster1.xml" Id="Ra163fe762b5943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e25a6734ee4d5e" /><Relationship Type="http://schemas.openxmlformats.org/officeDocument/2006/relationships/notesMaster" Target="/ppt/notesMasters/notesMaster1.xml" Id="R2ba850b9497b45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d5e59710854fb8" /><Relationship Type="http://schemas.openxmlformats.org/officeDocument/2006/relationships/notesMaster" Target="/ppt/notesMasters/notesMaster1.xml" Id="Rd31d1e6481f547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e10263c6464a7f" /><Relationship Type="http://schemas.openxmlformats.org/officeDocument/2006/relationships/notesMaster" Target="/ppt/notesMasters/notesMaster1.xml" Id="R00fe8803786a4e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a093b930594a8a" /><Relationship Type="http://schemas.openxmlformats.org/officeDocument/2006/relationships/notesMaster" Target="/ppt/notesMasters/notesMaster1.xml" Id="R22ca631dc0414c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docs/compiler-lab.md; docs/ml/model-card.md; docs/research/report.md; docs/research/evidence-portfolios.md; docs/research/adaptive-validation.md; docs/research/adaptive-evaluation.json. Recorded results are from the repository documentation dated 28 and 29 October 2026. Teaching TAC on slides 5, 7, 9, 10 and 11 is illustrative, not a verbatim IR export.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6a897af8547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31b4c4e804e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4958d01b849e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ONLY"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AAC42D9-9948-4885-A936-AB2766BBA6C1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6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3DBC74D-8BF5-4AE1-9804-EDF4A49DB47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47120" y="635508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_SLIDE"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AEBE1E-ADB6-45C8-85FB-131B3707C341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731520" y="914400"/>
            <a:ext cx="6035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4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3338B6E-EC94-45A9-BCE5-A4E893FC44A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47120" y="635508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246d7479554b05" /><Relationship Type="http://schemas.openxmlformats.org/officeDocument/2006/relationships/slideLayout" Target="/ppt/slideLayouts/slideLayout1.xml" Id="R00bd37fe66454dc0" /><Relationship Type="http://schemas.openxmlformats.org/officeDocument/2006/relationships/slideLayout" Target="/ppt/slideLayouts/slideLayout2.xml" Id="R2fa9b8ae792a4fdb" /><Relationship Type="http://schemas.openxmlformats.org/officeDocument/2006/relationships/slideLayout" Target="/ppt/slideLayouts/slideLayout3.xml" Id="R50b8fdb02b2c4c7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398FED7-554D-48B5-A258-EE686E6D438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47120" y="635508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bd37fe66454dc0"/>
    <p:sldLayoutId xmlns:r="http://schemas.openxmlformats.org/officeDocument/2006/relationships" id="2147483650" r:id="R2fa9b8ae792a4fdb"/>
    <p:sldLayoutId xmlns:r="http://schemas.openxmlformats.org/officeDocument/2006/relationships" id="2147483651" r:id="R50b8fdb02b2c4c7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ptiTAC">
  <a:themeElements>
    <a:clrScheme name="OptiTAC">
      <a:dk1>
        <a:srgbClr val="20282D"/>
      </a:dk1>
      <a:lt1>
        <a:srgbClr val="FAFAF7"/>
      </a:lt1>
      <a:dk2>
        <a:srgbClr val="31586D"/>
      </a:dk2>
      <a:lt2>
        <a:srgbClr val="FFFFFF"/>
      </a:lt2>
      <a:accent1>
        <a:srgbClr val="31586D"/>
      </a:accent1>
      <a:accent2>
        <a:srgbClr val="68747B"/>
      </a:accent2>
      <a:accent3>
        <a:srgbClr val="2E7D5B"/>
      </a:accent3>
      <a:accent4>
        <a:srgbClr val="B5483A"/>
      </a:accent4>
      <a:accent5>
        <a:srgbClr val="1B2226"/>
      </a:accent5>
      <a:accent6>
        <a:srgbClr val="D5D9DB"/>
      </a:accent6>
      <a:hlink>
        <a:srgbClr val="31586D"/>
      </a:hlink>
      <a:folHlink>
        <a:srgbClr val="68747B"/>
      </a:folHlink>
    </a:clrScheme>
    <a:fontScheme name="OptiTA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ptiTAC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11af4dd4f9e4821" /><Relationship Type="http://schemas.openxmlformats.org/officeDocument/2006/relationships/notesSlide" Target="/ppt/notesSlides/notesSlide1.xml" Id="Ra4788f16dff64e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8382ee122645a4" /><Relationship Type="http://schemas.openxmlformats.org/officeDocument/2006/relationships/notesSlide" Target="/ppt/notesSlides/notesSlide2.xml" Id="Rc7421dc24ae84f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fcb2edf2846f5" /><Relationship Type="http://schemas.openxmlformats.org/officeDocument/2006/relationships/notesSlide" Target="/ppt/notesSlides/notesSlide3.xml" Id="Rc0501de0b06444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22241d446449fc" /><Relationship Type="http://schemas.openxmlformats.org/officeDocument/2006/relationships/notesSlide" Target="/ppt/notesSlides/notesSlide4.xml" Id="Rfe5703ccd6054e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955935114f4e92" /><Relationship Type="http://schemas.openxmlformats.org/officeDocument/2006/relationships/notesSlide" Target="/ppt/notesSlides/notesSlide5.xml" Id="Ra57ada7839844d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d8be95e86047e9" /><Relationship Type="http://schemas.openxmlformats.org/officeDocument/2006/relationships/notesSlide" Target="/ppt/notesSlides/notesSlide6.xml" Id="Rf7f6335f34c049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095ecff6dc4f26" /><Relationship Type="http://schemas.openxmlformats.org/officeDocument/2006/relationships/notesSlide" Target="/ppt/notesSlides/notesSlide7.xml" Id="R29dd3223baa241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ecc9094f034435" /><Relationship Type="http://schemas.openxmlformats.org/officeDocument/2006/relationships/notesSlide" Target="/ppt/notesSlides/notesSlide8.xml" Id="Rd4750d9748a543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a3785b39e42ab" /><Relationship Type="http://schemas.openxmlformats.org/officeDocument/2006/relationships/notesSlide" Target="/ppt/notesSlides/notesSlide9.xml" Id="Ra49123b729b941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f90360ae034732" /><Relationship Type="http://schemas.openxmlformats.org/officeDocument/2006/relationships/notesSlide" Target="/ppt/notesSlides/notesSlide10.xml" Id="R90c2d47bc1ba49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677fea6e414a6f" /><Relationship Type="http://schemas.openxmlformats.org/officeDocument/2006/relationships/notesSlide" Target="/ppt/notesSlides/notesSlide11.xml" Id="R2615d073b11c42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abc2a530284423" /><Relationship Type="http://schemas.openxmlformats.org/officeDocument/2006/relationships/notesSlide" Target="/ppt/notesSlides/notesSlide12.xml" Id="Rbd0b604a120845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d3f9e69caa406f" /><Relationship Type="http://schemas.openxmlformats.org/officeDocument/2006/relationships/notesSlide" Target="/ppt/notesSlides/notesSlide13.xml" Id="R306dd61ae4d94d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a027e61d6446b7" /><Relationship Type="http://schemas.openxmlformats.org/officeDocument/2006/relationships/notesSlide" Target="/ppt/notesSlides/notesSlide14.xml" Id="Rf6f8bb36144a41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03d10bf70d4fd8" /><Relationship Type="http://schemas.openxmlformats.org/officeDocument/2006/relationships/notesSlide" Target="/ppt/notesSlides/notesSlide15.xml" Id="R4516d7d6f46f49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83d9065d4d4b90" /><Relationship Type="http://schemas.openxmlformats.org/officeDocument/2006/relationships/notesSlide" Target="/ppt/notesSlides/notesSlide16.xml" Id="R5a287610ef7848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D47BD7-42AB-4BC9-943C-D3B592D30EAB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731520" y="914400"/>
            <a:ext cx="6035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chemeClr val="tx1"/>
                </a:solidFill>
              </a:rPr>
              <a:t>OptiTAC</a:t>
            </a:r>
            <a:endParaRPr sz="4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A0DF28F-47B6-4478-978A-07F15A5D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5852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0282D"/>
                </a:solidFill>
              </a:rPr>
              <a:t>Compiler Optimization with Adaptive Validation Evidence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9BCE3F-34F1-463B-929B-DF71D06C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5852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400"/>
          </a:p>
        </p:txBody>
      </p:sp>
      <p:sp>
        <p:nvSpPr>
          <p:cNvPr id="5" name="Member accent">
            <a:extLst xmlns:a="http://schemas.openxmlformats.org/drawingml/2006/main">
              <a:ext uri="{FF2B5EF4-FFF2-40B4-BE49-F238E27FC236}">
                <a16:creationId xmlns:a16="http://schemas.microsoft.com/office/drawing/2014/main" id="{149943B2-9A2B-465C-A81B-E0F51BE5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C31C084-933F-4BE6-89F4-DF26BF0C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490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0282D"/>
                </a:solidFill>
              </a:rPr>
              <a:t>Archit Nigam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3AEC80-54C5-47C6-AD2E-2E07346D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233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8747B"/>
                </a:solidFill>
              </a:rPr>
              <a:t>Register Number: 24BCI0230</a:t>
            </a:r>
            <a:endParaRPr sz="1200"/>
          </a:p>
        </p:txBody>
      </p:sp>
      <p:sp>
        <p:nvSpPr>
          <p:cNvPr id="8" name="Member accent">
            <a:extLst xmlns:a="http://schemas.openxmlformats.org/drawingml/2006/main">
              <a:ext uri="{FF2B5EF4-FFF2-40B4-BE49-F238E27FC236}">
                <a16:creationId xmlns:a16="http://schemas.microsoft.com/office/drawing/2014/main" id="{B3D4C5F6-756F-4A98-A0F8-ACE3596E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35FD6CE-77D8-470D-91D3-C0078686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348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0282D"/>
                </a:solidFill>
              </a:rPr>
              <a:t>Nettem Ronith Kumar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99215D1-C0E6-4249-BCEF-7DBFBDA8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091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8747B"/>
                </a:solidFill>
              </a:rPr>
              <a:t>Register Number: 24BCT0285</a:t>
            </a:r>
            <a:endParaRPr sz="1200"/>
          </a:p>
        </p:txBody>
      </p:sp>
      <p:sp>
        <p:nvSpPr>
          <p:cNvPr id="11" name="Member accent">
            <a:extLst xmlns:a="http://schemas.openxmlformats.org/drawingml/2006/main">
              <a:ext uri="{FF2B5EF4-FFF2-40B4-BE49-F238E27FC236}">
                <a16:creationId xmlns:a16="http://schemas.microsoft.com/office/drawing/2014/main" id="{16A23EDC-8FD9-4A94-986B-CB7A5231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2064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E27E080-5378-4A47-B570-9EFF9A59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206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0282D"/>
                </a:solidFill>
              </a:rPr>
              <a:t>Pranshu Gupta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904F24-3D1E-4367-9F64-C515C4B5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9496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8747B"/>
                </a:solidFill>
              </a:rPr>
              <a:t>Register Number: 24BCE2099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743757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2696D42-84C5-459D-BC47-7E14970CF423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Problem Statement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089C09-3E97-478D-AE59-0A6353B3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607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Develop a compiler laboratory that exposes intermediate code, explains optimization decisions and checks program behavior on supplied and generated inputs.</a:t>
            </a:r>
            <a:endParaRPr sz="1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1E7197-88C5-42E6-B12B-9C23B9DB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Gaps we address</a:t>
            </a:r>
            <a:endParaRPr sz="1300"/>
          </a:p>
        </p:txBody>
      </p:sp>
      <p:sp>
        <p:nvSpPr>
          <p:cNvPr id="5" name="Card 1">
            <a:extLst xmlns:a="http://schemas.openxmlformats.org/drawingml/2006/main">
              <a:ext uri="{FF2B5EF4-FFF2-40B4-BE49-F238E27FC236}">
                <a16:creationId xmlns:a16="http://schemas.microsoft.com/office/drawing/2014/main" id="{D40C5AEF-A05F-4528-8C08-7D86C44A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6" name="Card accent">
            <a:extLst xmlns:a="http://schemas.openxmlformats.org/drawingml/2006/main">
              <a:ext uri="{FF2B5EF4-FFF2-40B4-BE49-F238E27FC236}">
                <a16:creationId xmlns:a16="http://schemas.microsoft.com/office/drawing/2014/main" id="{153E6B00-DA7F-497C-A07C-A3667C69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E11554C-17A8-4E29-B7C8-D83A6016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9718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Black-box optimization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B76C6C4-0FEB-4A69-A5D5-70E4A820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5661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Normal optimizers focus on producing optimized code and rarely show the intermediate steps.</a:t>
            </a:r>
            <a:endParaRPr sz="1400"/>
          </a:p>
        </p:txBody>
      </p:sp>
      <p:sp>
        <p:nvSpPr>
          <p:cNvPr id="9" name="Card 2">
            <a:extLst xmlns:a="http://schemas.openxmlformats.org/drawingml/2006/main">
              <a:ext uri="{FF2B5EF4-FFF2-40B4-BE49-F238E27FC236}">
                <a16:creationId xmlns:a16="http://schemas.microsoft.com/office/drawing/2014/main" id="{A6532FD1-5DB7-48EF-82AA-A92A1404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7432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0" name="Card accent">
            <a:extLst xmlns:a="http://schemas.openxmlformats.org/drawingml/2006/main">
              <a:ext uri="{FF2B5EF4-FFF2-40B4-BE49-F238E27FC236}">
                <a16:creationId xmlns:a16="http://schemas.microsoft.com/office/drawing/2014/main" id="{43ADC8C2-2B8F-400E-8204-8E28D5FC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7432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4466187-4C29-49C9-B8D2-A6E0E9C2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9718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Unclear pass interactions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099D57-5D38-47CA-805D-3B8356D4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661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Even when a change is visible, the reason behind it and its effect on other optimizations stay hidden.</a:t>
            </a:r>
            <a:endParaRPr sz="1400"/>
          </a:p>
        </p:txBody>
      </p:sp>
      <p:sp>
        <p:nvSpPr>
          <p:cNvPr id="13" name="Card 3">
            <a:extLst xmlns:a="http://schemas.openxmlformats.org/drawingml/2006/main">
              <a:ext uri="{FF2B5EF4-FFF2-40B4-BE49-F238E27FC236}">
                <a16:creationId xmlns:a16="http://schemas.microsoft.com/office/drawing/2014/main" id="{FDD81C26-722B-4D9A-96B1-D28CE6AD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4" name="Card accent">
            <a:extLst xmlns:a="http://schemas.openxmlformats.org/drawingml/2006/main">
              <a:ext uri="{FF2B5EF4-FFF2-40B4-BE49-F238E27FC236}">
                <a16:creationId xmlns:a16="http://schemas.microsoft.com/office/drawing/2014/main" id="{9F09CA11-CA6C-4583-8D9C-E81D8385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AEBFC54-0929-4538-9DE9-4220FE9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9718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Limited validation evidence</a:t>
            </a:r>
            <a:endParaRPr sz="1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654526E-D751-4471-B53F-DD275BD4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35661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A few example inputs may miss a wrong rewrite on an untested branch.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211201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2F4CCFA-C3E3-4D98-8432-6A16FF95D45D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Objectives</a:t>
            </a:r>
            <a:endParaRPr sz="2600"/>
          </a:p>
        </p:txBody>
      </p:sp>
      <p:sp>
        <p:nvSpPr>
          <p:cNvPr id="3" name="Number 1">
            <a:extLst xmlns:a="http://schemas.openxmlformats.org/drawingml/2006/main">
              <a:ext uri="{FF2B5EF4-FFF2-40B4-BE49-F238E27FC236}">
                <a16:creationId xmlns:a16="http://schemas.microsoft.com/office/drawing/2014/main" id="{A4C29B0A-F7F9-48E7-9314-EE4D5EF1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9B9EB5-FDA9-4DB0-A882-C53F0235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968AF32-FE8D-4AEE-9338-A6E931C9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7160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Implement lexical, syntax and semantic analysis for a scalar C/C++ subset</a:t>
            </a:r>
            <a:endParaRPr sz="1800"/>
          </a:p>
        </p:txBody>
      </p:sp>
      <p:sp>
        <p:nvSpPr>
          <p:cNvPr id="6" name="Number 2">
            <a:extLst xmlns:a="http://schemas.openxmlformats.org/drawingml/2006/main">
              <a:ext uri="{FF2B5EF4-FFF2-40B4-BE49-F238E27FC236}">
                <a16:creationId xmlns:a16="http://schemas.microsoft.com/office/drawing/2014/main" id="{8FEDFDA3-BF74-4EDC-82FD-1DB7DD1C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1F5E9A-1ECC-4BEA-BA89-65DCE178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2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C45DC7A-9F69-40D7-99B9-69687ED9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884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Generate typed TAC, control-flow blocks and live-variable information</a:t>
            </a:r>
            <a:endParaRPr sz="1800"/>
          </a:p>
        </p:txBody>
      </p:sp>
      <p:sp>
        <p:nvSpPr>
          <p:cNvPr id="9" name="Number 3">
            <a:extLst xmlns:a="http://schemas.openxmlformats.org/drawingml/2006/main">
              <a:ext uri="{FF2B5EF4-FFF2-40B4-BE49-F238E27FC236}">
                <a16:creationId xmlns:a16="http://schemas.microsoft.com/office/drawing/2014/main" id="{638EACAD-0DDC-4BD9-95EC-E05781AB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1D14F6E-2E57-47A4-94BA-1532F73E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3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8A662FD-BD6A-4C1B-A09F-B3C5D03C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608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Explore optimization pass orders using bounded, ML-guided search</a:t>
            </a:r>
            <a:endParaRPr sz="1800"/>
          </a:p>
        </p:txBody>
      </p:sp>
      <p:sp>
        <p:nvSpPr>
          <p:cNvPr id="12" name="Number 4">
            <a:extLst xmlns:a="http://schemas.openxmlformats.org/drawingml/2006/main">
              <a:ext uri="{FF2B5EF4-FFF2-40B4-BE49-F238E27FC236}">
                <a16:creationId xmlns:a16="http://schemas.microsoft.com/office/drawing/2014/main" id="{C136F744-9934-46F7-BDB0-19DA0E5F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82C23F2-0BA8-4E48-85D6-212E8182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4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45C2278-7605-4A81-9148-B0D2661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332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Record transformations and explain interactions between passes</a:t>
            </a:r>
            <a:endParaRPr sz="1800"/>
          </a:p>
        </p:txBody>
      </p:sp>
      <p:sp>
        <p:nvSpPr>
          <p:cNvPr id="15" name="Number 5">
            <a:extLst xmlns:a="http://schemas.openxmlformats.org/drawingml/2006/main">
              <a:ext uri="{FF2B5EF4-FFF2-40B4-BE49-F238E27FC236}">
                <a16:creationId xmlns:a16="http://schemas.microsoft.com/office/drawing/2014/main" id="{4D4D27B1-6115-45BC-8D6A-D769F2E2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EB183C3-EC99-4085-9361-89C4CC5A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5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9F41470-E07C-4C80-BA1C-3968561C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8056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Compare AST, original IR and optimized IR on defined test inputs</a:t>
            </a:r>
            <a:endParaRPr sz="1800"/>
          </a:p>
        </p:txBody>
      </p:sp>
      <p:sp>
        <p:nvSpPr>
          <p:cNvPr id="18" name="Number 6">
            <a:extLst xmlns:a="http://schemas.openxmlformats.org/drawingml/2006/main">
              <a:ext uri="{FF2B5EF4-FFF2-40B4-BE49-F238E27FC236}">
                <a16:creationId xmlns:a16="http://schemas.microsoft.com/office/drawing/2014/main" id="{CF98D357-BD49-4A54-ABDE-00D80152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DF1D37C-3322-4E46-B500-A1B3A83D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6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D698169-8D3D-47DD-A7A0-2CCF8A3D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0282D"/>
                </a:solidFill>
              </a:rPr>
              <a:t>Generate targeted probes and retain replayable failure evidence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377255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04A670-CF35-436D-8BE2-D437436E8910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Project Overview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659ED1-2BE2-4009-8C6F-CA63898E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0282D"/>
                </a:solidFill>
              </a:rPr>
              <a:t>OptiTAC is a local compiler laboratory. Six stages connect the source program to tokens, syntax, types, intermediate code, optimization and results.</a:t>
            </a:r>
            <a:endParaRPr sz="1800"/>
          </a:p>
        </p:txBody>
      </p:sp>
      <p:sp>
        <p:nvSpPr>
          <p:cNvPr id="4" name="Card 1">
            <a:extLst xmlns:a="http://schemas.openxmlformats.org/drawingml/2006/main">
              <a:ext uri="{FF2B5EF4-FFF2-40B4-BE49-F238E27FC236}">
                <a16:creationId xmlns:a16="http://schemas.microsoft.com/office/drawing/2014/main" id="{66AAD801-D58B-4559-8607-849BB633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25603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5" name="Card accent">
            <a:extLst xmlns:a="http://schemas.openxmlformats.org/drawingml/2006/main">
              <a:ext uri="{FF2B5EF4-FFF2-40B4-BE49-F238E27FC236}">
                <a16:creationId xmlns:a16="http://schemas.microsoft.com/office/drawing/2014/main" id="{4D754031-6707-460E-A802-CE713614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1FFE1-D62B-49A6-976E-D8FA0A9F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3172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1  Compile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34DC70D-BB13-4F16-923F-1CD0A1F4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926080"/>
            <a:ext cx="215798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The scalar C/C++ subset lowers to typed three-address code.</a:t>
            </a:r>
            <a:endParaRPr sz="1400"/>
          </a:p>
        </p:txBody>
      </p:sp>
      <p:sp>
        <p:nvSpPr>
          <p:cNvPr id="8" name="Card 2">
            <a:extLst xmlns:a="http://schemas.openxmlformats.org/drawingml/2006/main">
              <a:ext uri="{FF2B5EF4-FFF2-40B4-BE49-F238E27FC236}">
                <a16:creationId xmlns:a16="http://schemas.microsoft.com/office/drawing/2014/main" id="{24864E84-1CB8-4C94-AEFB-6A1D4CE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03120"/>
            <a:ext cx="25603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9" name="Card accent">
            <a:extLst xmlns:a="http://schemas.openxmlformats.org/drawingml/2006/main">
              <a:ext uri="{FF2B5EF4-FFF2-40B4-BE49-F238E27FC236}">
                <a16:creationId xmlns:a16="http://schemas.microsoft.com/office/drawing/2014/main" id="{3B38313B-3153-496B-BBEB-12A3E075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0312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BCF3C3C-5F18-4E12-B101-18020E91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33172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2  Optimize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FB2F130-3EF2-4B84-827C-40ECEFF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926080"/>
            <a:ext cx="215798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Bounded search explores orders of four optimization passes.</a:t>
            </a:r>
            <a:endParaRPr sz="1400"/>
          </a:p>
        </p:txBody>
      </p:sp>
      <p:sp>
        <p:nvSpPr>
          <p:cNvPr id="12" name="Card 3">
            <a:extLst xmlns:a="http://schemas.openxmlformats.org/drawingml/2006/main">
              <a:ext uri="{FF2B5EF4-FFF2-40B4-BE49-F238E27FC236}">
                <a16:creationId xmlns:a16="http://schemas.microsoft.com/office/drawing/2014/main" id="{57DDB23C-BE16-46A0-8EEF-F5FDBF0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03120"/>
            <a:ext cx="25603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3" name="Card accent">
            <a:extLst xmlns:a="http://schemas.openxmlformats.org/drawingml/2006/main">
              <a:ext uri="{FF2B5EF4-FFF2-40B4-BE49-F238E27FC236}">
                <a16:creationId xmlns:a16="http://schemas.microsoft.com/office/drawing/2014/main" id="{811FCE91-F70D-487D-A466-F3D5F89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0312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753C641-BACF-4AB7-84C8-0C3D2207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33172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3  Explain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EF7E6C0-E5DF-4687-AABD-4D42B2DA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926080"/>
            <a:ext cx="215798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The system shows what changed and why it changed.</a:t>
            </a:r>
            <a:endParaRPr sz="1400"/>
          </a:p>
        </p:txBody>
      </p:sp>
      <p:sp>
        <p:nvSpPr>
          <p:cNvPr id="16" name="Card 4">
            <a:extLst xmlns:a="http://schemas.openxmlformats.org/drawingml/2006/main">
              <a:ext uri="{FF2B5EF4-FFF2-40B4-BE49-F238E27FC236}">
                <a16:creationId xmlns:a16="http://schemas.microsoft.com/office/drawing/2014/main" id="{5CFE7E6C-E150-4DF8-9EFD-6E7DD71D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103120"/>
            <a:ext cx="25603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7" name="Card accent">
            <a:extLst xmlns:a="http://schemas.openxmlformats.org/drawingml/2006/main">
              <a:ext uri="{FF2B5EF4-FFF2-40B4-BE49-F238E27FC236}">
                <a16:creationId xmlns:a16="http://schemas.microsoft.com/office/drawing/2014/main" id="{E7E562AD-1333-474B-AA83-BF774DF9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10312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8E5987C-523D-43D3-A05B-D57D2A71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33172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4  Verify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E7D3E8A-42B9-49C6-90FD-B0F52013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926080"/>
            <a:ext cx="2157984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AST and IR executions must agree on eligible test inputs.</a:t>
            </a:r>
            <a:endParaRPr sz="1400"/>
          </a:p>
        </p:txBody>
      </p:sp>
      <p:sp>
        <p:nvSpPr>
          <p:cNvPr id="20" name="Novelty banner">
            <a:extLst xmlns:a="http://schemas.openxmlformats.org/drawingml/2006/main">
              <a:ext uri="{FF2B5EF4-FFF2-40B4-BE49-F238E27FC236}">
                <a16:creationId xmlns:a16="http://schemas.microsoft.com/office/drawing/2014/main" id="{C6E2C0B5-BB61-433B-AC89-F47540CE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46320"/>
            <a:ext cx="107899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FF84DA2-6020-449D-9882-A58CA38F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7760"/>
            <a:ext cx="102412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</a:rPr>
              <a:t>Current contribution</a:t>
            </a:r>
            <a:endParaRPr sz="16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</a:rPr>
              <a:t>ML-guided optimization with targeted tests, compact witness suites and an experimental adaptive audit.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806128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B47D89E-ADE3-4B28-AA24-D1CF5D7BAD79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Supported Language and Example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A6FBBE4-F030-4E65-BFB8-2B93E08E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Illustrative scalar program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0794DB3-F8A7-409A-A612-39368A2D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66928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int main() {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    int a = 4;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    int b = a * 2 + 1;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    int c = b + 10;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    return c;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800">
                <a:solidFill>
                  <a:schemeClr val="bg1">
                    <a:lumMod val="10000"/>
                  </a:schemeClr>
                </a:solidFill>
                <a:latin typeface="Courier New"/>
                <a:ea typeface="Courier New"/>
                <a:cs typeface="Courier New"/>
              </a:rPr>
              <a:t>}</a:t>
            </a:r>
            <a:endParaRPr sz="1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E27C7E-9B20-40F0-B4D3-002BA445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2344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Language features</a:t>
            </a:r>
            <a:endParaRPr sz="1300"/>
          </a:p>
        </p:txBody>
      </p:sp>
      <p:sp>
        <p:nvSpPr>
          <p:cNvPr id="7" name="Feature 1">
            <a:extLst xmlns:a="http://schemas.openxmlformats.org/drawingml/2006/main">
              <a:ext uri="{FF2B5EF4-FFF2-40B4-BE49-F238E27FC236}">
                <a16:creationId xmlns:a16="http://schemas.microsoft.com/office/drawing/2014/main" id="{86814D7F-41FC-4F60-9BF2-463B3653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45920"/>
            <a:ext cx="42976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22F05F-D51B-4127-BE99-174AA83D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773936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Types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69F836B-D193-4852-9E8D-2FF9A07A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21408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int, float, double, bool, char</a:t>
            </a:r>
            <a:endParaRPr sz="1400"/>
          </a:p>
        </p:txBody>
      </p:sp>
      <p:sp>
        <p:nvSpPr>
          <p:cNvPr id="10" name="Feature 2">
            <a:extLst xmlns:a="http://schemas.openxmlformats.org/drawingml/2006/main">
              <a:ext uri="{FF2B5EF4-FFF2-40B4-BE49-F238E27FC236}">
                <a16:creationId xmlns:a16="http://schemas.microsoft.com/office/drawing/2014/main" id="{5804A8B5-DAAB-4376-9A6C-1CFC9A1F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88920"/>
            <a:ext cx="42976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F22BC6B-13F0-424B-92B0-D7413C4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916936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Operators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E50EA3-2FBA-426B-B016-8F373376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264408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Arithmetic, comparison, logical, bitwise</a:t>
            </a:r>
            <a:endParaRPr sz="1400"/>
          </a:p>
        </p:txBody>
      </p:sp>
      <p:sp>
        <p:nvSpPr>
          <p:cNvPr id="13" name="Feature 3">
            <a:extLst xmlns:a="http://schemas.openxmlformats.org/drawingml/2006/main">
              <a:ext uri="{FF2B5EF4-FFF2-40B4-BE49-F238E27FC236}">
                <a16:creationId xmlns:a16="http://schemas.microsoft.com/office/drawing/2014/main" id="{8B1B7B90-C326-4005-892C-96DAD52E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931920"/>
            <a:ext cx="42976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40EFBC7-861A-4591-B3BA-A3653C27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059936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Statements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4A8EEE-5D5F-4A0B-90A7-2C23E4AE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407408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Branches, loops, scalar functions and I/O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79BC13-1FF9-46C7-8F69-D0054BC4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6636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Visual execution excludes pointers, arrays, classes and templates. GCC artifacts support broader syntax separately.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763302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BD0B0AC-7C82-4D93-B3EC-97CC9C324783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Architecture and Status</a:t>
            </a:r>
            <a:endParaRPr sz="2600"/>
          </a:p>
        </p:txBody>
      </p:sp>
      <p:sp>
        <p:nvSpPr>
          <p:cNvPr id="3" name="Stage 1">
            <a:extLst xmlns:a="http://schemas.openxmlformats.org/drawingml/2006/main">
              <a:ext uri="{FF2B5EF4-FFF2-40B4-BE49-F238E27FC236}">
                <a16:creationId xmlns:a16="http://schemas.microsoft.com/office/drawing/2014/main" id="{24D5D740-CC8E-417B-A12D-D8CF3FE8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9920958-12A8-480E-98D2-0D07665B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Source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(C/C++)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09010E-3F62-4A9F-89B9-7E2B6361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6" name="Stage 2">
            <a:extLst xmlns:a="http://schemas.openxmlformats.org/drawingml/2006/main">
              <a:ext uri="{FF2B5EF4-FFF2-40B4-BE49-F238E27FC236}">
                <a16:creationId xmlns:a16="http://schemas.microsoft.com/office/drawing/2014/main" id="{65EC7829-5CA7-45CD-9838-2229C27F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D76F720-9868-4440-99CB-F2C87873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Lexer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E5540F5-DE69-4F62-87CE-67183533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9" name="Stage 3">
            <a:extLst xmlns:a="http://schemas.openxmlformats.org/drawingml/2006/main">
              <a:ext uri="{FF2B5EF4-FFF2-40B4-BE49-F238E27FC236}">
                <a16:creationId xmlns:a16="http://schemas.microsoft.com/office/drawing/2014/main" id="{219457C5-8956-4C12-8179-9CE2D66F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D624B27-60A4-4C70-994D-578494B6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Parser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(AST)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D509D61-3FEE-44F0-8C64-0084C71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2" name="Stage 4">
            <a:extLst xmlns:a="http://schemas.openxmlformats.org/drawingml/2006/main">
              <a:ext uri="{FF2B5EF4-FFF2-40B4-BE49-F238E27FC236}">
                <a16:creationId xmlns:a16="http://schemas.microsoft.com/office/drawing/2014/main" id="{508AC975-B397-4262-A357-09A3FDA1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EAD22B6-1912-41B9-81DE-AC1C43F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Semantic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Analysis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C241C05-C270-4519-B749-0FC2CEEA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5" name="Stage 5">
            <a:extLst xmlns:a="http://schemas.openxmlformats.org/drawingml/2006/main">
              <a:ext uri="{FF2B5EF4-FFF2-40B4-BE49-F238E27FC236}">
                <a16:creationId xmlns:a16="http://schemas.microsoft.com/office/drawing/2014/main" id="{7F765C31-EE5D-4B32-AD3F-8D0C57CD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B1D9BB3-3855-4AFF-A3EB-BF302AFA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TAC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0282D"/>
                </a:solidFill>
              </a:rPr>
              <a:t>Generator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61DB0BA-59EA-4F51-B6F9-1D145A6D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8" name="Stage 6">
            <a:extLst xmlns:a="http://schemas.openxmlformats.org/drawingml/2006/main">
              <a:ext uri="{FF2B5EF4-FFF2-40B4-BE49-F238E27FC236}">
                <a16:creationId xmlns:a16="http://schemas.microsoft.com/office/drawing/2014/main" id="{5C2884B6-28F8-4F6B-8428-DDF389DC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D283D9-82E0-4AFA-97D4-A7D3DDA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Optimizer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EB5B140-BA5F-473A-A552-FAD6E26D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325880"/>
            <a:ext cx="228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21" name="Stage 7">
            <a:extLst xmlns:a="http://schemas.openxmlformats.org/drawingml/2006/main">
              <a:ext uri="{FF2B5EF4-FFF2-40B4-BE49-F238E27FC236}">
                <a16:creationId xmlns:a16="http://schemas.microsoft.com/office/drawing/2014/main" id="{716787D4-85F2-4FFB-9B81-3D42BD8F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325880"/>
            <a:ext cx="1371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5875">
            <a:solidFill>
              <a:srgbClr val="31586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2DC07DF-DC38-4A5A-A32A-04D37DFE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325880"/>
            <a:ext cx="1371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Executor &amp;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Verifier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65A46E5-B6F0-431E-A41F-DD8E85EB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28600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31586D"/>
                </a:solidFill>
              </a:rPr>
              <a:t>Local analysis and bounded interpretation</a:t>
            </a:r>
            <a:endParaRPr sz="1100"/>
          </a:p>
        </p:txBody>
      </p:sp>
      <p:graphicFrame>
        <p:nvGraphicFramePr>
          <p:cNvPr id="24" name="Table 0">
            <a:extLst xmlns:a="http://schemas.openxmlformats.org/drawingml/2006/main">
              <a:ext uri="{FF2B5EF4-FFF2-40B4-BE49-F238E27FC236}">
                <a16:creationId xmlns:a16="http://schemas.microsoft.com/office/drawing/2014/main" id="{F0BDB78A-6E6F-4F2B-AFB7-50A140E47751}"/>
              </a:ext>
            </a:extLst>
          </p:cNvPr>
          <p:cNvGraphicFramePr/>
          <p:nvPr/>
        </p:nvGraphicFramePr>
        <p:xfrm>
          <a:off xmlns:a="http://schemas.openxmlformats.org/drawingml/2006/main" x="594360" y="2651760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91840"/>
                <a:gridCol w="5852160"/>
                <a:gridCol w="18288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does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Lexer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Positioned tokens and source selection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Parser + AST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Grammar, precedence and syntax tree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Semantic analysis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Lexical scopes and type checks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Typed IR + flow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TAC, basic blocks and liveness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Optimizer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Four passes with guarded route search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31586D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Execution + audit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AST/IR comparison and targeted probes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4781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8A30AC-E41A-4042-A951-B842C94B4657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From Source to Three-Address Code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2D385F-7390-4F06-BC8B-A0981037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8747B"/>
                </a:solidFill>
              </a:rPr>
              <a:t>Example statement:  </a:t>
            </a:r>
            <a:r>
              <a:rPr sz="1600" b="1">
                <a:solidFill>
                  <a:srgbClr val="20282D"/>
                </a:solidFill>
                <a:latin typeface="Courier New"/>
                <a:ea typeface="Courier New"/>
                <a:cs typeface="Courier New"/>
              </a:rPr>
              <a:t>int b = a * 2 + 1;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ED9CB7F-B959-4B2B-B085-0FAF37D4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1. Tokens</a:t>
            </a:r>
            <a:endParaRPr sz="1300"/>
          </a:p>
        </p:txBody>
      </p:sp>
      <p:sp>
        <p:nvSpPr>
          <p:cNvPr id="5" name="1. Tokens block">
            <a:extLst xmlns:a="http://schemas.openxmlformats.org/drawingml/2006/main">
              <a:ext uri="{FF2B5EF4-FFF2-40B4-BE49-F238E27FC236}">
                <a16:creationId xmlns:a16="http://schemas.microsoft.com/office/drawing/2014/main" id="{5FAD3615-D7EC-46FF-A6C7-27B8F023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38328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44BB93D-4281-45FE-830B-BE0D2C7A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301752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INT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ID(b)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ASSIGN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ID(a)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MUL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NUM(2)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PLUS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NUM(1)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SEMI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302F66-4C9A-49E3-B029-8B14A818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600"/>
            <a:ext cx="3383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Lexer splits the text into meaningful units.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A50021B-D7F1-4F28-BC57-2B601779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7830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2. AST</a:t>
            </a:r>
            <a:endParaRPr sz="1300"/>
          </a:p>
        </p:txBody>
      </p:sp>
      <p:sp>
        <p:nvSpPr>
          <p:cNvPr id="9" name="2. AST block">
            <a:extLst xmlns:a="http://schemas.openxmlformats.org/drawingml/2006/main">
              <a:ext uri="{FF2B5EF4-FFF2-40B4-BE49-F238E27FC236}">
                <a16:creationId xmlns:a16="http://schemas.microsoft.com/office/drawing/2014/main" id="{0F56BB99-E63E-4130-9D44-9BAD6F7B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48840"/>
            <a:ext cx="338328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7E8AF4D-C254-456E-9934-D0FDCC68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86000"/>
            <a:ext cx="301752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Decl(b)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Add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Mul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  a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  2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1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E47A7B9-C680-469E-8BD7-2036F0F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800600"/>
            <a:ext cx="3383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Parser captures structure and operator precedence.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ABD8007-F8C6-4C2C-A5C2-9B501305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7830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3. TAC</a:t>
            </a:r>
            <a:endParaRPr sz="1300"/>
          </a:p>
        </p:txBody>
      </p:sp>
      <p:sp>
        <p:nvSpPr>
          <p:cNvPr id="13" name="3. TAC block">
            <a:extLst xmlns:a="http://schemas.openxmlformats.org/drawingml/2006/main">
              <a:ext uri="{FF2B5EF4-FFF2-40B4-BE49-F238E27FC236}">
                <a16:creationId xmlns:a16="http://schemas.microsoft.com/office/drawing/2014/main" id="{3BAC9332-BA24-48A3-93E3-9D20271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148840"/>
            <a:ext cx="338328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76B01AB-B78F-4F81-84BC-2DF0B472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286000"/>
            <a:ext cx="301752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t1 = a * 2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t2 = t1 + 1</a:t>
            </a:r>
            <a:endParaRPr sz="14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b = t2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64626B8-AA2C-494D-B3CF-A9A56A3A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00600"/>
            <a:ext cx="3383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At most one operator per instruction, easy to optimize.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9184852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6A4446-3E56-441E-82F2-497BC1614794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Optimization Techniques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DE22DF5-CF3D-4C7B-9076-971ADC9C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8747B"/>
                </a:solidFill>
              </a:rPr>
              <a:t>Four implemented passes operate on typed IR. Every eligible candidate must pass observation checks.</a:t>
            </a:r>
            <a:endParaRPr sz="1600"/>
          </a:p>
        </p:txBody>
      </p:sp>
      <p:graphicFrame>
        <p:nvGraphicFramePr>
          <p:cNvPr id="9" name="Table 0">
            <a:extLst xmlns:a="http://schemas.openxmlformats.org/drawingml/2006/main">
              <a:ext uri="{FF2B5EF4-FFF2-40B4-BE49-F238E27FC236}">
                <a16:creationId xmlns:a16="http://schemas.microsoft.com/office/drawing/2014/main" id="{742347CA-349F-45C2-A92E-01BC88BCB19D}"/>
              </a:ext>
            </a:extLst>
          </p:cNvPr>
          <p:cNvGraphicFramePr/>
          <p:nvPr/>
        </p:nvGraphicFramePr>
        <p:xfrm>
          <a:off xmlns:a="http://schemas.openxmlformats.org/drawingml/2006/main" x="640080" y="1783080"/>
          <a:ext xmlns:a="http://schemas.openxmlformats.org/drawingml/2006/main" cx="1088136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4114800"/>
                <a:gridCol w="3291840"/>
                <a:gridCol w="1097280"/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/ condition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Conditional constants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Propagate known values and fold typed expressions.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Known a = 4 gives a * 2 = 8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Reachability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Remove instructions in unreachable blocks.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Constant-false branch becomes unreachable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Dead temporaries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Remove safe unused literals and copies.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Keep effects and potentially failing operations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68747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Jump cleanup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Simplify redundant control-flow instructions.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Remove an unnecessary jump to the next label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68747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4561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722D45-7435-4D29-8A11-676639CF9760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Illustrative TAC Transformation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E438DB-7740-4DE7-857F-1BA1D748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Original TAC</a:t>
            </a:r>
            <a:endParaRPr sz="1300"/>
          </a:p>
        </p:txBody>
      </p:sp>
      <p:sp>
        <p:nvSpPr>
          <p:cNvPr id="4" name="Original TAC">
            <a:extLst xmlns:a="http://schemas.openxmlformats.org/drawingml/2006/main">
              <a:ext uri="{FF2B5EF4-FFF2-40B4-BE49-F238E27FC236}">
                <a16:creationId xmlns:a16="http://schemas.microsoft.com/office/drawing/2014/main" id="{A16AD14A-6DEB-4CDC-A92D-0ECBC4D4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12064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8DAF775-6EDE-4D1E-9335-65D29F29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475488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1  a = 4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2  t1 = a * 2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3  t2 = t1 + 1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4  b = t2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5  t3 = b + 10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6  c = t3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0A29A"/>
                </a:solidFill>
                <a:latin typeface="Courier New"/>
                <a:ea typeface="Courier New"/>
                <a:cs typeface="Courier New"/>
              </a:rPr>
              <a:t>7  return c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8479DDA-4E79-4D72-989D-42B18496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887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After Constant Propagation and Folding</a:t>
            </a:r>
            <a:endParaRPr sz="1300"/>
          </a:p>
        </p:txBody>
      </p:sp>
      <p:sp>
        <p:nvSpPr>
          <p:cNvPr id="7" name="Optimized TAC">
            <a:extLst xmlns:a="http://schemas.openxmlformats.org/drawingml/2006/main">
              <a:ext uri="{FF2B5EF4-FFF2-40B4-BE49-F238E27FC236}">
                <a16:creationId xmlns:a16="http://schemas.microsoft.com/office/drawing/2014/main" id="{F699A1B0-2667-45BF-92A5-2D656BB0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54480"/>
            <a:ext cx="521208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CAC449-FCCA-42AD-AE07-D391B0FA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91640"/>
            <a:ext cx="484632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1  a = 4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2  t1 = 8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3  t2 = 9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4  b = 9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5  t3 = 19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6  c = 19</a:t>
            </a:r>
            <a:endParaRPr sz="16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7  return 19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1397B4-8C20-4A3F-9674-1135F846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663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1586D"/>
                </a:solidFill>
              </a:rPr>
              <a:t>This teaching example isolates propagation and folding. The active pipeline also removes unreachable code and safe unused temporaries. IR instruction count is not measured runtime.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536346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323F4F-A3A4-49C9-9B98-28FA554DDBBE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Optimization Log: Before, After, Reason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B3D356-4DDC-43D5-82B3-02847097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68747B"/>
                </a:solidFill>
              </a:rPr>
              <a:t>Every transformation is recorded so the user can see what changed and why.</a:t>
            </a:r>
            <a:endParaRPr sz="1500"/>
          </a:p>
        </p:txBody>
      </p:sp>
      <p:graphicFrame>
        <p:nvGraphicFramePr>
          <p:cNvPr id="11" name="Table 0">
            <a:extLst xmlns:a="http://schemas.openxmlformats.org/drawingml/2006/main">
              <a:ext uri="{FF2B5EF4-FFF2-40B4-BE49-F238E27FC236}">
                <a16:creationId xmlns:a16="http://schemas.microsoft.com/office/drawing/2014/main" id="{721A155C-2E1F-4116-8BAD-0FF18A5395E0}"/>
              </a:ext>
            </a:extLst>
          </p:cNvPr>
          <p:cNvGraphicFramePr/>
          <p:nvPr/>
        </p:nvGraphicFramePr>
        <p:xfrm>
          <a:off xmlns:a="http://schemas.openxmlformats.org/drawingml/2006/main" x="640080" y="1600200"/>
          <a:ext xmlns:a="http://schemas.openxmlformats.org/drawingml/2006/main" cx="10881360" cy="424281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22960"/>
                <a:gridCol w="2926080"/>
                <a:gridCol w="4023360"/>
                <a:gridCol w="3108960"/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Optimization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→ After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Propagation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t1 = a * 2  →  t1 = 4 * 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a is known to be 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Folding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t1 = 4 * 2  →  t1 = 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Both operands are constants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Propagation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t2 = t1 + 1  →  t2 = 8 + 1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t1 is now the constant 8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Folding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t2 = 8 + 1  →  t2 = 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Both operands are constants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Propagation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t3 = b + 10  →  t3 = 9 + 10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b holds the constant 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Folding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t3 = 9 + 10  →  t3 = 19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Both operands are constants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Propagation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return c  →  return 19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 holds the constant 19</a:t>
                      </a:r>
                      <a:endParaRPr sz="14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3435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3DBB3C-D1C8-4FA3-9B7E-B08E454C639B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Optimization Dependency Analysis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5D09ED-BBD3-472A-8727-4A84A577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0282D"/>
                </a:solidFill>
              </a:rPr>
              <a:t>Propagation exposes constants for folding. Logs and omitted-pass replays help explain the selected route.</a:t>
            </a:r>
            <a:endParaRPr sz="1600"/>
          </a:p>
        </p:txBody>
      </p:sp>
      <p:sp>
        <p:nvSpPr>
          <p:cNvPr id="4" name="Chain node 1">
            <a:extLst xmlns:a="http://schemas.openxmlformats.org/drawingml/2006/main">
              <a:ext uri="{FF2B5EF4-FFF2-40B4-BE49-F238E27FC236}">
                <a16:creationId xmlns:a16="http://schemas.microsoft.com/office/drawing/2014/main" id="{2D8BEDF2-4B9C-480B-BC89-21BDC75B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0B15862-9DC6-40D9-9F12-198D25B1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ConstProp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a → 4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A637AE2-88F9-49CB-BFDB-01DD5763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7" name="Chain node 2">
            <a:extLst xmlns:a="http://schemas.openxmlformats.org/drawingml/2006/main">
              <a:ext uri="{FF2B5EF4-FFF2-40B4-BE49-F238E27FC236}">
                <a16:creationId xmlns:a16="http://schemas.microsoft.com/office/drawing/2014/main" id="{C61E0045-2427-4432-A005-932EAA0C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1F2207-0332-4292-9C99-FF06A76E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ConstFold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t1 = 8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5C32468-57D6-434A-9708-9AF82C96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0" name="Chain node 3">
            <a:extLst xmlns:a="http://schemas.openxmlformats.org/drawingml/2006/main">
              <a:ext uri="{FF2B5EF4-FFF2-40B4-BE49-F238E27FC236}">
                <a16:creationId xmlns:a16="http://schemas.microsoft.com/office/drawing/2014/main" id="{841B7630-F888-4A96-8680-6FC7F402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3B4195-0691-43E2-AA8A-85E6CA5B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ConstProp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t1 → t2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F13FE0D-75AB-4E85-ACB5-6961ADDE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3" name="Chain node 4">
            <a:extLst xmlns:a="http://schemas.openxmlformats.org/drawingml/2006/main">
              <a:ext uri="{FF2B5EF4-FFF2-40B4-BE49-F238E27FC236}">
                <a16:creationId xmlns:a16="http://schemas.microsoft.com/office/drawing/2014/main" id="{C3A8A713-529A-4529-B638-399725F2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1335DA-BB6B-4677-8778-FB6C7D32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ConstFold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t2 = 9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6A1F55C-CA5B-4FCF-85B9-95ED285E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6" name="Chain node 5">
            <a:extLst xmlns:a="http://schemas.openxmlformats.org/drawingml/2006/main">
              <a:ext uri="{FF2B5EF4-FFF2-40B4-BE49-F238E27FC236}">
                <a16:creationId xmlns:a16="http://schemas.microsoft.com/office/drawing/2014/main" id="{7436C25A-1411-4768-AC07-4DCAC146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8476FD4-0680-48A1-A870-D5B69BA7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ConstProp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b → t3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F711D9D-F413-476E-9FF3-6BF02D6D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19" name="Chain node 6">
            <a:extLst xmlns:a="http://schemas.openxmlformats.org/drawingml/2006/main">
              <a:ext uri="{FF2B5EF4-FFF2-40B4-BE49-F238E27FC236}">
                <a16:creationId xmlns:a16="http://schemas.microsoft.com/office/drawing/2014/main" id="{64D2E1F7-B396-4878-BA45-08038AE1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81ADEB4-99F0-4E1D-A437-6C87D707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ConstFold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t3 = 19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780BDC8-81F6-47D6-8E5D-18A03400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783080"/>
            <a:ext cx="228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1586D"/>
                </a:solidFill>
              </a:rPr>
              <a:t>›</a:t>
            </a:r>
            <a:endParaRPr sz="2000"/>
          </a:p>
        </p:txBody>
      </p:sp>
      <p:sp>
        <p:nvSpPr>
          <p:cNvPr id="22" name="Chain node 7">
            <a:extLst xmlns:a="http://schemas.openxmlformats.org/drawingml/2006/main">
              <a:ext uri="{FF2B5EF4-FFF2-40B4-BE49-F238E27FC236}">
                <a16:creationId xmlns:a16="http://schemas.microsoft.com/office/drawing/2014/main" id="{956E60E0-0C0D-4336-9406-FE76A9B9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783080"/>
            <a:ext cx="1371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3901F53-A4F1-4961-8CE2-60F10431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783080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ConstProp</a:t>
            </a:r>
            <a:endParaRPr sz="1600"/>
          </a:p>
          <a:p xmlns:a="http://schemas.openxmlformats.org/drawingml/2006/main">
            <a:pPr marL="0" indent="0" algn="ctr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</a:rPr>
              <a:t>c → return</a:t>
            </a:r>
            <a:endParaRPr sz="16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A2DCA24-198D-42C3-9477-E91228A6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747B"/>
                </a:solidFill>
              </a:rPr>
              <a:t>Each step in our example was made possible by the step before it.</a:t>
            </a:r>
            <a:endParaRPr sz="1300"/>
          </a:p>
        </p:txBody>
      </p:sp>
      <p:graphicFrame>
        <p:nvGraphicFramePr>
          <p:cNvPr id="26" name="Table 0">
            <a:extLst xmlns:a="http://schemas.openxmlformats.org/drawingml/2006/main">
              <a:ext uri="{FF2B5EF4-FFF2-40B4-BE49-F238E27FC236}">
                <a16:creationId xmlns:a16="http://schemas.microsoft.com/office/drawing/2014/main" id="{F2F45F4E-7256-447A-B181-3BD805CC2230}"/>
              </a:ext>
            </a:extLst>
          </p:cNvPr>
          <p:cNvGraphicFramePr/>
          <p:nvPr/>
        </p:nvGraphicFramePr>
        <p:xfrm>
          <a:off xmlns:a="http://schemas.openxmlformats.org/drawingml/2006/main" x="640080" y="3337560"/>
          <a:ext xmlns:a="http://schemas.openxmlformats.org/drawingml/2006/main" cx="10881360" cy="25603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468880"/>
                <a:gridCol w="4937760"/>
                <a:gridCol w="1005840"/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Enabler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Enables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propagation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folding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Known operands allow compile-time evaluation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Constant folding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Further propagation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A folded result becomes a new constant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2E7D5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Known branch condition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Reachability cleanup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A constant condition can make a block unreachable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68747B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endParaRPr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5492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7327E5-83D6-4A80-9618-CEF6CDF9EAE5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Behavior Validation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BA2284-BE14-4A36-9E08-0174BC7E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0282D"/>
                </a:solidFill>
              </a:rPr>
              <a:t>OptiTAC compares the AST reference, original IR and selected IR on eligible inputs.</a:t>
            </a:r>
            <a:endParaRPr sz="1600"/>
          </a:p>
        </p:txBody>
      </p:sp>
      <p:sp>
        <p:nvSpPr>
          <p:cNvPr id="4" name="Verify step 1">
            <a:extLst xmlns:a="http://schemas.openxmlformats.org/drawingml/2006/main">
              <a:ext uri="{FF2B5EF4-FFF2-40B4-BE49-F238E27FC236}">
                <a16:creationId xmlns:a16="http://schemas.microsoft.com/office/drawing/2014/main" id="{082BBBFA-EDF6-4537-9149-295BD4CC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32918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EA35C1-2BDB-4E97-A6C2-B16F150E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1586D"/>
                </a:solidFill>
              </a:rPr>
              <a:t>AST + original IR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C8514B5-7D1C-4F7F-B2E2-BDAB1BB2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First check agreement between source and original IR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34864C-C974-48A3-918D-EDCDEDD1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783080"/>
            <a:ext cx="5029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31586D"/>
                </a:solidFill>
              </a:rPr>
              <a:t>›</a:t>
            </a:r>
            <a:endParaRPr sz="2200"/>
          </a:p>
        </p:txBody>
      </p:sp>
      <p:sp>
        <p:nvSpPr>
          <p:cNvPr id="8" name="Verify step 2">
            <a:extLst xmlns:a="http://schemas.openxmlformats.org/drawingml/2006/main">
              <a:ext uri="{FF2B5EF4-FFF2-40B4-BE49-F238E27FC236}">
                <a16:creationId xmlns:a16="http://schemas.microsoft.com/office/drawing/2014/main" id="{D4B9D90B-465D-4476-83FC-AA31D098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783080"/>
            <a:ext cx="32918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AE5E7B4-08F5-4A5B-BDA8-84DE1469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2024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1586D"/>
                </a:solidFill>
              </a:rPr>
              <a:t>Selected IR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86D5D94-B4FB-40BE-B7E7-1E41093D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42316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Run each candidate in the bounded interpreter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074C21E-A803-4041-A73C-FA7A068B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783080"/>
            <a:ext cx="5029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31586D"/>
                </a:solidFill>
              </a:rPr>
              <a:t>›</a:t>
            </a:r>
            <a:endParaRPr sz="2200"/>
          </a:p>
        </p:txBody>
      </p:sp>
      <p:sp>
        <p:nvSpPr>
          <p:cNvPr id="12" name="Verify step 3">
            <a:extLst xmlns:a="http://schemas.openxmlformats.org/drawingml/2006/main">
              <a:ext uri="{FF2B5EF4-FFF2-40B4-BE49-F238E27FC236}">
                <a16:creationId xmlns:a16="http://schemas.microsoft.com/office/drawing/2014/main" id="{C41C9800-4BA0-4C5D-AF8A-6EFDF30F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83080"/>
            <a:ext cx="32918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E56C64E-94C2-4D81-A35D-98661990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92024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1586D"/>
                </a:solidFill>
              </a:rPr>
              <a:t>Compare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DA8948B-7DB8-47F6-A5FE-886FD0A3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42316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B"/>
                </a:solidFill>
              </a:rPr>
              <a:t>Compare stdout and typed return values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79C0D9-5E00-4E2D-A5DD-F02E21EE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Sample verdict for our example</a:t>
            </a:r>
            <a:endParaRPr sz="1300"/>
          </a:p>
        </p:txBody>
      </p:sp>
      <p:sp>
        <p:nvSpPr>
          <p:cNvPr id="16" name="Verdict">
            <a:extLst xmlns:a="http://schemas.openxmlformats.org/drawingml/2006/main">
              <a:ext uri="{FF2B5EF4-FFF2-40B4-BE49-F238E27FC236}">
                <a16:creationId xmlns:a16="http://schemas.microsoft.com/office/drawing/2014/main" id="{FF77F04E-6F34-43A4-BAB8-B2B62055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667512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226"/>
          </a:solidFill>
          <a:ln xmlns:a="http://schemas.openxmlformats.org/drawingml/2006/main" w="12700">
            <a:solidFill>
              <a:srgbClr val="1B222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035CFEA-4D13-417A-9733-39C0786A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63093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AST / original IR : 19</a:t>
            </a:r>
            <a:endParaRPr sz="15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Selected IR       : 19</a:t>
            </a:r>
            <a:endParaRPr sz="15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t/>
            </a:r>
            <a:endParaRPr sz="15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 b="1">
                <a:solidFill>
                  <a:srgbClr val="8FD6A6"/>
                </a:solidFill>
                <a:latin typeface="Courier New"/>
                <a:ea typeface="Courier New"/>
                <a:cs typeface="Courier New"/>
              </a:rPr>
              <a:t>PASS on this defined input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BB7E81-EFCD-4C33-A6D9-4E559567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747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1586D"/>
                </a:solidFill>
              </a:rPr>
              <a:t>Validation limits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491641D-1C6F-41F1-8040-A54C473E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40480"/>
            <a:ext cx="37490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>
                <a:solidFill>
                  <a:srgbClr val="20282D"/>
                </a:solidFill>
              </a:rPr>
              <a:t>Up to 12 supplied inputs and 8 generated probes</a:t>
            </a:r>
            <a:endParaRPr sz="14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>
                <a:solidFill>
                  <a:srgbClr val="20282D"/>
                </a:solidFill>
              </a:rPr>
              <a:t>Undefined or limited runs are inconclusive</a:t>
            </a:r>
            <a:endParaRPr sz="14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400">
                <a:solidFill>
                  <a:srgbClr val="20282D"/>
                </a:solidFill>
              </a:rPr>
              <a:t>Finite checks do not prove equivalence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753822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ACB1C1-6A2D-40A9-BFFB-15D33D2ADBA2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Budgeted Adaptive Validation</a:t>
            </a:r>
            <a:endParaRPr sz="2600"/>
          </a:p>
        </p:txBody>
      </p:sp>
      <p:sp>
        <p:nvSpPr>
          <p:cNvPr id="3" name="Card 1">
            <a:extLst xmlns:a="http://schemas.openxmlformats.org/drawingml/2006/main">
              <a:ext uri="{FF2B5EF4-FFF2-40B4-BE49-F238E27FC236}">
                <a16:creationId xmlns:a16="http://schemas.microsoft.com/office/drawing/2014/main" id="{9AFBA3E4-99D6-43F6-85B3-BCDDF312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4" name="Card accent">
            <a:extLst xmlns:a="http://schemas.openxmlformats.org/drawingml/2006/main">
              <a:ext uri="{FF2B5EF4-FFF2-40B4-BE49-F238E27FC236}">
                <a16:creationId xmlns:a16="http://schemas.microsoft.com/office/drawing/2014/main" id="{33D19F36-A724-452D-B005-6A29ADF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37FEFB-4255-4CDD-8ACB-6EE276B4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002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Online scheduling</a:t>
            </a:r>
            <a:endParaRPr sz="17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281F07F-75B2-4BDD-96D4-8AAA51A4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945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Supplied inputs have priority. Untried generators receive exploration priority, then observed evidence per step guides selection.</a:t>
            </a:r>
            <a:endParaRPr sz="1400"/>
          </a:p>
        </p:txBody>
      </p:sp>
      <p:sp>
        <p:nvSpPr>
          <p:cNvPr id="7" name="Card 2">
            <a:extLst xmlns:a="http://schemas.openxmlformats.org/drawingml/2006/main">
              <a:ext uri="{FF2B5EF4-FFF2-40B4-BE49-F238E27FC236}">
                <a16:creationId xmlns:a16="http://schemas.microsoft.com/office/drawing/2014/main" id="{38B459B6-98F1-41EF-A3EC-AC1F4C23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3716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8" name="Card accent">
            <a:extLst xmlns:a="http://schemas.openxmlformats.org/drawingml/2006/main">
              <a:ext uri="{FF2B5EF4-FFF2-40B4-BE49-F238E27FC236}">
                <a16:creationId xmlns:a16="http://schemas.microsoft.com/office/drawing/2014/main" id="{B1566912-807E-49F2-BDDA-E8440C8D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3716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FC3DD17-6A07-418A-890D-8792B002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6002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Execution budget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F171398-80BB-4B93-9D99-160B6844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945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The experimental audit reserves a complete comparison row before each input. Default limit: 64 executions, up to 500 steps each.</a:t>
            </a:r>
            <a:endParaRPr sz="1400"/>
          </a:p>
        </p:txBody>
      </p:sp>
      <p:sp>
        <p:nvSpPr>
          <p:cNvPr id="11" name="Card 3">
            <a:extLst xmlns:a="http://schemas.openxmlformats.org/drawingml/2006/main">
              <a:ext uri="{FF2B5EF4-FFF2-40B4-BE49-F238E27FC236}">
                <a16:creationId xmlns:a16="http://schemas.microsoft.com/office/drawing/2014/main" id="{AEA60722-43F7-4769-9D59-E8CF918D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371600"/>
            <a:ext cx="34290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2" name="Card accent">
            <a:extLst xmlns:a="http://schemas.openxmlformats.org/drawingml/2006/main">
              <a:ext uri="{FF2B5EF4-FFF2-40B4-BE49-F238E27FC236}">
                <a16:creationId xmlns:a16="http://schemas.microsoft.com/office/drawing/2014/main" id="{D06BFBFB-079E-46DA-BFE4-19417093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371600"/>
            <a:ext cx="3429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E82002-654D-4A7C-B471-26EB52E1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600200"/>
            <a:ext cx="3026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Evidence trail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CDF44C3-A525-43D9-881E-D6A5649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194560"/>
            <a:ext cx="3026664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The UI and JSON export record scheduling decisions, measured work and untested inputs. Selection uses observed rows only.</a:t>
            </a:r>
            <a:endParaRPr sz="1400"/>
          </a:p>
        </p:txBody>
      </p:sp>
      <p:sp>
        <p:nvSpPr>
          <p:cNvPr id="15" name="USP banner">
            <a:extLst xmlns:a="http://schemas.openxmlformats.org/drawingml/2006/main">
              <a:ext uri="{FF2B5EF4-FFF2-40B4-BE49-F238E27FC236}">
                <a16:creationId xmlns:a16="http://schemas.microsoft.com/office/drawing/2014/main" id="{8ACC3401-A1C1-464A-B2F6-0DEF59F6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107899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E5D0EBA-76E5-4E58-A048-B000F9DE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0560"/>
            <a:ext cx="10241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Full audit remains the default. Reduced budgets can miss faults.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4657404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DFC8F2-2EEE-4B79-8976-70AD763E11B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Adaptive Audit: Recorded Pilot</a:t>
            </a:r>
            <a:endParaRPr sz="2600"/>
          </a:p>
        </p:txBody>
      </p:sp>
      <p:graphicFrame>
        <p:nvGraphicFramePr>
          <p:cNvPr id="15" name="Table 0">
            <a:extLst xmlns:a="http://schemas.openxmlformats.org/drawingml/2006/main">
              <a:ext uri="{FF2B5EF4-FFF2-40B4-BE49-F238E27FC236}">
                <a16:creationId xmlns:a16="http://schemas.microsoft.com/office/drawing/2014/main" id="{3DABC3E8-9D2A-405C-B040-B16625B999EC}"/>
              </a:ext>
            </a:extLst>
          </p:cNvPr>
          <p:cNvGraphicFramePr/>
          <p:nvPr/>
        </p:nvGraphicFramePr>
        <p:xfrm>
          <a:off xmlns:a="http://schemas.openxmlformats.org/drawingml/2006/main" x="640080" y="1371600"/>
          <a:ext xmlns:a="http://schemas.openxmlformats.org/drawingml/2006/main" cx="10881360" cy="46085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94960"/>
                <a:gridCol w="2743200"/>
                <a:gridCol w="2743200"/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 / measure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Faults / 120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Planning steps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31586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Full finite pool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110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269,760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Fixed order, budget 64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109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166,194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Adaptive, budget 64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109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166,194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Bounded vs full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One fewer detected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38.4% fewer steps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Adaptive vs fixed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Tied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Same measured work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Study scope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Synthetic corpus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0282D"/>
                          </a:solidFill>
                          <a:latin typeface="Arial"/>
                          <a:ea typeface="Arial"/>
                          <a:cs typeface="Arial"/>
                        </a:rPr>
                        <a:t>No wall-clock claim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09728" marR="109728" marT="45720" marB="45720" anchor="ctr">
                    <a:lnL w="9525" cmpd="sng">
                      <a:solidFill>
                        <a:srgbClr val="D5D9DB"/>
                      </a:solidFill>
                      <a:prstDash val="solid"/>
                    </a:lnL>
                    <a:lnR w="9525" cmpd="sng">
                      <a:solidFill>
                        <a:srgbClr val="D5D9DB"/>
                      </a:solidFill>
                      <a:prstDash val="solid"/>
                    </a:lnR>
                    <a:lnT w="9525" cmpd="sng">
                      <a:solidFill>
                        <a:srgbClr val="D5D9DB"/>
                      </a:solidFill>
                      <a:prstDash val="solid"/>
                    </a:lnT>
                    <a:lnB w="9525" cmpd="sng">
                      <a:solidFill>
                        <a:srgbClr val="D5D9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06046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0B5339F-6C3F-4392-BA96-22DFDD45B8C9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Current Demonstration Workflow</a:t>
            </a:r>
            <a:endParaRPr sz="2600"/>
          </a:p>
        </p:txBody>
      </p:sp>
      <p:sp>
        <p:nvSpPr>
          <p:cNvPr id="3" name="Plan row 1">
            <a:extLst xmlns:a="http://schemas.openxmlformats.org/drawingml/2006/main">
              <a:ext uri="{FF2B5EF4-FFF2-40B4-BE49-F238E27FC236}">
                <a16:creationId xmlns:a16="http://schemas.microsoft.com/office/drawing/2014/main" id="{FC817818-B4A0-4360-9E6E-B669866F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8813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4" name="Plan label 1">
            <a:extLst xmlns:a="http://schemas.openxmlformats.org/drawingml/2006/main">
              <a:ext uri="{FF2B5EF4-FFF2-40B4-BE49-F238E27FC236}">
                <a16:creationId xmlns:a16="http://schemas.microsoft.com/office/drawing/2014/main" id="{B1DE7071-0EE6-4E50-8985-FD595A1B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20116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BAE8AD-4771-4C1D-B190-5182FB6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20116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</a:rPr>
              <a:t>1.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4883946-4B43-49D3-99D8-42FCE07F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463040"/>
            <a:ext cx="8412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0282D"/>
                </a:solidFill>
              </a:rPr>
              <a:t>Analyze a scalar C/C++ program. Inspect typed IR, the ML advisor, pass routes and AST/IR behavior comparisons.</a:t>
            </a:r>
            <a:endParaRPr sz="1600"/>
          </a:p>
        </p:txBody>
      </p:sp>
      <p:sp>
        <p:nvSpPr>
          <p:cNvPr id="7" name="Plan row 2">
            <a:extLst xmlns:a="http://schemas.openxmlformats.org/drawingml/2006/main">
              <a:ext uri="{FF2B5EF4-FFF2-40B4-BE49-F238E27FC236}">
                <a16:creationId xmlns:a16="http://schemas.microsoft.com/office/drawing/2014/main" id="{9AB3361B-D2C2-4054-B7A7-B2211635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108813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8" name="Plan label 2">
            <a:extLst xmlns:a="http://schemas.openxmlformats.org/drawingml/2006/main">
              <a:ext uri="{FF2B5EF4-FFF2-40B4-BE49-F238E27FC236}">
                <a16:creationId xmlns:a16="http://schemas.microsoft.com/office/drawing/2014/main" id="{34DF88EE-1709-447B-ABE4-B5FF7EA2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0116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159E08-8CC1-45BD-A2CA-319AC666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0116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</a:rPr>
              <a:t>2.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1CC2E90-1712-4DA2-8258-ABF4DB55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926080"/>
            <a:ext cx="8412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0282D"/>
                </a:solidFill>
              </a:rPr>
              <a:t>Under Input cases &amp; search settings, keep Audit validation blind spots enabled and select Budgeted adaptive audit (experimental).</a:t>
            </a:r>
            <a:endParaRPr sz="1600"/>
          </a:p>
        </p:txBody>
      </p:sp>
      <p:sp>
        <p:nvSpPr>
          <p:cNvPr id="11" name="Plan row 3">
            <a:extLst xmlns:a="http://schemas.openxmlformats.org/drawingml/2006/main">
              <a:ext uri="{FF2B5EF4-FFF2-40B4-BE49-F238E27FC236}">
                <a16:creationId xmlns:a16="http://schemas.microsoft.com/office/drawing/2014/main" id="{DB2216D5-5E3C-4187-B761-6EB5E789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108813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2" name="Plan label 3">
            <a:extLst xmlns:a="http://schemas.openxmlformats.org/drawingml/2006/main">
              <a:ext uri="{FF2B5EF4-FFF2-40B4-BE49-F238E27FC236}">
                <a16:creationId xmlns:a16="http://schemas.microsoft.com/office/drawing/2014/main" id="{86C7BD12-9412-43CE-9870-0690058F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20116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D89882E-5149-4D72-B770-5AD57CEB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20116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</a:rPr>
              <a:t>3.</a:t>
            </a:r>
            <a:endParaRPr sz="1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7731580-E280-4CEC-8AA7-5B7CFC5D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389120"/>
            <a:ext cx="84124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20282D"/>
                </a:solidFill>
              </a:rPr>
              <a:t>Open Optimize and inspect the adaptive evidence trail, remaining inputs and selected witnesses. Export JSON to retain the scheduling trace.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0215259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015A52-2408-4A60-A58C-7526E295BBC9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36576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1"/>
                </a:solidFill>
              </a:rPr>
              <a:t>Limitations and Future Work</a:t>
            </a:r>
            <a:endParaRPr sz="2600"/>
          </a:p>
        </p:txBody>
      </p:sp>
      <p:sp>
        <p:nvSpPr>
          <p:cNvPr id="3" name="Card 1">
            <a:extLst xmlns:a="http://schemas.openxmlformats.org/drawingml/2006/main">
              <a:ext uri="{FF2B5EF4-FFF2-40B4-BE49-F238E27FC236}">
                <a16:creationId xmlns:a16="http://schemas.microsoft.com/office/drawing/2014/main" id="{2444F0B8-5166-448D-B583-0A5718F5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25603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4" name="Card accent">
            <a:extLst xmlns:a="http://schemas.openxmlformats.org/drawingml/2006/main">
              <a:ext uri="{FF2B5EF4-FFF2-40B4-BE49-F238E27FC236}">
                <a16:creationId xmlns:a16="http://schemas.microsoft.com/office/drawing/2014/main" id="{9A007092-BB1C-411B-A974-2BE79EC0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8D32B2-1FB2-436E-8E56-45F1C030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0020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Language scope</a:t>
            </a:r>
            <a:endParaRPr sz="17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044249-E452-4E03-9914-114881C7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94560"/>
            <a:ext cx="2157984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Extend beyond the scalar visual subset with explicit semantics for additional C/C++ constructs.</a:t>
            </a:r>
            <a:endParaRPr sz="1400"/>
          </a:p>
        </p:txBody>
      </p:sp>
      <p:sp>
        <p:nvSpPr>
          <p:cNvPr id="7" name="Card 2">
            <a:extLst xmlns:a="http://schemas.openxmlformats.org/drawingml/2006/main">
              <a:ext uri="{FF2B5EF4-FFF2-40B4-BE49-F238E27FC236}">
                <a16:creationId xmlns:a16="http://schemas.microsoft.com/office/drawing/2014/main" id="{2962FF2F-ED0C-46C5-94B4-C603F61D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5603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8" name="Card accent">
            <a:extLst xmlns:a="http://schemas.openxmlformats.org/drawingml/2006/main">
              <a:ext uri="{FF2B5EF4-FFF2-40B4-BE49-F238E27FC236}">
                <a16:creationId xmlns:a16="http://schemas.microsoft.com/office/drawing/2014/main" id="{E497893B-CE07-4B07-BFE4-FC49236B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9DDB7B-B83C-493F-B063-FAD8147F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60020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Independent tests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8889F08-CA4D-4DAE-8F2A-63563D04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194560"/>
            <a:ext cx="2157984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Compare multiple audit budgets and seeds on independent programs. The current adaptive pilot ties fixed ordering.</a:t>
            </a:r>
            <a:endParaRPr sz="1400"/>
          </a:p>
        </p:txBody>
      </p:sp>
      <p:sp>
        <p:nvSpPr>
          <p:cNvPr id="11" name="Card 3">
            <a:extLst xmlns:a="http://schemas.openxmlformats.org/drawingml/2006/main">
              <a:ext uri="{FF2B5EF4-FFF2-40B4-BE49-F238E27FC236}">
                <a16:creationId xmlns:a16="http://schemas.microsoft.com/office/drawing/2014/main" id="{AA0F29B5-059F-4E1B-881A-9720D687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71600"/>
            <a:ext cx="25603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2" name="Card accent">
            <a:extLst xmlns:a="http://schemas.openxmlformats.org/drawingml/2006/main">
              <a:ext uri="{FF2B5EF4-FFF2-40B4-BE49-F238E27FC236}">
                <a16:creationId xmlns:a16="http://schemas.microsoft.com/office/drawing/2014/main" id="{1FF8088E-FF72-48DA-9EFA-F95AB1D7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7160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0145017-0A82-4F87-8DD4-4DE9BD9E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0020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Stronger assurance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9C9F97E-346B-494A-9298-CEC8E349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194560"/>
            <a:ext cx="2157984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Reduce shared-oracle risk. Finite tests and a static-cost proxy cannot establish universal correctness or runtime speedup.</a:t>
            </a:r>
            <a:endParaRPr sz="1400"/>
          </a:p>
        </p:txBody>
      </p:sp>
      <p:sp>
        <p:nvSpPr>
          <p:cNvPr id="15" name="Card 4">
            <a:extLst xmlns:a="http://schemas.openxmlformats.org/drawingml/2006/main">
              <a:ext uri="{FF2B5EF4-FFF2-40B4-BE49-F238E27FC236}">
                <a16:creationId xmlns:a16="http://schemas.microsoft.com/office/drawing/2014/main" id="{DC47150F-A2BA-4290-B821-2640D66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371600"/>
            <a:ext cx="25603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9DB"/>
            </a:solidFill>
            <a:prstDash val="solid"/>
          </a:ln>
        </p:spPr>
      </p:sp>
      <p:sp>
        <p:nvSpPr>
          <p:cNvPr id="16" name="Card accent">
            <a:extLst xmlns:a="http://schemas.openxmlformats.org/drawingml/2006/main">
              <a:ext uri="{FF2B5EF4-FFF2-40B4-BE49-F238E27FC236}">
                <a16:creationId xmlns:a16="http://schemas.microsoft.com/office/drawing/2014/main" id="{1675D77D-9BCB-46B0-B6C2-AB059952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371600"/>
            <a:ext cx="25603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97C4137-EC87-448E-8302-D5358149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1600200"/>
            <a:ext cx="21579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1586D"/>
                </a:solidFill>
              </a:rPr>
              <a:t>Learning study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268A16-96AB-4334-B97D-499B62F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194560"/>
            <a:ext cx="2157984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0282D"/>
                </a:solidFill>
              </a:rPr>
              <a:t>Measure whether students understand compiler stages and pass interactions better after using the tool.</a:t>
            </a:r>
            <a:endParaRPr sz="1400"/>
          </a:p>
        </p:txBody>
      </p:sp>
      <p:sp>
        <p:nvSpPr>
          <p:cNvPr id="19" name="Goal banner">
            <a:extLst xmlns:a="http://schemas.openxmlformats.org/drawingml/2006/main">
              <a:ext uri="{FF2B5EF4-FFF2-40B4-BE49-F238E27FC236}">
                <a16:creationId xmlns:a16="http://schemas.microsoft.com/office/drawing/2014/main" id="{EF20C1E4-F790-401D-8F71-33EB08F8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7899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D"/>
          </a:solidFill>
          <a:ln xmlns:a="http://schemas.openxmlformats.org/drawingml/2006/main" w="12700">
            <a:solidFill>
              <a:srgbClr val="31586D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F68926F-2EFC-40A7-B7CB-653FD53F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4880"/>
            <a:ext cx="102412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The latest audit makes validation work and unresolved evidence visible alongside compiler transformations.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186168874"/>
      </p:ext>
    </p:extLst>
  </p:cSld>
</p:sld>
</file>

<file path=ppt/theme/theme1.xml><?xml version="1.0" encoding="utf-8"?>
<a:theme xmlns:a="http://schemas.openxmlformats.org/drawingml/2006/main" name="OptiTAC">
  <a:themeElements>
    <a:clrScheme name="OptiTAC">
      <a:dk1>
        <a:srgbClr val="20282D"/>
      </a:dk1>
      <a:lt1>
        <a:srgbClr val="FAFAF7"/>
      </a:lt1>
      <a:dk2>
        <a:srgbClr val="31586D"/>
      </a:dk2>
      <a:lt2>
        <a:srgbClr val="FFFFFF"/>
      </a:lt2>
      <a:accent1>
        <a:srgbClr val="31586D"/>
      </a:accent1>
      <a:accent2>
        <a:srgbClr val="68747B"/>
      </a:accent2>
      <a:accent3>
        <a:srgbClr val="2E7D5B"/>
      </a:accent3>
      <a:accent4>
        <a:srgbClr val="B5483A"/>
      </a:accent4>
      <a:accent5>
        <a:srgbClr val="1B2226"/>
      </a:accent5>
      <a:accent6>
        <a:srgbClr val="D5D9DB"/>
      </a:accent6>
      <a:hlink>
        <a:srgbClr val="31586D"/>
      </a:hlink>
      <a:folHlink>
        <a:srgbClr val="68747B"/>
      </a:folHlink>
    </a:clrScheme>
    <a:fontScheme name="OptiTA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ptiTAC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2026-10-29T10:59:00.9160000Z</dcterms:created>
  <dcterms:modified xsi:type="dcterms:W3CDTF">2026-10-29T10:59:00.9170000Z</dcterms:modified>
</coreProperties>
</file>
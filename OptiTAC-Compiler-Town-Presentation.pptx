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spatial compiler-learning portal with deterministic compilation, a local ML pass scout, and inspectable optimization evidence. All visual evidence is captured from the local project on 23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Compiler stages are often taught as separate definitions or a single before/after output. The design is intended to support exploration; improved learner outcomes have not been measured in a participant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Pipeline Express is a visual replay of a completed compilation, not a wall-clock performance visualization. It supports play, pause, rewind and direct selection. Failed stages retain earlier artifacts.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lexer emits token kind, lexeme, line and column. Whitespace is skipped. EOF is explicit. Identifiers are not checked for declaration until semantic analysis. Select tokens to inspect the classification and position.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recursive-descent parser implements initialized declarations and return expressions. Multiplication, division and remainder bind before addition and subtraction. Parentheses change the subtree. Unary minus is not implemented; use 0 - 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Semantic analysis tracks declared symbols and initialization. It rejects duplicate declarations, undeclared names and float-to-int narrowing; int-to-float widening is allowed. Runtime arithmetic still follows JavaScript Number rather than fixed-width C integer semantics.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AST traversal lowers expressions to assign, binary and return instructions. Reserved $t temporary names cannot collide with source identifiers. IDs stay attached through rewrites and removals.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 order is fixed. Selected passes repeat until unchanged or ten rounds. The UI reports convergence. Instruction count is not execution speed. Division and remainder operations that may trap remain observable.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snapshot is deep-copied. Logs include before/after TAC, pass/round, instruction IDs, modifications/removals, rewrite explanations, original-versus-current outcomes, and an execution trace with variable states. The first divergent checkpoint is not a formal root-cause proof.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int apples=8; int unused=apples/0; return apples; must still fail after optimization under this interpreter. This is not a claim about C undefined behavior. Successful observations use Object.is; failures compare error messages.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omission analysis reruns the entire selected pipeline without one pass. Deltas include interactions, are not additive and do not measure runtime speedup. Fault injection is excluded from these comparisons. Zero can indicate compensation or no applicability.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reference: https://scikit-learn.org/stable/modules/neighbors.html. The application uses its own TypeScript k-nearest-neighbor implementation; it does not depend on scikit-learn. It predicts isolated-pass rewrite counts, not safety, runtime or global optimal pass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features: total instructions, constant assignments, copy assignments, constant binary expressions, repeated expressions, unused targets, divisions/remainders. Training-only mean/std scale the features. Distance-weighted means use five training neighbors; exact matches share equal weight.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questions cover lexer, parser, semantics, TAC, optimization, verification and ML. Correct answers award unique passport stamps; wrong answers explain the concept and allow another attempt. Stamps persist in localStorage if available. Visiting places is tracked separately and does not award knowledge stamps. Tools never require an unlock.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npm test; npm run build; npm run lint; scripts/town-browser.mjs. Independent arithmetic expressions cover 60 generated source expressions across all 32 pass subsets = 1,920 program/subset cases. Sixty synthetic IR programs are checked against all five isolated passes = 300 checks. Automated tests are not proof of correctness for all inputs.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Related work: LLVM OptBisect https://llvm.org/docs/OptBisect.html; LLVM optimization remarks https://llvm.org/docs/Remarks.html; Alive2 https://github.com/AliveToolkit/alive2; nearest-neighbor regression https://scikit-learn.org/stable/modules/neighbors.html. All accessed 23 October 2026. These establish related foundations. The project does not claim to invent pass debugging, validation, kNN or gamification, and no publication acceptance or learner-outcome study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grammar is a straight-line MiniC-inspired subset with initialized int/float declarations and returns. JavaScript Number arithmetic is explicit. No branches, loops, CFG, symbolic proof or external runtime inputs are implemented. Learning-program bounds limit source and TAC size to keep trace memory readable. Research evaluation should compare baseline explanation views with the spatial workflow and add structurally grouped external datasets.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demo: launch npm run dev; open Town map; send the market order; visit Token Post, Syntax Studio and Repair Garage; play Pipeline Express; inspect the ML predictions and held-out evaluation; answer a challenge; load and compile the hidden trap; compare errors at Watchtower; toggle injected fault to show first divergence; export evidence JSON. Explain that replay is a completed-run visualization and that the seeded fault is artificial.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20DF8FA-237F-40AB-B5CD-03A1DF66D24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32B854C-4F8B-4AC2-902D-09A96344354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A3FA349-7980-4CD7-B061-AF7C9CA32D9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1DD4923-52E8-464E-AF21-8DE425AB17D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7205447-D096-466C-81EC-CA31D4B5992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EA49F49-EFD0-46F5-9141-1A8F542130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6D0ED3A-5DFF-4065-884F-D2B5B17B0F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F83E94C-B4C6-4B77-86BC-13544FE33A2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787E93C-4629-4F15-81EB-87614BA6C6D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01AF58A-2B52-490D-98EB-98D3E26396A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FFFF0D-FEFA-443D-9B7E-420BC4DFFF06}"/>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OptiTAC</a:t>
            </a:r>
          </a:p>
        </p:txBody>
      </p:sp>
      <p:sp>
        <p:nvSpPr>
          <p:cNvPr id="3" name="Rectangle 2">
            <a:extLst>
              <a:ext uri="{FF2B5EF4-FFF2-40B4-BE49-F238E27FC236}">
                <a16:creationId xmlns:a16="http://schemas.microsoft.com/office/drawing/2014/main" id="{240072DC-4A9D-4CF1-8238-CE33397F7131}"/>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5FB3065C-90EE-4951-90BA-557D7A26CD5B}"/>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01</a:t>
            </a:r>
          </a:p>
        </p:txBody>
      </p:sp>
      <p:sp>
        <p:nvSpPr>
          <p:cNvPr id="5" name="Rectangle 4">
            <a:extLst>
              <a:ext uri="{FF2B5EF4-FFF2-40B4-BE49-F238E27FC236}">
                <a16:creationId xmlns:a16="http://schemas.microsoft.com/office/drawing/2014/main" id="{C05260CA-B960-4107-99B7-90F6F784A3F6}"/>
              </a:ext>
            </a:extLst>
          </p:cNvPr>
          <p:cNvSpPr>
            <a:spLocks noGrp="1"/>
          </p:cNvSpPr>
          <p:nvPr/>
        </p:nvSpPr>
        <p:spPr>
          <a:xfrm>
            <a:off x="609600" y="1362075"/>
            <a:ext cx="4572000" cy="1381125"/>
          </a:xfrm>
          <a:prstGeom prst="rect">
            <a:avLst/>
          </a:prstGeom>
          <a:noFill/>
          <a:ln w="0">
            <a:noFill/>
          </a:ln>
        </p:spPr>
        <p:txBody>
          <a:bodyPr wrap="square" lIns="0" tIns="0" rIns="0" bIns="0" anchor="t">
            <a:noAutofit/>
          </a:bodyPr>
          <a:lstStyle>
            <a:defPPr>
              <a:defRPr sz="4950" b="0">
                <a:solidFill>
                  <a:srgbClr val="344638"/>
                </a:solidFill>
                <a:latin typeface="Georgia"/>
                <a:ea typeface="Georgia"/>
                <a:cs typeface="Georgia"/>
              </a:defRPr>
            </a:defPPr>
            <a:lvl1pPr>
              <a:buNone/>
              <a:defRPr sz="4950" b="0">
                <a:solidFill>
                  <a:srgbClr val="344638"/>
                </a:solidFill>
                <a:latin typeface="Georgia"/>
                <a:ea typeface="Georgia"/>
                <a:cs typeface="Georgia"/>
              </a:defRPr>
            </a:lvl1pPr>
            <a:lvl2pPr>
              <a:buNone/>
              <a:defRPr sz="4950" b="0">
                <a:solidFill>
                  <a:srgbClr val="344638"/>
                </a:solidFill>
                <a:latin typeface="Georgia"/>
                <a:ea typeface="Georgia"/>
                <a:cs typeface="Georgia"/>
              </a:defRPr>
            </a:lvl2pPr>
            <a:lvl3pPr>
              <a:buNone/>
              <a:defRPr sz="4950" b="0">
                <a:solidFill>
                  <a:srgbClr val="344638"/>
                </a:solidFill>
                <a:latin typeface="Georgia"/>
                <a:ea typeface="Georgia"/>
                <a:cs typeface="Georgia"/>
              </a:defRPr>
            </a:lvl3pPr>
            <a:lvl4pPr>
              <a:buNone/>
              <a:defRPr sz="4950" b="0">
                <a:solidFill>
                  <a:srgbClr val="344638"/>
                </a:solidFill>
                <a:latin typeface="Georgia"/>
                <a:ea typeface="Georgia"/>
                <a:cs typeface="Georgia"/>
              </a:defRPr>
            </a:lvl4pPr>
            <a:lvl5pPr>
              <a:buNone/>
              <a:defRPr sz="4950" b="0">
                <a:solidFill>
                  <a:srgbClr val="344638"/>
                </a:solidFill>
                <a:latin typeface="Georgia"/>
                <a:ea typeface="Georgia"/>
                <a:cs typeface="Georgia"/>
              </a:defRPr>
            </a:lvl5pPr>
            <a:lvl6pPr>
              <a:buNone/>
              <a:defRPr sz="4950" b="0">
                <a:solidFill>
                  <a:srgbClr val="344638"/>
                </a:solidFill>
                <a:latin typeface="Georgia"/>
                <a:ea typeface="Georgia"/>
                <a:cs typeface="Georgia"/>
              </a:defRPr>
            </a:lvl6pPr>
            <a:lvl7pPr>
              <a:buNone/>
              <a:defRPr sz="4950" b="0">
                <a:solidFill>
                  <a:srgbClr val="344638"/>
                </a:solidFill>
                <a:latin typeface="Georgia"/>
                <a:ea typeface="Georgia"/>
                <a:cs typeface="Georgia"/>
              </a:defRPr>
            </a:lvl7pPr>
            <a:lvl8pPr>
              <a:buNone/>
              <a:defRPr sz="4950" b="0">
                <a:solidFill>
                  <a:srgbClr val="344638"/>
                </a:solidFill>
                <a:latin typeface="Georgia"/>
                <a:ea typeface="Georgia"/>
                <a:cs typeface="Georgia"/>
              </a:defRPr>
            </a:lvl8pPr>
            <a:lvl9pPr>
              <a:buNone/>
              <a:defRPr sz="4950" b="0">
                <a:solidFill>
                  <a:srgbClr val="344638"/>
                </a:solidFill>
                <a:latin typeface="Georgia"/>
                <a:ea typeface="Georgia"/>
                <a:cs typeface="Georgia"/>
              </a:defRPr>
            </a:lvl9pPr>
          </a:lstStyle>
          <a:p>
            <a:pPr>
              <a:buNone/>
              <a:defRPr sz="4950" b="0">
                <a:solidFill>
                  <a:srgbClr val="344638"/>
                </a:solidFill>
                <a:latin typeface="Georgia"/>
                <a:ea typeface="Georgia"/>
                <a:cs typeface="Georgia"/>
              </a:defRPr>
            </a:pPr>
            <a:r>
              <a:rPr sz="4950" b="0">
                <a:solidFill>
                  <a:srgbClr val="344638"/>
                </a:solidFill>
                <a:latin typeface="Georgia"/>
                <a:ea typeface="Georgia"/>
                <a:cs typeface="Georgia"/>
              </a:rPr>
              <a:t>Compiler Town</a:t>
            </a:r>
          </a:p>
        </p:txBody>
      </p:sp>
      <p:sp>
        <p:nvSpPr>
          <p:cNvPr id="6" name="Rectangle 5">
            <a:extLst>
              <a:ext uri="{FF2B5EF4-FFF2-40B4-BE49-F238E27FC236}">
                <a16:creationId xmlns:a16="http://schemas.microsoft.com/office/drawing/2014/main" id="{9248906F-2D7E-4C36-A5B4-0F0AA7D808BC}"/>
              </a:ext>
            </a:extLst>
          </p:cNvPr>
          <p:cNvSpPr>
            <a:spLocks noGrp="1"/>
          </p:cNvSpPr>
          <p:nvPr/>
        </p:nvSpPr>
        <p:spPr>
          <a:xfrm>
            <a:off x="609600" y="2428875"/>
            <a:ext cx="4143375" cy="952500"/>
          </a:xfrm>
          <a:prstGeom prst="rect">
            <a:avLst/>
          </a:prstGeom>
          <a:noFill/>
          <a:ln w="0">
            <a:noFill/>
          </a:ln>
        </p:spPr>
        <p:txBody>
          <a:bodyPr wrap="square" lIns="0" tIns="0" rIns="0" bIns="0" anchor="t">
            <a:noAutofit/>
          </a:bodyPr>
          <a:lstStyle>
            <a:defPPr>
              <a:defRPr sz="2100" b="0">
                <a:solidFill>
                  <a:srgbClr val="6F7F62"/>
                </a:solidFill>
                <a:latin typeface="Arial"/>
                <a:ea typeface="Arial"/>
                <a:cs typeface="Arial"/>
              </a:defRPr>
            </a:defPPr>
            <a:lvl1pPr>
              <a:buNone/>
              <a:defRPr sz="2100" b="0">
                <a:solidFill>
                  <a:srgbClr val="6F7F62"/>
                </a:solidFill>
                <a:latin typeface="Arial"/>
                <a:ea typeface="Arial"/>
                <a:cs typeface="Arial"/>
              </a:defRPr>
            </a:lvl1pPr>
            <a:lvl2pPr>
              <a:buNone/>
              <a:defRPr sz="2100" b="0">
                <a:solidFill>
                  <a:srgbClr val="6F7F62"/>
                </a:solidFill>
                <a:latin typeface="Arial"/>
                <a:ea typeface="Arial"/>
                <a:cs typeface="Arial"/>
              </a:defRPr>
            </a:lvl2pPr>
            <a:lvl3pPr>
              <a:buNone/>
              <a:defRPr sz="2100" b="0">
                <a:solidFill>
                  <a:srgbClr val="6F7F62"/>
                </a:solidFill>
                <a:latin typeface="Arial"/>
                <a:ea typeface="Arial"/>
                <a:cs typeface="Arial"/>
              </a:defRPr>
            </a:lvl3pPr>
            <a:lvl4pPr>
              <a:buNone/>
              <a:defRPr sz="2100" b="0">
                <a:solidFill>
                  <a:srgbClr val="6F7F62"/>
                </a:solidFill>
                <a:latin typeface="Arial"/>
                <a:ea typeface="Arial"/>
                <a:cs typeface="Arial"/>
              </a:defRPr>
            </a:lvl4pPr>
            <a:lvl5pPr>
              <a:buNone/>
              <a:defRPr sz="2100" b="0">
                <a:solidFill>
                  <a:srgbClr val="6F7F62"/>
                </a:solidFill>
                <a:latin typeface="Arial"/>
                <a:ea typeface="Arial"/>
                <a:cs typeface="Arial"/>
              </a:defRPr>
            </a:lvl5pPr>
            <a:lvl6pPr>
              <a:buNone/>
              <a:defRPr sz="2100" b="0">
                <a:solidFill>
                  <a:srgbClr val="6F7F62"/>
                </a:solidFill>
                <a:latin typeface="Arial"/>
                <a:ea typeface="Arial"/>
                <a:cs typeface="Arial"/>
              </a:defRPr>
            </a:lvl6pPr>
            <a:lvl7pPr>
              <a:buNone/>
              <a:defRPr sz="2100" b="0">
                <a:solidFill>
                  <a:srgbClr val="6F7F62"/>
                </a:solidFill>
                <a:latin typeface="Arial"/>
                <a:ea typeface="Arial"/>
                <a:cs typeface="Arial"/>
              </a:defRPr>
            </a:lvl7pPr>
            <a:lvl8pPr>
              <a:buNone/>
              <a:defRPr sz="2100" b="0">
                <a:solidFill>
                  <a:srgbClr val="6F7F62"/>
                </a:solidFill>
                <a:latin typeface="Arial"/>
                <a:ea typeface="Arial"/>
                <a:cs typeface="Arial"/>
              </a:defRPr>
            </a:lvl8pPr>
            <a:lvl9pPr>
              <a:buNone/>
              <a:defRPr sz="2100" b="0">
                <a:solidFill>
                  <a:srgbClr val="6F7F62"/>
                </a:solidFill>
                <a:latin typeface="Arial"/>
                <a:ea typeface="Arial"/>
                <a:cs typeface="Arial"/>
              </a:defRPr>
            </a:lvl9pPr>
          </a:lstStyle>
          <a:p>
            <a:pPr>
              <a:buNone/>
              <a:defRPr sz="2100" b="0">
                <a:solidFill>
                  <a:srgbClr val="6F7F62"/>
                </a:solidFill>
                <a:latin typeface="Arial"/>
                <a:ea typeface="Arial"/>
                <a:cs typeface="Arial"/>
              </a:defRPr>
            </a:pPr>
            <a:r>
              <a:rPr sz="2100" b="0" dirty="0">
                <a:solidFill>
                  <a:srgbClr val="6F7F62"/>
                </a:solidFill>
                <a:latin typeface="Arial"/>
                <a:ea typeface="Arial"/>
                <a:cs typeface="Arial"/>
              </a:rPr>
              <a:t>Explore the pipeline.</a:t>
            </a:r>
          </a:p>
          <a:p>
            <a:pPr>
              <a:buNone/>
              <a:defRPr sz="2100" b="0">
                <a:solidFill>
                  <a:srgbClr val="6F7F62"/>
                </a:solidFill>
                <a:latin typeface="Arial"/>
                <a:ea typeface="Arial"/>
                <a:cs typeface="Arial"/>
              </a:defRPr>
            </a:pPr>
            <a:r>
              <a:rPr sz="2100" b="0" dirty="0">
                <a:solidFill>
                  <a:srgbClr val="6F7F62"/>
                </a:solidFill>
                <a:latin typeface="Arial"/>
                <a:ea typeface="Arial"/>
                <a:cs typeface="Arial"/>
              </a:rPr>
              <a:t>Question every transformation.</a:t>
            </a:r>
          </a:p>
        </p:txBody>
      </p:sp>
      <p:sp>
        <p:nvSpPr>
          <p:cNvPr id="7" name="Rectangle 6">
            <a:extLst>
              <a:ext uri="{FF2B5EF4-FFF2-40B4-BE49-F238E27FC236}">
                <a16:creationId xmlns:a16="http://schemas.microsoft.com/office/drawing/2014/main" id="{811C98F3-CCF7-4BB7-9BC8-8753C5C407AE}"/>
              </a:ext>
            </a:extLst>
          </p:cNvPr>
          <p:cNvSpPr>
            <a:spLocks noGrp="1"/>
          </p:cNvSpPr>
          <p:nvPr/>
        </p:nvSpPr>
        <p:spPr>
          <a:xfrm>
            <a:off x="619125" y="3328987"/>
            <a:ext cx="4191000" cy="952500"/>
          </a:xfrm>
          <a:prstGeom prst="rect">
            <a:avLst/>
          </a:prstGeom>
          <a:noFill/>
          <a:ln w="0">
            <a:noFill/>
          </a:ln>
        </p:spPr>
        <p:txBody>
          <a:bodyPr wrap="square" lIns="0" tIns="0" rIns="0" bIns="0" anchor="t">
            <a:noAutofit/>
          </a:bodyPr>
          <a:lstStyle>
            <a:defPPr>
              <a:defRPr sz="1725" b="0">
                <a:solidFill>
                  <a:srgbClr val="6F7F62"/>
                </a:solidFill>
                <a:latin typeface="Arial"/>
                <a:ea typeface="Arial"/>
                <a:cs typeface="Arial"/>
              </a:defRPr>
            </a:defPPr>
            <a:lvl1pPr>
              <a:buNone/>
              <a:defRPr sz="1725" b="0">
                <a:solidFill>
                  <a:srgbClr val="6F7F62"/>
                </a:solidFill>
                <a:latin typeface="Arial"/>
                <a:ea typeface="Arial"/>
                <a:cs typeface="Arial"/>
              </a:defRPr>
            </a:lvl1pPr>
            <a:lvl2pPr>
              <a:buNone/>
              <a:defRPr sz="1725" b="0">
                <a:solidFill>
                  <a:srgbClr val="6F7F62"/>
                </a:solidFill>
                <a:latin typeface="Arial"/>
                <a:ea typeface="Arial"/>
                <a:cs typeface="Arial"/>
              </a:defRPr>
            </a:lvl2pPr>
            <a:lvl3pPr>
              <a:buNone/>
              <a:defRPr sz="1725" b="0">
                <a:solidFill>
                  <a:srgbClr val="6F7F62"/>
                </a:solidFill>
                <a:latin typeface="Arial"/>
                <a:ea typeface="Arial"/>
                <a:cs typeface="Arial"/>
              </a:defRPr>
            </a:lvl3pPr>
            <a:lvl4pPr>
              <a:buNone/>
              <a:defRPr sz="1725" b="0">
                <a:solidFill>
                  <a:srgbClr val="6F7F62"/>
                </a:solidFill>
                <a:latin typeface="Arial"/>
                <a:ea typeface="Arial"/>
                <a:cs typeface="Arial"/>
              </a:defRPr>
            </a:lvl4pPr>
            <a:lvl5pPr>
              <a:buNone/>
              <a:defRPr sz="1725" b="0">
                <a:solidFill>
                  <a:srgbClr val="6F7F62"/>
                </a:solidFill>
                <a:latin typeface="Arial"/>
                <a:ea typeface="Arial"/>
                <a:cs typeface="Arial"/>
              </a:defRPr>
            </a:lvl5pPr>
            <a:lvl6pPr>
              <a:buNone/>
              <a:defRPr sz="1725" b="0">
                <a:solidFill>
                  <a:srgbClr val="6F7F62"/>
                </a:solidFill>
                <a:latin typeface="Arial"/>
                <a:ea typeface="Arial"/>
                <a:cs typeface="Arial"/>
              </a:defRPr>
            </a:lvl6pPr>
            <a:lvl7pPr>
              <a:buNone/>
              <a:defRPr sz="1725" b="0">
                <a:solidFill>
                  <a:srgbClr val="6F7F62"/>
                </a:solidFill>
                <a:latin typeface="Arial"/>
                <a:ea typeface="Arial"/>
                <a:cs typeface="Arial"/>
              </a:defRPr>
            </a:lvl7pPr>
            <a:lvl8pPr>
              <a:buNone/>
              <a:defRPr sz="1725" b="0">
                <a:solidFill>
                  <a:srgbClr val="6F7F62"/>
                </a:solidFill>
                <a:latin typeface="Arial"/>
                <a:ea typeface="Arial"/>
                <a:cs typeface="Arial"/>
              </a:defRPr>
            </a:lvl8pPr>
            <a:lvl9pPr>
              <a:buNone/>
              <a:defRPr sz="1725" b="0">
                <a:solidFill>
                  <a:srgbClr val="6F7F62"/>
                </a:solidFill>
                <a:latin typeface="Arial"/>
                <a:ea typeface="Arial"/>
                <a:cs typeface="Arial"/>
              </a:defRPr>
            </a:lvl9pPr>
          </a:lstStyle>
          <a:p>
            <a:pPr>
              <a:buNone/>
              <a:defRPr sz="1725" b="0">
                <a:solidFill>
                  <a:srgbClr val="6F7F62"/>
                </a:solidFill>
                <a:latin typeface="Arial"/>
                <a:ea typeface="Arial"/>
                <a:cs typeface="Arial"/>
              </a:defRPr>
            </a:pPr>
            <a:r>
              <a:rPr sz="1725" b="0" dirty="0">
                <a:solidFill>
                  <a:srgbClr val="6F7F62"/>
                </a:solidFill>
                <a:latin typeface="Arial"/>
                <a:ea typeface="Arial"/>
                <a:cs typeface="Arial"/>
              </a:rPr>
              <a:t>Interactive compiler learning</a:t>
            </a:r>
          </a:p>
          <a:p>
            <a:pPr>
              <a:buNone/>
              <a:defRPr sz="1725" b="0">
                <a:solidFill>
                  <a:srgbClr val="6F7F62"/>
                </a:solidFill>
                <a:latin typeface="Arial"/>
                <a:ea typeface="Arial"/>
                <a:cs typeface="Arial"/>
              </a:defRPr>
            </a:pPr>
            <a:r>
              <a:rPr sz="1725" b="0" dirty="0">
                <a:solidFill>
                  <a:srgbClr val="6F7F62"/>
                </a:solidFill>
                <a:latin typeface="Arial"/>
                <a:ea typeface="Arial"/>
                <a:cs typeface="Arial"/>
              </a:rPr>
              <a:t>with an evidence-checked ML scout</a:t>
            </a:r>
            <a:br>
              <a:rPr lang="en-US" sz="1725" b="0" dirty="0">
                <a:solidFill>
                  <a:srgbClr val="6F7F62"/>
                </a:solidFill>
                <a:latin typeface="Arial"/>
                <a:ea typeface="Arial"/>
                <a:cs typeface="Arial"/>
              </a:rPr>
            </a:br>
            <a:br>
              <a:rPr lang="en-US" sz="1725" b="0" dirty="0">
                <a:solidFill>
                  <a:srgbClr val="6F7F62"/>
                </a:solidFill>
                <a:latin typeface="Arial"/>
                <a:ea typeface="Arial"/>
                <a:cs typeface="Arial"/>
              </a:rPr>
            </a:br>
            <a:r>
              <a:rPr lang="en-US" sz="1725" b="0" dirty="0">
                <a:solidFill>
                  <a:srgbClr val="6F7F62"/>
                </a:solidFill>
                <a:latin typeface="Arial"/>
                <a:ea typeface="Arial"/>
                <a:cs typeface="Arial"/>
              </a:rPr>
              <a:t>Team:</a:t>
            </a:r>
          </a:p>
          <a:p>
            <a:pPr>
              <a:defRPr sz="1725" b="0">
                <a:solidFill>
                  <a:srgbClr val="6F7F62"/>
                </a:solidFill>
                <a:latin typeface="Arial"/>
                <a:ea typeface="Arial"/>
                <a:cs typeface="Arial"/>
              </a:defRPr>
            </a:pPr>
            <a:r>
              <a:rPr lang="en-US" dirty="0"/>
              <a:t>Archit Nigam, 24BCI0230</a:t>
            </a:r>
            <a:br>
              <a:rPr lang="en-US" dirty="0"/>
            </a:br>
            <a:r>
              <a:rPr lang="en-US" dirty="0" err="1"/>
              <a:t>Nettem</a:t>
            </a:r>
            <a:r>
              <a:rPr lang="en-US" dirty="0"/>
              <a:t> Ronith Kumar, 24BCT0285</a:t>
            </a:r>
            <a:br>
              <a:rPr lang="en-US" dirty="0"/>
            </a:br>
            <a:r>
              <a:rPr lang="en-US" dirty="0"/>
              <a:t>Pranshu Gupta, 24BCE2099</a:t>
            </a:r>
            <a:endParaRPr sz="1725" b="0" dirty="0">
              <a:solidFill>
                <a:srgbClr val="6F7F62"/>
              </a:solidFill>
              <a:latin typeface="Arial"/>
              <a:ea typeface="Arial"/>
              <a:cs typeface="Arial"/>
            </a:endParaRPr>
          </a:p>
        </p:txBody>
      </p:sp>
      <p:pic>
        <p:nvPicPr>
          <p:cNvPr id="8" name="Picture 7">
            <a:extLst>
              <a:ext uri="{FF2B5EF4-FFF2-40B4-BE49-F238E27FC236}">
                <a16:creationId xmlns:a16="http://schemas.microsoft.com/office/drawing/2014/main" id="{DEAC5968-CABC-4F1C-8A7F-47F042DA39ED}"/>
              </a:ext>
            </a:extLst>
          </p:cNvPr>
          <p:cNvPicPr>
            <a:picLocks noChangeAspect="1"/>
          </p:cNvPicPr>
          <p:nvPr/>
        </p:nvPicPr>
        <p:blipFill>
          <a:blip r:embed="rId3"/>
          <a:stretch/>
        </p:blipFill>
        <p:spPr>
          <a:xfrm>
            <a:off x="5381625" y="1427235"/>
            <a:ext cx="6191250" cy="4098780"/>
          </a:xfrm>
          <a:prstGeom prst="rect">
            <a:avLst/>
          </a:prstGeom>
        </p:spPr>
      </p:pic>
    </p:spTree>
    <p:extLst>
      <p:ext uri="{BB962C8B-B14F-4D97-AF65-F5344CB8AC3E}">
        <p14:creationId xmlns:p14="http://schemas.microsoft.com/office/powerpoint/2010/main" val="1710908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4303AB-D032-47B7-B5D8-9C683BEEF968}"/>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The learning problem</a:t>
            </a:r>
          </a:p>
        </p:txBody>
      </p:sp>
      <p:sp>
        <p:nvSpPr>
          <p:cNvPr id="3" name="Rectangle 2">
            <a:extLst>
              <a:ext uri="{FF2B5EF4-FFF2-40B4-BE49-F238E27FC236}">
                <a16:creationId xmlns:a16="http://schemas.microsoft.com/office/drawing/2014/main" id="{1E864158-1102-4343-93DB-508704AA967B}"/>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C704F1DC-49F6-4A71-A56A-581EEBA16AC6}"/>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02</a:t>
            </a:r>
          </a:p>
        </p:txBody>
      </p:sp>
      <p:sp>
        <p:nvSpPr>
          <p:cNvPr id="5" name="Rectangle 4">
            <a:extLst>
              <a:ext uri="{FF2B5EF4-FFF2-40B4-BE49-F238E27FC236}">
                <a16:creationId xmlns:a16="http://schemas.microsoft.com/office/drawing/2014/main" id="{532A6C3F-0A4E-4755-93D2-142D8B473ECB}"/>
              </a:ext>
            </a:extLst>
          </p:cNvPr>
          <p:cNvSpPr>
            <a:spLocks noGrp="1"/>
          </p:cNvSpPr>
          <p:nvPr/>
        </p:nvSpPr>
        <p:spPr>
          <a:xfrm>
            <a:off x="628650" y="1457325"/>
            <a:ext cx="10287000" cy="762000"/>
          </a:xfrm>
          <a:prstGeom prst="rect">
            <a:avLst/>
          </a:prstGeom>
          <a:noFill/>
          <a:ln w="0">
            <a:noFill/>
          </a:ln>
        </p:spPr>
        <p:txBody>
          <a:bodyPr wrap="square" lIns="0" tIns="0" rIns="0" bIns="0" anchor="t">
            <a:noAutofit/>
          </a:bodyPr>
          <a:lstStyle>
            <a:defPPr>
              <a:defRPr sz="3525" b="0">
                <a:solidFill>
                  <a:srgbClr val="344638"/>
                </a:solidFill>
                <a:latin typeface="Georgia"/>
                <a:ea typeface="Georgia"/>
                <a:cs typeface="Georgia"/>
              </a:defRPr>
            </a:defPPr>
            <a:lvl1pPr>
              <a:buNone/>
              <a:defRPr sz="3525" b="0">
                <a:solidFill>
                  <a:srgbClr val="344638"/>
                </a:solidFill>
                <a:latin typeface="Georgia"/>
                <a:ea typeface="Georgia"/>
                <a:cs typeface="Georgia"/>
              </a:defRPr>
            </a:lvl1pPr>
            <a:lvl2pPr>
              <a:buNone/>
              <a:defRPr sz="3525" b="0">
                <a:solidFill>
                  <a:srgbClr val="344638"/>
                </a:solidFill>
                <a:latin typeface="Georgia"/>
                <a:ea typeface="Georgia"/>
                <a:cs typeface="Georgia"/>
              </a:defRPr>
            </a:lvl2pPr>
            <a:lvl3pPr>
              <a:buNone/>
              <a:defRPr sz="3525" b="0">
                <a:solidFill>
                  <a:srgbClr val="344638"/>
                </a:solidFill>
                <a:latin typeface="Georgia"/>
                <a:ea typeface="Georgia"/>
                <a:cs typeface="Georgia"/>
              </a:defRPr>
            </a:lvl3pPr>
            <a:lvl4pPr>
              <a:buNone/>
              <a:defRPr sz="3525" b="0">
                <a:solidFill>
                  <a:srgbClr val="344638"/>
                </a:solidFill>
                <a:latin typeface="Georgia"/>
                <a:ea typeface="Georgia"/>
                <a:cs typeface="Georgia"/>
              </a:defRPr>
            </a:lvl4pPr>
            <a:lvl5pPr>
              <a:buNone/>
              <a:defRPr sz="3525" b="0">
                <a:solidFill>
                  <a:srgbClr val="344638"/>
                </a:solidFill>
                <a:latin typeface="Georgia"/>
                <a:ea typeface="Georgia"/>
                <a:cs typeface="Georgia"/>
              </a:defRPr>
            </a:lvl5pPr>
            <a:lvl6pPr>
              <a:buNone/>
              <a:defRPr sz="3525" b="0">
                <a:solidFill>
                  <a:srgbClr val="344638"/>
                </a:solidFill>
                <a:latin typeface="Georgia"/>
                <a:ea typeface="Georgia"/>
                <a:cs typeface="Georgia"/>
              </a:defRPr>
            </a:lvl6pPr>
            <a:lvl7pPr>
              <a:buNone/>
              <a:defRPr sz="3525" b="0">
                <a:solidFill>
                  <a:srgbClr val="344638"/>
                </a:solidFill>
                <a:latin typeface="Georgia"/>
                <a:ea typeface="Georgia"/>
                <a:cs typeface="Georgia"/>
              </a:defRPr>
            </a:lvl7pPr>
            <a:lvl8pPr>
              <a:buNone/>
              <a:defRPr sz="3525" b="0">
                <a:solidFill>
                  <a:srgbClr val="344638"/>
                </a:solidFill>
                <a:latin typeface="Georgia"/>
                <a:ea typeface="Georgia"/>
                <a:cs typeface="Georgia"/>
              </a:defRPr>
            </a:lvl8pPr>
            <a:lvl9pPr>
              <a:buNone/>
              <a:defRPr sz="3525" b="0">
                <a:solidFill>
                  <a:srgbClr val="344638"/>
                </a:solidFill>
                <a:latin typeface="Georgia"/>
                <a:ea typeface="Georgia"/>
                <a:cs typeface="Georgia"/>
              </a:defRPr>
            </a:lvl9pPr>
          </a:lstStyle>
          <a:p>
            <a:pPr>
              <a:buNone/>
              <a:defRPr sz="3525" b="0">
                <a:solidFill>
                  <a:srgbClr val="344638"/>
                </a:solidFill>
                <a:latin typeface="Georgia"/>
                <a:ea typeface="Georgia"/>
                <a:cs typeface="Georgia"/>
              </a:defRPr>
            </a:pPr>
            <a:r>
              <a:rPr sz="3525" b="0">
                <a:solidFill>
                  <a:srgbClr val="344638"/>
                </a:solidFill>
                <a:latin typeface="Georgia"/>
                <a:ea typeface="Georgia"/>
                <a:cs typeface="Georgia"/>
              </a:rPr>
              <a:t>Seeing the result is not enough.</a:t>
            </a:r>
          </a:p>
        </p:txBody>
      </p:sp>
      <p:sp>
        <p:nvSpPr>
          <p:cNvPr id="6" name="Rectangle 5">
            <a:extLst>
              <a:ext uri="{FF2B5EF4-FFF2-40B4-BE49-F238E27FC236}">
                <a16:creationId xmlns:a16="http://schemas.microsoft.com/office/drawing/2014/main" id="{7BD67675-D23E-41E5-9AE4-6FFA4231205A}"/>
              </a:ext>
            </a:extLst>
          </p:cNvPr>
          <p:cNvSpPr>
            <a:spLocks noGrp="1"/>
          </p:cNvSpPr>
          <p:nvPr/>
        </p:nvSpPr>
        <p:spPr>
          <a:xfrm>
            <a:off x="666750" y="2733675"/>
            <a:ext cx="10191750" cy="781050"/>
          </a:xfrm>
          <a:prstGeom prst="rect">
            <a:avLst/>
          </a:prstGeom>
          <a:noFill/>
          <a:ln w="0">
            <a:noFill/>
          </a:ln>
        </p:spPr>
        <p:txBody>
          <a:bodyPr wrap="square" lIns="0" tIns="0" rIns="0" bIns="0" anchor="t">
            <a:noAutofit/>
          </a:bodyPr>
          <a:lstStyle>
            <a:defPPr>
              <a:defRPr sz="2250" b="0">
                <a:solidFill>
                  <a:srgbClr val="344638"/>
                </a:solidFill>
                <a:latin typeface="Arial"/>
                <a:ea typeface="Arial"/>
                <a:cs typeface="Arial"/>
              </a:defRPr>
            </a:defPPr>
            <a:lvl1pPr>
              <a:buNone/>
              <a:defRPr sz="2250" b="0">
                <a:solidFill>
                  <a:srgbClr val="344638"/>
                </a:solidFill>
                <a:latin typeface="Arial"/>
                <a:ea typeface="Arial"/>
                <a:cs typeface="Arial"/>
              </a:defRPr>
            </a:lvl1pPr>
            <a:lvl2pPr>
              <a:buNone/>
              <a:defRPr sz="2250" b="0">
                <a:solidFill>
                  <a:srgbClr val="344638"/>
                </a:solidFill>
                <a:latin typeface="Arial"/>
                <a:ea typeface="Arial"/>
                <a:cs typeface="Arial"/>
              </a:defRPr>
            </a:lvl2pPr>
            <a:lvl3pPr>
              <a:buNone/>
              <a:defRPr sz="2250" b="0">
                <a:solidFill>
                  <a:srgbClr val="344638"/>
                </a:solidFill>
                <a:latin typeface="Arial"/>
                <a:ea typeface="Arial"/>
                <a:cs typeface="Arial"/>
              </a:defRPr>
            </a:lvl3pPr>
            <a:lvl4pPr>
              <a:buNone/>
              <a:defRPr sz="2250" b="0">
                <a:solidFill>
                  <a:srgbClr val="344638"/>
                </a:solidFill>
                <a:latin typeface="Arial"/>
                <a:ea typeface="Arial"/>
                <a:cs typeface="Arial"/>
              </a:defRPr>
            </a:lvl4pPr>
            <a:lvl5pPr>
              <a:buNone/>
              <a:defRPr sz="2250" b="0">
                <a:solidFill>
                  <a:srgbClr val="344638"/>
                </a:solidFill>
                <a:latin typeface="Arial"/>
                <a:ea typeface="Arial"/>
                <a:cs typeface="Arial"/>
              </a:defRPr>
            </a:lvl5pPr>
            <a:lvl6pPr>
              <a:buNone/>
              <a:defRPr sz="2250" b="0">
                <a:solidFill>
                  <a:srgbClr val="344638"/>
                </a:solidFill>
                <a:latin typeface="Arial"/>
                <a:ea typeface="Arial"/>
                <a:cs typeface="Arial"/>
              </a:defRPr>
            </a:lvl6pPr>
            <a:lvl7pPr>
              <a:buNone/>
              <a:defRPr sz="2250" b="0">
                <a:solidFill>
                  <a:srgbClr val="344638"/>
                </a:solidFill>
                <a:latin typeface="Arial"/>
                <a:ea typeface="Arial"/>
                <a:cs typeface="Arial"/>
              </a:defRPr>
            </a:lvl7pPr>
            <a:lvl8pPr>
              <a:buNone/>
              <a:defRPr sz="2250" b="0">
                <a:solidFill>
                  <a:srgbClr val="344638"/>
                </a:solidFill>
                <a:latin typeface="Arial"/>
                <a:ea typeface="Arial"/>
                <a:cs typeface="Arial"/>
              </a:defRPr>
            </a:lvl8pPr>
            <a:lvl9pPr>
              <a:buNone/>
              <a:defRPr sz="2250" b="0">
                <a:solidFill>
                  <a:srgbClr val="344638"/>
                </a:solidFill>
                <a:latin typeface="Arial"/>
                <a:ea typeface="Arial"/>
                <a:cs typeface="Arial"/>
              </a:defRPr>
            </a:lvl9pPr>
          </a:lstStyle>
          <a:p>
            <a:pPr>
              <a:buNone/>
              <a:defRPr sz="2250" b="0">
                <a:solidFill>
                  <a:srgbClr val="344638"/>
                </a:solidFill>
                <a:latin typeface="Arial"/>
                <a:ea typeface="Arial"/>
                <a:cs typeface="Arial"/>
              </a:defRPr>
            </a:pPr>
            <a:r>
              <a:rPr sz="2250" b="0">
                <a:solidFill>
                  <a:srgbClr val="344638"/>
                </a:solidFill>
                <a:latin typeface="Arial"/>
                <a:ea typeface="Arial"/>
                <a:cs typeface="Arial"/>
              </a:rPr>
              <a:t>Where did this artifact come from?</a:t>
            </a:r>
          </a:p>
        </p:txBody>
      </p:sp>
      <p:sp>
        <p:nvSpPr>
          <p:cNvPr id="7" name="Rectangle 6">
            <a:extLst>
              <a:ext uri="{FF2B5EF4-FFF2-40B4-BE49-F238E27FC236}">
                <a16:creationId xmlns:a16="http://schemas.microsoft.com/office/drawing/2014/main" id="{36ABEC73-0A77-402B-87AF-4CB94E440657}"/>
              </a:ext>
            </a:extLst>
          </p:cNvPr>
          <p:cNvSpPr>
            <a:spLocks noGrp="1"/>
          </p:cNvSpPr>
          <p:nvPr/>
        </p:nvSpPr>
        <p:spPr>
          <a:xfrm>
            <a:off x="666750" y="3686175"/>
            <a:ext cx="10191750" cy="781050"/>
          </a:xfrm>
          <a:prstGeom prst="rect">
            <a:avLst/>
          </a:prstGeom>
          <a:noFill/>
          <a:ln w="0">
            <a:noFill/>
          </a:ln>
        </p:spPr>
        <p:txBody>
          <a:bodyPr wrap="square" lIns="0" tIns="0" rIns="0" bIns="0" anchor="t">
            <a:noAutofit/>
          </a:bodyPr>
          <a:lstStyle>
            <a:defPPr>
              <a:defRPr sz="2250" b="0">
                <a:solidFill>
                  <a:srgbClr val="344638"/>
                </a:solidFill>
                <a:latin typeface="Arial"/>
                <a:ea typeface="Arial"/>
                <a:cs typeface="Arial"/>
              </a:defRPr>
            </a:defPPr>
            <a:lvl1pPr>
              <a:buNone/>
              <a:defRPr sz="2250" b="0">
                <a:solidFill>
                  <a:srgbClr val="344638"/>
                </a:solidFill>
                <a:latin typeface="Arial"/>
                <a:ea typeface="Arial"/>
                <a:cs typeface="Arial"/>
              </a:defRPr>
            </a:lvl1pPr>
            <a:lvl2pPr>
              <a:buNone/>
              <a:defRPr sz="2250" b="0">
                <a:solidFill>
                  <a:srgbClr val="344638"/>
                </a:solidFill>
                <a:latin typeface="Arial"/>
                <a:ea typeface="Arial"/>
                <a:cs typeface="Arial"/>
              </a:defRPr>
            </a:lvl2pPr>
            <a:lvl3pPr>
              <a:buNone/>
              <a:defRPr sz="2250" b="0">
                <a:solidFill>
                  <a:srgbClr val="344638"/>
                </a:solidFill>
                <a:latin typeface="Arial"/>
                <a:ea typeface="Arial"/>
                <a:cs typeface="Arial"/>
              </a:defRPr>
            </a:lvl3pPr>
            <a:lvl4pPr>
              <a:buNone/>
              <a:defRPr sz="2250" b="0">
                <a:solidFill>
                  <a:srgbClr val="344638"/>
                </a:solidFill>
                <a:latin typeface="Arial"/>
                <a:ea typeface="Arial"/>
                <a:cs typeface="Arial"/>
              </a:defRPr>
            </a:lvl4pPr>
            <a:lvl5pPr>
              <a:buNone/>
              <a:defRPr sz="2250" b="0">
                <a:solidFill>
                  <a:srgbClr val="344638"/>
                </a:solidFill>
                <a:latin typeface="Arial"/>
                <a:ea typeface="Arial"/>
                <a:cs typeface="Arial"/>
              </a:defRPr>
            </a:lvl5pPr>
            <a:lvl6pPr>
              <a:buNone/>
              <a:defRPr sz="2250" b="0">
                <a:solidFill>
                  <a:srgbClr val="344638"/>
                </a:solidFill>
                <a:latin typeface="Arial"/>
                <a:ea typeface="Arial"/>
                <a:cs typeface="Arial"/>
              </a:defRPr>
            </a:lvl6pPr>
            <a:lvl7pPr>
              <a:buNone/>
              <a:defRPr sz="2250" b="0">
                <a:solidFill>
                  <a:srgbClr val="344638"/>
                </a:solidFill>
                <a:latin typeface="Arial"/>
                <a:ea typeface="Arial"/>
                <a:cs typeface="Arial"/>
              </a:defRPr>
            </a:lvl7pPr>
            <a:lvl8pPr>
              <a:buNone/>
              <a:defRPr sz="2250" b="0">
                <a:solidFill>
                  <a:srgbClr val="344638"/>
                </a:solidFill>
                <a:latin typeface="Arial"/>
                <a:ea typeface="Arial"/>
                <a:cs typeface="Arial"/>
              </a:defRPr>
            </a:lvl8pPr>
            <a:lvl9pPr>
              <a:buNone/>
              <a:defRPr sz="2250" b="0">
                <a:solidFill>
                  <a:srgbClr val="344638"/>
                </a:solidFill>
                <a:latin typeface="Arial"/>
                <a:ea typeface="Arial"/>
                <a:cs typeface="Arial"/>
              </a:defRPr>
            </a:lvl9pPr>
          </a:lstStyle>
          <a:p>
            <a:pPr>
              <a:buNone/>
              <a:defRPr sz="2250" b="0">
                <a:solidFill>
                  <a:srgbClr val="344638"/>
                </a:solidFill>
                <a:latin typeface="Arial"/>
                <a:ea typeface="Arial"/>
                <a:cs typeface="Arial"/>
              </a:defRPr>
            </a:pPr>
            <a:r>
              <a:rPr sz="2250" b="0">
                <a:solidFill>
                  <a:srgbClr val="344638"/>
                </a:solidFill>
                <a:latin typeface="Arial"/>
                <a:ea typeface="Arial"/>
                <a:cs typeface="Arial"/>
              </a:rPr>
              <a:t>Why did this instruction change?</a:t>
            </a:r>
          </a:p>
        </p:txBody>
      </p:sp>
      <p:sp>
        <p:nvSpPr>
          <p:cNvPr id="8" name="Rectangle 7">
            <a:extLst>
              <a:ext uri="{FF2B5EF4-FFF2-40B4-BE49-F238E27FC236}">
                <a16:creationId xmlns:a16="http://schemas.microsoft.com/office/drawing/2014/main" id="{65A90F4D-240D-469E-8504-29CDB159CA1B}"/>
              </a:ext>
            </a:extLst>
          </p:cNvPr>
          <p:cNvSpPr>
            <a:spLocks noGrp="1"/>
          </p:cNvSpPr>
          <p:nvPr/>
        </p:nvSpPr>
        <p:spPr>
          <a:xfrm>
            <a:off x="666750" y="4638675"/>
            <a:ext cx="10191750" cy="781050"/>
          </a:xfrm>
          <a:prstGeom prst="rect">
            <a:avLst/>
          </a:prstGeom>
          <a:noFill/>
          <a:ln w="0">
            <a:noFill/>
          </a:ln>
        </p:spPr>
        <p:txBody>
          <a:bodyPr wrap="square" lIns="0" tIns="0" rIns="0" bIns="0" anchor="t">
            <a:noAutofit/>
          </a:bodyPr>
          <a:lstStyle>
            <a:defPPr>
              <a:defRPr sz="2250" b="0">
                <a:solidFill>
                  <a:srgbClr val="344638"/>
                </a:solidFill>
                <a:latin typeface="Arial"/>
                <a:ea typeface="Arial"/>
                <a:cs typeface="Arial"/>
              </a:defRPr>
            </a:defPPr>
            <a:lvl1pPr>
              <a:buNone/>
              <a:defRPr sz="2250" b="0">
                <a:solidFill>
                  <a:srgbClr val="344638"/>
                </a:solidFill>
                <a:latin typeface="Arial"/>
                <a:ea typeface="Arial"/>
                <a:cs typeface="Arial"/>
              </a:defRPr>
            </a:lvl1pPr>
            <a:lvl2pPr>
              <a:buNone/>
              <a:defRPr sz="2250" b="0">
                <a:solidFill>
                  <a:srgbClr val="344638"/>
                </a:solidFill>
                <a:latin typeface="Arial"/>
                <a:ea typeface="Arial"/>
                <a:cs typeface="Arial"/>
              </a:defRPr>
            </a:lvl2pPr>
            <a:lvl3pPr>
              <a:buNone/>
              <a:defRPr sz="2250" b="0">
                <a:solidFill>
                  <a:srgbClr val="344638"/>
                </a:solidFill>
                <a:latin typeface="Arial"/>
                <a:ea typeface="Arial"/>
                <a:cs typeface="Arial"/>
              </a:defRPr>
            </a:lvl3pPr>
            <a:lvl4pPr>
              <a:buNone/>
              <a:defRPr sz="2250" b="0">
                <a:solidFill>
                  <a:srgbClr val="344638"/>
                </a:solidFill>
                <a:latin typeface="Arial"/>
                <a:ea typeface="Arial"/>
                <a:cs typeface="Arial"/>
              </a:defRPr>
            </a:lvl4pPr>
            <a:lvl5pPr>
              <a:buNone/>
              <a:defRPr sz="2250" b="0">
                <a:solidFill>
                  <a:srgbClr val="344638"/>
                </a:solidFill>
                <a:latin typeface="Arial"/>
                <a:ea typeface="Arial"/>
                <a:cs typeface="Arial"/>
              </a:defRPr>
            </a:lvl5pPr>
            <a:lvl6pPr>
              <a:buNone/>
              <a:defRPr sz="2250" b="0">
                <a:solidFill>
                  <a:srgbClr val="344638"/>
                </a:solidFill>
                <a:latin typeface="Arial"/>
                <a:ea typeface="Arial"/>
                <a:cs typeface="Arial"/>
              </a:defRPr>
            </a:lvl6pPr>
            <a:lvl7pPr>
              <a:buNone/>
              <a:defRPr sz="2250" b="0">
                <a:solidFill>
                  <a:srgbClr val="344638"/>
                </a:solidFill>
                <a:latin typeface="Arial"/>
                <a:ea typeface="Arial"/>
                <a:cs typeface="Arial"/>
              </a:defRPr>
            </a:lvl7pPr>
            <a:lvl8pPr>
              <a:buNone/>
              <a:defRPr sz="2250" b="0">
                <a:solidFill>
                  <a:srgbClr val="344638"/>
                </a:solidFill>
                <a:latin typeface="Arial"/>
                <a:ea typeface="Arial"/>
                <a:cs typeface="Arial"/>
              </a:defRPr>
            </a:lvl8pPr>
            <a:lvl9pPr>
              <a:buNone/>
              <a:defRPr sz="2250" b="0">
                <a:solidFill>
                  <a:srgbClr val="344638"/>
                </a:solidFill>
                <a:latin typeface="Arial"/>
                <a:ea typeface="Arial"/>
                <a:cs typeface="Arial"/>
              </a:defRPr>
            </a:lvl9pPr>
          </a:lstStyle>
          <a:p>
            <a:pPr>
              <a:buNone/>
              <a:defRPr sz="2250" b="0">
                <a:solidFill>
                  <a:srgbClr val="344638"/>
                </a:solidFill>
                <a:latin typeface="Arial"/>
                <a:ea typeface="Arial"/>
                <a:cs typeface="Arial"/>
              </a:defRPr>
            </a:pPr>
            <a:r>
              <a:rPr sz="2250" b="0">
                <a:solidFill>
                  <a:srgbClr val="344638"/>
                </a:solidFill>
                <a:latin typeface="Arial"/>
                <a:ea typeface="Arial"/>
                <a:cs typeface="Arial"/>
              </a:rPr>
              <a:t>Did an optimization also change behavior?</a:t>
            </a:r>
          </a:p>
        </p:txBody>
      </p:sp>
    </p:spTree>
    <p:extLst>
      <p:ext uri="{BB962C8B-B14F-4D97-AF65-F5344CB8AC3E}">
        <p14:creationId xmlns:p14="http://schemas.microsoft.com/office/powerpoint/2010/main" val="214614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D77AFE-CACC-48F3-89C6-C65AD3C18C99}"/>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A source parcel travels through six stages</a:t>
            </a:r>
          </a:p>
        </p:txBody>
      </p:sp>
      <p:sp>
        <p:nvSpPr>
          <p:cNvPr id="3" name="Rectangle 2">
            <a:extLst>
              <a:ext uri="{FF2B5EF4-FFF2-40B4-BE49-F238E27FC236}">
                <a16:creationId xmlns:a16="http://schemas.microsoft.com/office/drawing/2014/main" id="{A3470B45-1593-4291-A7D0-F0EA38320E6E}"/>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ACD177B3-1FC6-41FB-AA73-15D674D8C002}"/>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03</a:t>
            </a:r>
          </a:p>
        </p:txBody>
      </p:sp>
      <p:sp>
        <p:nvSpPr>
          <p:cNvPr id="5" name="Rectangle 4">
            <a:extLst>
              <a:ext uri="{FF2B5EF4-FFF2-40B4-BE49-F238E27FC236}">
                <a16:creationId xmlns:a16="http://schemas.microsoft.com/office/drawing/2014/main" id="{BDF48208-9E26-4636-A166-17EEF6DD9F1B}"/>
              </a:ext>
            </a:extLst>
          </p:cNvPr>
          <p:cNvSpPr>
            <a:spLocks noGrp="1"/>
          </p:cNvSpPr>
          <p:nvPr/>
        </p:nvSpPr>
        <p:spPr>
          <a:xfrm>
            <a:off x="609600" y="1524000"/>
            <a:ext cx="400050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One source program stays attached to its artifacts.</a:t>
            </a:r>
          </a:p>
        </p:txBody>
      </p:sp>
      <p:sp>
        <p:nvSpPr>
          <p:cNvPr id="6" name="Rectangle 5">
            <a:extLst>
              <a:ext uri="{FF2B5EF4-FFF2-40B4-BE49-F238E27FC236}">
                <a16:creationId xmlns:a16="http://schemas.microsoft.com/office/drawing/2014/main" id="{E7DCC875-FE98-4EA8-9A8E-5196A4E3F934}"/>
              </a:ext>
            </a:extLst>
          </p:cNvPr>
          <p:cNvSpPr>
            <a:spLocks noGrp="1"/>
          </p:cNvSpPr>
          <p:nvPr/>
        </p:nvSpPr>
        <p:spPr>
          <a:xfrm>
            <a:off x="609600" y="2762250"/>
            <a:ext cx="400050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central express view shows the whole route without the longer teaching explanations.</a:t>
            </a:r>
          </a:p>
        </p:txBody>
      </p:sp>
      <p:sp>
        <p:nvSpPr>
          <p:cNvPr id="7" name="Rectangle 6">
            <a:extLst>
              <a:ext uri="{FF2B5EF4-FFF2-40B4-BE49-F238E27FC236}">
                <a16:creationId xmlns:a16="http://schemas.microsoft.com/office/drawing/2014/main" id="{B804A00B-85DC-41AE-BCEC-C02179DFF7D6}"/>
              </a:ext>
            </a:extLst>
          </p:cNvPr>
          <p:cNvSpPr>
            <a:spLocks noGrp="1"/>
          </p:cNvSpPr>
          <p:nvPr/>
        </p:nvSpPr>
        <p:spPr>
          <a:xfrm>
            <a:off x="609600" y="4000500"/>
            <a:ext cx="400050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Open a shop for the detailed explanation and experiments.</a:t>
            </a:r>
          </a:p>
        </p:txBody>
      </p:sp>
      <p:pic>
        <p:nvPicPr>
          <p:cNvPr id="8" name="Picture 7">
            <a:extLst>
              <a:ext uri="{FF2B5EF4-FFF2-40B4-BE49-F238E27FC236}">
                <a16:creationId xmlns:a16="http://schemas.microsoft.com/office/drawing/2014/main" id="{BD25003A-897C-4FE7-BC16-D4291FAC0347}"/>
              </a:ext>
            </a:extLst>
          </p:cNvPr>
          <p:cNvPicPr>
            <a:picLocks noChangeAspect="1"/>
          </p:cNvPicPr>
          <p:nvPr/>
        </p:nvPicPr>
        <p:blipFill>
          <a:blip r:embed="rId3"/>
          <a:stretch/>
        </p:blipFill>
        <p:spPr>
          <a:xfrm>
            <a:off x="5048250" y="1440277"/>
            <a:ext cx="6524624" cy="4406071"/>
          </a:xfrm>
          <a:prstGeom prst="rect">
            <a:avLst/>
          </a:prstGeom>
        </p:spPr>
      </p:pic>
    </p:spTree>
    <p:extLst>
      <p:ext uri="{BB962C8B-B14F-4D97-AF65-F5344CB8AC3E}">
        <p14:creationId xmlns:p14="http://schemas.microsoft.com/office/powerpoint/2010/main" val="155795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30F246-94E5-493D-A627-2B69556AD3CF}"/>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Token Post / lexical analysis</a:t>
            </a:r>
          </a:p>
        </p:txBody>
      </p:sp>
      <p:sp>
        <p:nvSpPr>
          <p:cNvPr id="3" name="Rectangle 2">
            <a:extLst>
              <a:ext uri="{FF2B5EF4-FFF2-40B4-BE49-F238E27FC236}">
                <a16:creationId xmlns:a16="http://schemas.microsoft.com/office/drawing/2014/main" id="{CAFB4C7F-C186-40D2-AED9-C811D02C0581}"/>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FD536DC7-307A-42A0-8467-75F3E1F00585}"/>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04</a:t>
            </a:r>
          </a:p>
        </p:txBody>
      </p:sp>
      <p:sp>
        <p:nvSpPr>
          <p:cNvPr id="5" name="Rectangle 4">
            <a:extLst>
              <a:ext uri="{FF2B5EF4-FFF2-40B4-BE49-F238E27FC236}">
                <a16:creationId xmlns:a16="http://schemas.microsoft.com/office/drawing/2014/main" id="{6DF8FB68-B707-47FF-96D2-524789EF97C3}"/>
              </a:ext>
            </a:extLst>
          </p:cNvPr>
          <p:cNvSpPr>
            <a:spLocks noGrp="1"/>
          </p:cNvSpPr>
          <p:nvPr/>
        </p:nvSpPr>
        <p:spPr>
          <a:xfrm>
            <a:off x="609600" y="147637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Characters become keywords, identifiers, literals and punctuation.</a:t>
            </a:r>
          </a:p>
        </p:txBody>
      </p:sp>
      <p:sp>
        <p:nvSpPr>
          <p:cNvPr id="6" name="Rectangle 5">
            <a:extLst>
              <a:ext uri="{FF2B5EF4-FFF2-40B4-BE49-F238E27FC236}">
                <a16:creationId xmlns:a16="http://schemas.microsoft.com/office/drawing/2014/main" id="{C6401EFE-6714-4D23-9218-8ADBC659C379}"/>
              </a:ext>
            </a:extLst>
          </p:cNvPr>
          <p:cNvSpPr>
            <a:spLocks noGrp="1"/>
          </p:cNvSpPr>
          <p:nvPr/>
        </p:nvSpPr>
        <p:spPr>
          <a:xfrm>
            <a:off x="609600" y="2762250"/>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Select a token to inspect its spelling and source location.</a:t>
            </a:r>
          </a:p>
        </p:txBody>
      </p:sp>
      <p:sp>
        <p:nvSpPr>
          <p:cNvPr id="7" name="Rectangle 6">
            <a:extLst>
              <a:ext uri="{FF2B5EF4-FFF2-40B4-BE49-F238E27FC236}">
                <a16:creationId xmlns:a16="http://schemas.microsoft.com/office/drawing/2014/main" id="{B1D66EA8-AE5D-4343-92B3-DDB2DDB28AC1}"/>
              </a:ext>
            </a:extLst>
          </p:cNvPr>
          <p:cNvSpPr>
            <a:spLocks noGrp="1"/>
          </p:cNvSpPr>
          <p:nvPr/>
        </p:nvSpPr>
        <p:spPr>
          <a:xfrm>
            <a:off x="609600" y="404812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complete token ledger is available in an expandable section.</a:t>
            </a:r>
          </a:p>
        </p:txBody>
      </p:sp>
      <p:pic>
        <p:nvPicPr>
          <p:cNvPr id="8" name="Picture 7">
            <a:extLst>
              <a:ext uri="{FF2B5EF4-FFF2-40B4-BE49-F238E27FC236}">
                <a16:creationId xmlns:a16="http://schemas.microsoft.com/office/drawing/2014/main" id="{4B53E90C-420D-49A2-A161-292936468B19}"/>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2070496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0F52BF-7998-4CB3-BABF-6ED1C6480C01}"/>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Syntax Studio / parsing and AST</a:t>
            </a:r>
          </a:p>
        </p:txBody>
      </p:sp>
      <p:sp>
        <p:nvSpPr>
          <p:cNvPr id="3" name="Rectangle 2">
            <a:extLst>
              <a:ext uri="{FF2B5EF4-FFF2-40B4-BE49-F238E27FC236}">
                <a16:creationId xmlns:a16="http://schemas.microsoft.com/office/drawing/2014/main" id="{DEE7E41F-7069-46C9-903D-4C64F536414B}"/>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F8DE63C2-25C0-415B-B9DC-5CE43628A67B}"/>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05</a:t>
            </a:r>
          </a:p>
        </p:txBody>
      </p:sp>
      <p:sp>
        <p:nvSpPr>
          <p:cNvPr id="5" name="Rectangle 4">
            <a:extLst>
              <a:ext uri="{FF2B5EF4-FFF2-40B4-BE49-F238E27FC236}">
                <a16:creationId xmlns:a16="http://schemas.microsoft.com/office/drawing/2014/main" id="{249FF152-86E9-45EB-8794-15E16D12231D}"/>
              </a:ext>
            </a:extLst>
          </p:cNvPr>
          <p:cNvSpPr>
            <a:spLocks noGrp="1"/>
          </p:cNvSpPr>
          <p:nvPr/>
        </p:nvSpPr>
        <p:spPr>
          <a:xfrm>
            <a:off x="609600" y="1476375"/>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parser checks grammar and builds a navigable abstract syntax tree.</a:t>
            </a:r>
          </a:p>
        </p:txBody>
      </p:sp>
      <p:sp>
        <p:nvSpPr>
          <p:cNvPr id="6" name="Rectangle 5">
            <a:extLst>
              <a:ext uri="{FF2B5EF4-FFF2-40B4-BE49-F238E27FC236}">
                <a16:creationId xmlns:a16="http://schemas.microsoft.com/office/drawing/2014/main" id="{448BD408-F75E-42AE-8075-B9DBDE4773AE}"/>
              </a:ext>
            </a:extLst>
          </p:cNvPr>
          <p:cNvSpPr>
            <a:spLocks noGrp="1"/>
          </p:cNvSpPr>
          <p:nvPr/>
        </p:nvSpPr>
        <p:spPr>
          <a:xfrm>
            <a:off x="609600" y="2762250"/>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Operator precedence is visible in parent and child nodes.</a:t>
            </a:r>
          </a:p>
        </p:txBody>
      </p:sp>
      <p:sp>
        <p:nvSpPr>
          <p:cNvPr id="7" name="Rectangle 6">
            <a:extLst>
              <a:ext uri="{FF2B5EF4-FFF2-40B4-BE49-F238E27FC236}">
                <a16:creationId xmlns:a16="http://schemas.microsoft.com/office/drawing/2014/main" id="{F98584D6-2955-4FD0-943B-DA29E8793652}"/>
              </a:ext>
            </a:extLst>
          </p:cNvPr>
          <p:cNvSpPr>
            <a:spLocks noGrp="1"/>
          </p:cNvSpPr>
          <p:nvPr/>
        </p:nvSpPr>
        <p:spPr>
          <a:xfrm>
            <a:off x="609600" y="4048125"/>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Broken syntax stops this stage while the token artifact remains available.</a:t>
            </a:r>
          </a:p>
        </p:txBody>
      </p:sp>
      <p:pic>
        <p:nvPicPr>
          <p:cNvPr id="8" name="Picture 7">
            <a:extLst>
              <a:ext uri="{FF2B5EF4-FFF2-40B4-BE49-F238E27FC236}">
                <a16:creationId xmlns:a16="http://schemas.microsoft.com/office/drawing/2014/main" id="{0866A3AA-3F39-4A41-AAE9-FB2CA48C8070}"/>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2015609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597E4B-9D2F-4A5A-881D-01AE23257E2E}"/>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Type Registry / semantic analysis</a:t>
            </a:r>
          </a:p>
        </p:txBody>
      </p:sp>
      <p:sp>
        <p:nvSpPr>
          <p:cNvPr id="3" name="Rectangle 2">
            <a:extLst>
              <a:ext uri="{FF2B5EF4-FFF2-40B4-BE49-F238E27FC236}">
                <a16:creationId xmlns:a16="http://schemas.microsoft.com/office/drawing/2014/main" id="{CC188863-2C66-4C22-A5E3-D74C7D02E36E}"/>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078F5C3B-613C-469A-B610-16EF96364C93}"/>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06</a:t>
            </a:r>
          </a:p>
        </p:txBody>
      </p:sp>
      <p:sp>
        <p:nvSpPr>
          <p:cNvPr id="5" name="Rectangle 4">
            <a:extLst>
              <a:ext uri="{FF2B5EF4-FFF2-40B4-BE49-F238E27FC236}">
                <a16:creationId xmlns:a16="http://schemas.microsoft.com/office/drawing/2014/main" id="{FB609EF3-5C8C-41B1-9BA7-75848BC4B3ED}"/>
              </a:ext>
            </a:extLst>
          </p:cNvPr>
          <p:cNvSpPr>
            <a:spLocks noGrp="1"/>
          </p:cNvSpPr>
          <p:nvPr/>
        </p:nvSpPr>
        <p:spPr>
          <a:xfrm>
            <a:off x="609600" y="147637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Grammar alone cannot catch every invalid program.</a:t>
            </a:r>
          </a:p>
        </p:txBody>
      </p:sp>
      <p:sp>
        <p:nvSpPr>
          <p:cNvPr id="6" name="Rectangle 5">
            <a:extLst>
              <a:ext uri="{FF2B5EF4-FFF2-40B4-BE49-F238E27FC236}">
                <a16:creationId xmlns:a16="http://schemas.microsoft.com/office/drawing/2014/main" id="{B815B0F9-FCAE-42DE-9D88-D9595EC35EB5}"/>
              </a:ext>
            </a:extLst>
          </p:cNvPr>
          <p:cNvSpPr>
            <a:spLocks noGrp="1"/>
          </p:cNvSpPr>
          <p:nvPr/>
        </p:nvSpPr>
        <p:spPr>
          <a:xfrm>
            <a:off x="609600" y="2762250"/>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registry checks names, initialization and basic type compatibility.</a:t>
            </a:r>
          </a:p>
        </p:txBody>
      </p:sp>
      <p:sp>
        <p:nvSpPr>
          <p:cNvPr id="7" name="Rectangle 6">
            <a:extLst>
              <a:ext uri="{FF2B5EF4-FFF2-40B4-BE49-F238E27FC236}">
                <a16:creationId xmlns:a16="http://schemas.microsoft.com/office/drawing/2014/main" id="{F2B46D3F-CCF1-4557-9E8A-BC7C97C68EED}"/>
              </a:ext>
            </a:extLst>
          </p:cNvPr>
          <p:cNvSpPr>
            <a:spLocks noGrp="1"/>
          </p:cNvSpPr>
          <p:nvPr/>
        </p:nvSpPr>
        <p:spPr>
          <a:xfrm>
            <a:off x="609600" y="404812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Its symbol table makes each declared name and type inspectable.</a:t>
            </a:r>
          </a:p>
        </p:txBody>
      </p:sp>
      <p:pic>
        <p:nvPicPr>
          <p:cNvPr id="8" name="Picture 7">
            <a:extLst>
              <a:ext uri="{FF2B5EF4-FFF2-40B4-BE49-F238E27FC236}">
                <a16:creationId xmlns:a16="http://schemas.microsoft.com/office/drawing/2014/main" id="{FE70B154-784A-48B2-9A0F-86332BE7A36F}"/>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147688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3FDCDB-9215-4E17-925E-D5FB1165971B}"/>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TAC Forge / intermediate representation</a:t>
            </a:r>
          </a:p>
        </p:txBody>
      </p:sp>
      <p:sp>
        <p:nvSpPr>
          <p:cNvPr id="3" name="Rectangle 2">
            <a:extLst>
              <a:ext uri="{FF2B5EF4-FFF2-40B4-BE49-F238E27FC236}">
                <a16:creationId xmlns:a16="http://schemas.microsoft.com/office/drawing/2014/main" id="{205A2332-E3E5-4B34-8171-946B16D6863E}"/>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F44790AD-EE5C-4D41-9770-9E42F3EAB659}"/>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07</a:t>
            </a:r>
          </a:p>
        </p:txBody>
      </p:sp>
      <p:sp>
        <p:nvSpPr>
          <p:cNvPr id="5" name="Rectangle 4">
            <a:extLst>
              <a:ext uri="{FF2B5EF4-FFF2-40B4-BE49-F238E27FC236}">
                <a16:creationId xmlns:a16="http://schemas.microsoft.com/office/drawing/2014/main" id="{3CDB5F03-FB2C-47B3-AC8F-1F24C592C15A}"/>
              </a:ext>
            </a:extLst>
          </p:cNvPr>
          <p:cNvSpPr>
            <a:spLocks noGrp="1"/>
          </p:cNvSpPr>
          <p:nvPr/>
        </p:nvSpPr>
        <p:spPr>
          <a:xfrm>
            <a:off x="609600" y="147637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Compound expressions become small three-address instructions.</a:t>
            </a:r>
          </a:p>
        </p:txBody>
      </p:sp>
      <p:sp>
        <p:nvSpPr>
          <p:cNvPr id="6" name="Rectangle 5">
            <a:extLst>
              <a:ext uri="{FF2B5EF4-FFF2-40B4-BE49-F238E27FC236}">
                <a16:creationId xmlns:a16="http://schemas.microsoft.com/office/drawing/2014/main" id="{E493C902-B1E9-470A-84DD-19B76F446B93}"/>
              </a:ext>
            </a:extLst>
          </p:cNvPr>
          <p:cNvSpPr>
            <a:spLocks noGrp="1"/>
          </p:cNvSpPr>
          <p:nvPr/>
        </p:nvSpPr>
        <p:spPr>
          <a:xfrm>
            <a:off x="609600" y="2762250"/>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Stable instruction IDs connect generated code to later rewrite logs.</a:t>
            </a:r>
          </a:p>
        </p:txBody>
      </p:sp>
      <p:sp>
        <p:nvSpPr>
          <p:cNvPr id="7" name="Rectangle 6">
            <a:extLst>
              <a:ext uri="{FF2B5EF4-FFF2-40B4-BE49-F238E27FC236}">
                <a16:creationId xmlns:a16="http://schemas.microsoft.com/office/drawing/2014/main" id="{EFF32449-B259-422A-8F24-28E28AE14A76}"/>
              </a:ext>
            </a:extLst>
          </p:cNvPr>
          <p:cNvSpPr>
            <a:spLocks noGrp="1"/>
          </p:cNvSpPr>
          <p:nvPr/>
        </p:nvSpPr>
        <p:spPr>
          <a:xfrm>
            <a:off x="609600" y="404812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Reserved temporaries protect user-defined names from collisions.</a:t>
            </a:r>
          </a:p>
        </p:txBody>
      </p:sp>
      <p:pic>
        <p:nvPicPr>
          <p:cNvPr id="8" name="Picture 7">
            <a:extLst>
              <a:ext uri="{FF2B5EF4-FFF2-40B4-BE49-F238E27FC236}">
                <a16:creationId xmlns:a16="http://schemas.microsoft.com/office/drawing/2014/main" id="{3FEB1F2E-58B9-4872-B908-47426C830261}"/>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680179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4D55E9-8902-4105-8841-52DA54E9AB89}"/>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Repair Garage / the five optimization passes</a:t>
            </a:r>
          </a:p>
        </p:txBody>
      </p:sp>
      <p:sp>
        <p:nvSpPr>
          <p:cNvPr id="3" name="Rectangle 2">
            <a:extLst>
              <a:ext uri="{FF2B5EF4-FFF2-40B4-BE49-F238E27FC236}">
                <a16:creationId xmlns:a16="http://schemas.microsoft.com/office/drawing/2014/main" id="{42C36AAE-10BC-4205-B15F-2E64F5E527BB}"/>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A5D3B2C2-0EAA-4474-905F-DB9BE0267CB6}"/>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08</a:t>
            </a:r>
          </a:p>
        </p:txBody>
      </p:sp>
      <p:graphicFrame>
        <p:nvGraphicFramePr>
          <p:cNvPr id="5" name="Table 4">
            <a:extLst>
              <a:ext uri="{FF2B5EF4-FFF2-40B4-BE49-F238E27FC236}">
                <a16:creationId xmlns:a16="http://schemas.microsoft.com/office/drawing/2014/main" id="{6CC112D2-EF58-4491-88F4-060322B87ED1}"/>
              </a:ext>
            </a:extLst>
          </p:cNvPr>
          <p:cNvGraphicFramePr/>
          <p:nvPr/>
        </p:nvGraphicFramePr>
        <p:xfrm>
          <a:off x="628650" y="1428750"/>
          <a:ext cx="10858500" cy="3952878"/>
        </p:xfrm>
        <a:graphic>
          <a:graphicData uri="http://schemas.openxmlformats.org/drawingml/2006/table">
            <a:tbl>
              <a:tblPr/>
              <a:tblGrid>
                <a:gridCol w="3381375">
                  <a:extLst>
                    <a:ext uri="{9D8B030D-6E8A-4147-A177-3AD203B41FA5}">
                      <a16:colId xmlns:a16="http://schemas.microsoft.com/office/drawing/2014/main" val="20000"/>
                    </a:ext>
                  </a:extLst>
                </a:gridCol>
                <a:gridCol w="7477125">
                  <a:extLst>
                    <a:ext uri="{9D8B030D-6E8A-4147-A177-3AD203B41FA5}">
                      <a16:colId xmlns:a16="http://schemas.microsoft.com/office/drawing/2014/main" val="20001"/>
                    </a:ext>
                  </a:extLst>
                </a:gridCol>
              </a:tblGrid>
              <a:tr h="658813">
                <a:tc>
                  <a:txBody>
                    <a:bodyPr/>
                    <a:lstStyle/>
                    <a:p>
                      <a:r>
                        <a:rPr sz="1575" b="1">
                          <a:solidFill>
                            <a:srgbClr val="344638"/>
                          </a:solidFill>
                          <a:latin typeface="Arial"/>
                          <a:ea typeface="Arial"/>
                          <a:cs typeface="Arial"/>
                        </a:rPr>
                        <a:t>Pass</a:t>
                      </a:r>
                    </a:p>
                  </a:txBody>
                  <a:tcPr>
                    <a:solidFill>
                      <a:srgbClr val="DCE6CE"/>
                    </a:solidFill>
                  </a:tcPr>
                </a:tc>
                <a:tc>
                  <a:txBody>
                    <a:bodyPr/>
                    <a:lstStyle/>
                    <a:p>
                      <a:r>
                        <a:rPr sz="1575" b="1">
                          <a:solidFill>
                            <a:srgbClr val="344638"/>
                          </a:solidFill>
                          <a:latin typeface="Arial"/>
                          <a:ea typeface="Arial"/>
                          <a:cs typeface="Arial"/>
                        </a:rPr>
                        <a:t>Transformation</a:t>
                      </a:r>
                    </a:p>
                  </a:txBody>
                  <a:tcPr>
                    <a:solidFill>
                      <a:srgbClr val="DCE6CE"/>
                    </a:solidFill>
                  </a:tcPr>
                </a:tc>
                <a:extLst>
                  <a:ext uri="{0D108BD9-81ED-4DB2-BD59-A6C34878D82A}">
                    <a16:rowId xmlns:a16="http://schemas.microsoft.com/office/drawing/2014/main" val="10000"/>
                  </a:ext>
                </a:extLst>
              </a:tr>
              <a:tr h="658813">
                <a:tc>
                  <a:txBody>
                    <a:bodyPr/>
                    <a:lstStyle/>
                    <a:p>
                      <a:r>
                        <a:rPr sz="1575" b="0">
                          <a:solidFill>
                            <a:srgbClr val="6F7F62"/>
                          </a:solidFill>
                          <a:latin typeface="Arial"/>
                          <a:ea typeface="Arial"/>
                          <a:cs typeface="Arial"/>
                        </a:rPr>
                        <a:t>Constant propagation</a:t>
                      </a:r>
                    </a:p>
                  </a:txBody>
                  <a:tcPr>
                    <a:solidFill>
                      <a:srgbClr val="EEF1E4"/>
                    </a:solidFill>
                  </a:tcPr>
                </a:tc>
                <a:tc>
                  <a:txBody>
                    <a:bodyPr/>
                    <a:lstStyle/>
                    <a:p>
                      <a:r>
                        <a:rPr sz="1575" b="0">
                          <a:solidFill>
                            <a:srgbClr val="6F7F62"/>
                          </a:solidFill>
                          <a:latin typeface="Arial"/>
                          <a:ea typeface="Arial"/>
                          <a:cs typeface="Arial"/>
                        </a:rPr>
                        <a:t>Substitute known values into operands</a:t>
                      </a:r>
                    </a:p>
                  </a:txBody>
                  <a:tcPr>
                    <a:solidFill>
                      <a:srgbClr val="EEF1E4"/>
                    </a:solidFill>
                  </a:tcPr>
                </a:tc>
                <a:extLst>
                  <a:ext uri="{0D108BD9-81ED-4DB2-BD59-A6C34878D82A}">
                    <a16:rowId xmlns:a16="http://schemas.microsoft.com/office/drawing/2014/main" val="10001"/>
                  </a:ext>
                </a:extLst>
              </a:tr>
              <a:tr h="658813">
                <a:tc>
                  <a:txBody>
                    <a:bodyPr/>
                    <a:lstStyle/>
                    <a:p>
                      <a:r>
                        <a:rPr sz="1575" b="0">
                          <a:solidFill>
                            <a:srgbClr val="6F7F62"/>
                          </a:solidFill>
                          <a:latin typeface="Arial"/>
                          <a:ea typeface="Arial"/>
                          <a:cs typeface="Arial"/>
                        </a:rPr>
                        <a:t>Constant folding</a:t>
                      </a:r>
                    </a:p>
                  </a:txBody>
                  <a:tcPr>
                    <a:solidFill>
                      <a:srgbClr val="F6F3EA"/>
                    </a:solidFill>
                  </a:tcPr>
                </a:tc>
                <a:tc>
                  <a:txBody>
                    <a:bodyPr/>
                    <a:lstStyle/>
                    <a:p>
                      <a:r>
                        <a:rPr sz="1575" b="0">
                          <a:solidFill>
                            <a:srgbClr val="6F7F62"/>
                          </a:solidFill>
                          <a:latin typeface="Arial"/>
                          <a:ea typeface="Arial"/>
                          <a:cs typeface="Arial"/>
                        </a:rPr>
                        <a:t>Evaluate constant arithmetic</a:t>
                      </a:r>
                    </a:p>
                  </a:txBody>
                  <a:tcPr>
                    <a:solidFill>
                      <a:srgbClr val="F6F3EA"/>
                    </a:solidFill>
                  </a:tcPr>
                </a:tc>
                <a:extLst>
                  <a:ext uri="{0D108BD9-81ED-4DB2-BD59-A6C34878D82A}">
                    <a16:rowId xmlns:a16="http://schemas.microsoft.com/office/drawing/2014/main" val="10002"/>
                  </a:ext>
                </a:extLst>
              </a:tr>
              <a:tr h="658813">
                <a:tc>
                  <a:txBody>
                    <a:bodyPr/>
                    <a:lstStyle/>
                    <a:p>
                      <a:r>
                        <a:rPr sz="1575" b="0">
                          <a:solidFill>
                            <a:srgbClr val="6F7F62"/>
                          </a:solidFill>
                          <a:latin typeface="Arial"/>
                          <a:ea typeface="Arial"/>
                          <a:cs typeface="Arial"/>
                        </a:rPr>
                        <a:t>Common subexpressions</a:t>
                      </a:r>
                    </a:p>
                  </a:txBody>
                  <a:tcPr>
                    <a:solidFill>
                      <a:srgbClr val="EEF1E4"/>
                    </a:solidFill>
                  </a:tcPr>
                </a:tc>
                <a:tc>
                  <a:txBody>
                    <a:bodyPr/>
                    <a:lstStyle/>
                    <a:p>
                      <a:r>
                        <a:rPr sz="1575" b="0">
                          <a:solidFill>
                            <a:srgbClr val="6F7F62"/>
                          </a:solidFill>
                          <a:latin typeface="Arial"/>
                          <a:ea typeface="Arial"/>
                          <a:cs typeface="Arial"/>
                        </a:rPr>
                        <a:t>Reuse a valid earlier computation</a:t>
                      </a:r>
                    </a:p>
                  </a:txBody>
                  <a:tcPr>
                    <a:solidFill>
                      <a:srgbClr val="EEF1E4"/>
                    </a:solidFill>
                  </a:tcPr>
                </a:tc>
                <a:extLst>
                  <a:ext uri="{0D108BD9-81ED-4DB2-BD59-A6C34878D82A}">
                    <a16:rowId xmlns:a16="http://schemas.microsoft.com/office/drawing/2014/main" val="10003"/>
                  </a:ext>
                </a:extLst>
              </a:tr>
              <a:tr h="658813">
                <a:tc>
                  <a:txBody>
                    <a:bodyPr/>
                    <a:lstStyle/>
                    <a:p>
                      <a:r>
                        <a:rPr sz="1575" b="0">
                          <a:solidFill>
                            <a:srgbClr val="6F7F62"/>
                          </a:solidFill>
                          <a:latin typeface="Arial"/>
                          <a:ea typeface="Arial"/>
                          <a:cs typeface="Arial"/>
                        </a:rPr>
                        <a:t>Copy propagation</a:t>
                      </a:r>
                    </a:p>
                  </a:txBody>
                  <a:tcPr>
                    <a:solidFill>
                      <a:srgbClr val="F6F3EA"/>
                    </a:solidFill>
                  </a:tcPr>
                </a:tc>
                <a:tc>
                  <a:txBody>
                    <a:bodyPr/>
                    <a:lstStyle/>
                    <a:p>
                      <a:r>
                        <a:rPr sz="1575" b="0">
                          <a:solidFill>
                            <a:srgbClr val="6F7F62"/>
                          </a:solidFill>
                          <a:latin typeface="Arial"/>
                          <a:ea typeface="Arial"/>
                          <a:cs typeface="Arial"/>
                        </a:rPr>
                        <a:t>Forward a copied value to its source</a:t>
                      </a:r>
                    </a:p>
                  </a:txBody>
                  <a:tcPr>
                    <a:solidFill>
                      <a:srgbClr val="F6F3EA"/>
                    </a:solidFill>
                  </a:tcPr>
                </a:tc>
                <a:extLst>
                  <a:ext uri="{0D108BD9-81ED-4DB2-BD59-A6C34878D82A}">
                    <a16:rowId xmlns:a16="http://schemas.microsoft.com/office/drawing/2014/main" val="10004"/>
                  </a:ext>
                </a:extLst>
              </a:tr>
              <a:tr h="658813">
                <a:tc>
                  <a:txBody>
                    <a:bodyPr/>
                    <a:lstStyle/>
                    <a:p>
                      <a:r>
                        <a:rPr sz="1575" b="0">
                          <a:solidFill>
                            <a:srgbClr val="6F7F62"/>
                          </a:solidFill>
                          <a:latin typeface="Arial"/>
                          <a:ea typeface="Arial"/>
                          <a:cs typeface="Arial"/>
                        </a:rPr>
                        <a:t>Dead-code elimination</a:t>
                      </a:r>
                    </a:p>
                  </a:txBody>
                  <a:tcPr>
                    <a:solidFill>
                      <a:srgbClr val="EEF1E4"/>
                    </a:solidFill>
                  </a:tcPr>
                </a:tc>
                <a:tc>
                  <a:txBody>
                    <a:bodyPr/>
                    <a:lstStyle/>
                    <a:p>
                      <a:r>
                        <a:rPr sz="1575" b="0">
                          <a:solidFill>
                            <a:srgbClr val="6F7F62"/>
                          </a:solidFill>
                          <a:latin typeface="Arial"/>
                          <a:ea typeface="Arial"/>
                          <a:cs typeface="Arial"/>
                        </a:rPr>
                        <a:t>Remove unused, non-trapping results</a:t>
                      </a:r>
                    </a:p>
                  </a:txBody>
                  <a:tcPr>
                    <a:solidFill>
                      <a:srgbClr val="EEF1E4"/>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CB95EE0C-1549-4E28-8BC9-5392CF366F9C}"/>
              </a:ext>
            </a:extLst>
          </p:cNvPr>
          <p:cNvSpPr>
            <a:spLocks noGrp="1"/>
          </p:cNvSpPr>
          <p:nvPr/>
        </p:nvSpPr>
        <p:spPr>
          <a:xfrm>
            <a:off x="647700" y="5743575"/>
            <a:ext cx="10477500" cy="381000"/>
          </a:xfrm>
          <a:prstGeom prst="rect">
            <a:avLst/>
          </a:prstGeom>
          <a:noFill/>
          <a:ln w="0">
            <a:noFill/>
          </a:ln>
        </p:spPr>
        <p:txBody>
          <a:bodyPr wrap="square" lIns="0" tIns="0" rIns="0" bIns="0" anchor="t">
            <a:noAutofit/>
          </a:bodyPr>
          <a:lstStyle>
            <a:defPPr>
              <a:defRPr sz="1725" b="0">
                <a:solidFill>
                  <a:srgbClr val="6F7F62"/>
                </a:solidFill>
                <a:latin typeface="Arial"/>
                <a:ea typeface="Arial"/>
                <a:cs typeface="Arial"/>
              </a:defRPr>
            </a:defPPr>
            <a:lvl1pPr>
              <a:buNone/>
              <a:defRPr sz="1725" b="0">
                <a:solidFill>
                  <a:srgbClr val="6F7F62"/>
                </a:solidFill>
                <a:latin typeface="Arial"/>
                <a:ea typeface="Arial"/>
                <a:cs typeface="Arial"/>
              </a:defRPr>
            </a:lvl1pPr>
            <a:lvl2pPr>
              <a:buNone/>
              <a:defRPr sz="1725" b="0">
                <a:solidFill>
                  <a:srgbClr val="6F7F62"/>
                </a:solidFill>
                <a:latin typeface="Arial"/>
                <a:ea typeface="Arial"/>
                <a:cs typeface="Arial"/>
              </a:defRPr>
            </a:lvl2pPr>
            <a:lvl3pPr>
              <a:buNone/>
              <a:defRPr sz="1725" b="0">
                <a:solidFill>
                  <a:srgbClr val="6F7F62"/>
                </a:solidFill>
                <a:latin typeface="Arial"/>
                <a:ea typeface="Arial"/>
                <a:cs typeface="Arial"/>
              </a:defRPr>
            </a:lvl3pPr>
            <a:lvl4pPr>
              <a:buNone/>
              <a:defRPr sz="1725" b="0">
                <a:solidFill>
                  <a:srgbClr val="6F7F62"/>
                </a:solidFill>
                <a:latin typeface="Arial"/>
                <a:ea typeface="Arial"/>
                <a:cs typeface="Arial"/>
              </a:defRPr>
            </a:lvl4pPr>
            <a:lvl5pPr>
              <a:buNone/>
              <a:defRPr sz="1725" b="0">
                <a:solidFill>
                  <a:srgbClr val="6F7F62"/>
                </a:solidFill>
                <a:latin typeface="Arial"/>
                <a:ea typeface="Arial"/>
                <a:cs typeface="Arial"/>
              </a:defRPr>
            </a:lvl5pPr>
            <a:lvl6pPr>
              <a:buNone/>
              <a:defRPr sz="1725" b="0">
                <a:solidFill>
                  <a:srgbClr val="6F7F62"/>
                </a:solidFill>
                <a:latin typeface="Arial"/>
                <a:ea typeface="Arial"/>
                <a:cs typeface="Arial"/>
              </a:defRPr>
            </a:lvl6pPr>
            <a:lvl7pPr>
              <a:buNone/>
              <a:defRPr sz="1725" b="0">
                <a:solidFill>
                  <a:srgbClr val="6F7F62"/>
                </a:solidFill>
                <a:latin typeface="Arial"/>
                <a:ea typeface="Arial"/>
                <a:cs typeface="Arial"/>
              </a:defRPr>
            </a:lvl7pPr>
            <a:lvl8pPr>
              <a:buNone/>
              <a:defRPr sz="1725" b="0">
                <a:solidFill>
                  <a:srgbClr val="6F7F62"/>
                </a:solidFill>
                <a:latin typeface="Arial"/>
                <a:ea typeface="Arial"/>
                <a:cs typeface="Arial"/>
              </a:defRPr>
            </a:lvl8pPr>
            <a:lvl9pPr>
              <a:buNone/>
              <a:defRPr sz="1725" b="0">
                <a:solidFill>
                  <a:srgbClr val="6F7F62"/>
                </a:solidFill>
                <a:latin typeface="Arial"/>
                <a:ea typeface="Arial"/>
                <a:cs typeface="Arial"/>
              </a:defRPr>
            </a:lvl9pPr>
          </a:lstStyle>
          <a:p>
            <a:pPr>
              <a:buNone/>
              <a:defRPr sz="1725" b="0">
                <a:solidFill>
                  <a:srgbClr val="6F7F62"/>
                </a:solidFill>
                <a:latin typeface="Arial"/>
                <a:ea typeface="Arial"/>
                <a:cs typeface="Arial"/>
              </a:defRPr>
            </a:pPr>
            <a:r>
              <a:rPr sz="1725" b="0">
                <a:solidFill>
                  <a:srgbClr val="6F7F62"/>
                </a:solidFill>
                <a:latin typeface="Arial"/>
                <a:ea typeface="Arial"/>
                <a:cs typeface="Arial"/>
              </a:rPr>
              <a:t>Selected passes repeat to a fixed point or the ten-round cap.</a:t>
            </a:r>
          </a:p>
        </p:txBody>
      </p:sp>
    </p:spTree>
    <p:extLst>
      <p:ext uri="{BB962C8B-B14F-4D97-AF65-F5344CB8AC3E}">
        <p14:creationId xmlns:p14="http://schemas.microsoft.com/office/powerpoint/2010/main" val="625464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12D238-28A8-4D7F-B450-D8B32BAD01AE}"/>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Autopsy and detailed intermediate logs</a:t>
            </a:r>
          </a:p>
        </p:txBody>
      </p:sp>
      <p:sp>
        <p:nvSpPr>
          <p:cNvPr id="3" name="Rectangle 2">
            <a:extLst>
              <a:ext uri="{FF2B5EF4-FFF2-40B4-BE49-F238E27FC236}">
                <a16:creationId xmlns:a16="http://schemas.microsoft.com/office/drawing/2014/main" id="{42F6CDB5-E30A-434E-8655-1CC6F28CABF1}"/>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E7647BED-8596-45CD-9007-E31DAC346AAF}"/>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09</a:t>
            </a:r>
          </a:p>
        </p:txBody>
      </p:sp>
      <p:sp>
        <p:nvSpPr>
          <p:cNvPr id="5" name="Rectangle 4">
            <a:extLst>
              <a:ext uri="{FF2B5EF4-FFF2-40B4-BE49-F238E27FC236}">
                <a16:creationId xmlns:a16="http://schemas.microsoft.com/office/drawing/2014/main" id="{A880E13A-2E02-48D2-BB4A-F18633196161}"/>
              </a:ext>
            </a:extLst>
          </p:cNvPr>
          <p:cNvSpPr>
            <a:spLocks noGrp="1"/>
          </p:cNvSpPr>
          <p:nvPr/>
        </p:nvSpPr>
        <p:spPr>
          <a:xfrm>
            <a:off x="609600" y="1476375"/>
            <a:ext cx="390525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Choose a pass and a round.</a:t>
            </a:r>
          </a:p>
        </p:txBody>
      </p:sp>
      <p:sp>
        <p:nvSpPr>
          <p:cNvPr id="6" name="Rectangle 5">
            <a:extLst>
              <a:ext uri="{FF2B5EF4-FFF2-40B4-BE49-F238E27FC236}">
                <a16:creationId xmlns:a16="http://schemas.microsoft.com/office/drawing/2014/main" id="{95E967A5-5075-44F7-9C42-5B03033F40A8}"/>
              </a:ext>
            </a:extLst>
          </p:cNvPr>
          <p:cNvSpPr>
            <a:spLocks noGrp="1"/>
          </p:cNvSpPr>
          <p:nvPr/>
        </p:nvSpPr>
        <p:spPr>
          <a:xfrm>
            <a:off x="609600" y="2714625"/>
            <a:ext cx="390525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Inspect the full change ledger, rewrite reasons and variable state after each executed instruction.</a:t>
            </a:r>
          </a:p>
        </p:txBody>
      </p:sp>
      <p:sp>
        <p:nvSpPr>
          <p:cNvPr id="7" name="Rectangle 6">
            <a:extLst>
              <a:ext uri="{FF2B5EF4-FFF2-40B4-BE49-F238E27FC236}">
                <a16:creationId xmlns:a16="http://schemas.microsoft.com/office/drawing/2014/main" id="{BC75CA64-0A5E-469C-ABD9-FB42948BC29F}"/>
              </a:ext>
            </a:extLst>
          </p:cNvPr>
          <p:cNvSpPr>
            <a:spLocks noGrp="1"/>
          </p:cNvSpPr>
          <p:nvPr/>
        </p:nvSpPr>
        <p:spPr>
          <a:xfrm>
            <a:off x="609600" y="3952875"/>
            <a:ext cx="3905250" cy="1066800"/>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first changed observation is retained even if a later pass masks it.</a:t>
            </a:r>
          </a:p>
        </p:txBody>
      </p:sp>
      <p:pic>
        <p:nvPicPr>
          <p:cNvPr id="8" name="Picture 7">
            <a:extLst>
              <a:ext uri="{FF2B5EF4-FFF2-40B4-BE49-F238E27FC236}">
                <a16:creationId xmlns:a16="http://schemas.microsoft.com/office/drawing/2014/main" id="{9281B531-4668-4E96-B922-EE91AD7461EE}"/>
              </a:ext>
            </a:extLst>
          </p:cNvPr>
          <p:cNvPicPr>
            <a:picLocks noChangeAspect="1"/>
          </p:cNvPicPr>
          <p:nvPr/>
        </p:nvPicPr>
        <p:blipFill>
          <a:blip r:embed="rId3"/>
          <a:stretch/>
        </p:blipFill>
        <p:spPr>
          <a:xfrm>
            <a:off x="5205833" y="1381125"/>
            <a:ext cx="6114210" cy="4619625"/>
          </a:xfrm>
          <a:prstGeom prst="rect">
            <a:avLst/>
          </a:prstGeom>
        </p:spPr>
      </p:pic>
    </p:spTree>
    <p:extLst>
      <p:ext uri="{BB962C8B-B14F-4D97-AF65-F5344CB8AC3E}">
        <p14:creationId xmlns:p14="http://schemas.microsoft.com/office/powerpoint/2010/main" val="910496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A809D9-9442-4CD6-A19F-0F14F8690D46}"/>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Watchtower / preserving errors matters</a:t>
            </a:r>
          </a:p>
        </p:txBody>
      </p:sp>
      <p:sp>
        <p:nvSpPr>
          <p:cNvPr id="3" name="Rectangle 2">
            <a:extLst>
              <a:ext uri="{FF2B5EF4-FFF2-40B4-BE49-F238E27FC236}">
                <a16:creationId xmlns:a16="http://schemas.microsoft.com/office/drawing/2014/main" id="{5732A2A2-5359-4F2A-ADD0-9F30B9785C40}"/>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5A4FEC8F-0F88-40F6-8DC9-65689D2EA289}"/>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10</a:t>
            </a:r>
          </a:p>
        </p:txBody>
      </p:sp>
      <p:sp>
        <p:nvSpPr>
          <p:cNvPr id="5" name="Rectangle 4">
            <a:extLst>
              <a:ext uri="{FF2B5EF4-FFF2-40B4-BE49-F238E27FC236}">
                <a16:creationId xmlns:a16="http://schemas.microsoft.com/office/drawing/2014/main" id="{B78A86CE-A2EA-4281-B09A-BE6665DDF2BB}"/>
              </a:ext>
            </a:extLst>
          </p:cNvPr>
          <p:cNvSpPr>
            <a:spLocks noGrp="1"/>
          </p:cNvSpPr>
          <p:nvPr/>
        </p:nvSpPr>
        <p:spPr>
          <a:xfrm>
            <a:off x="609600" y="147637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An unused result can still carry an observable runtime error.</a:t>
            </a:r>
          </a:p>
        </p:txBody>
      </p:sp>
      <p:sp>
        <p:nvSpPr>
          <p:cNvPr id="6" name="Rectangle 5">
            <a:extLst>
              <a:ext uri="{FF2B5EF4-FFF2-40B4-BE49-F238E27FC236}">
                <a16:creationId xmlns:a16="http://schemas.microsoft.com/office/drawing/2014/main" id="{ED39B658-F1FD-460D-B936-134F319F1D6A}"/>
              </a:ext>
            </a:extLst>
          </p:cNvPr>
          <p:cNvSpPr>
            <a:spLocks noGrp="1"/>
          </p:cNvSpPr>
          <p:nvPr/>
        </p:nvSpPr>
        <p:spPr>
          <a:xfrm>
            <a:off x="609600" y="2762250"/>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Deleting division by zero would turn a failing program into a successful return.</a:t>
            </a:r>
          </a:p>
        </p:txBody>
      </p:sp>
      <p:sp>
        <p:nvSpPr>
          <p:cNvPr id="7" name="Rectangle 6">
            <a:extLst>
              <a:ext uri="{FF2B5EF4-FFF2-40B4-BE49-F238E27FC236}">
                <a16:creationId xmlns:a16="http://schemas.microsoft.com/office/drawing/2014/main" id="{CB5E9D3C-C858-4240-B637-D331C4FF4A71}"/>
              </a:ext>
            </a:extLst>
          </p:cNvPr>
          <p:cNvSpPr>
            <a:spLocks noGrp="1"/>
          </p:cNvSpPr>
          <p:nvPr/>
        </p:nvSpPr>
        <p:spPr>
          <a:xfrm>
            <a:off x="609600" y="404812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checker compares original and optimized outcomes, including errors.</a:t>
            </a:r>
          </a:p>
        </p:txBody>
      </p:sp>
      <p:pic>
        <p:nvPicPr>
          <p:cNvPr id="8" name="Picture 7">
            <a:extLst>
              <a:ext uri="{FF2B5EF4-FFF2-40B4-BE49-F238E27FC236}">
                <a16:creationId xmlns:a16="http://schemas.microsoft.com/office/drawing/2014/main" id="{2A52EB22-4C98-4F46-A19C-8A5935E02038}"/>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1127283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25A3A9-5138-4D30-A556-77F3AC3E5D9D}"/>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Counterfactuals / omit one pass and rerun</a:t>
            </a:r>
          </a:p>
        </p:txBody>
      </p:sp>
      <p:sp>
        <p:nvSpPr>
          <p:cNvPr id="3" name="Rectangle 2">
            <a:extLst>
              <a:ext uri="{FF2B5EF4-FFF2-40B4-BE49-F238E27FC236}">
                <a16:creationId xmlns:a16="http://schemas.microsoft.com/office/drawing/2014/main" id="{00F86C79-C5A8-4A90-848D-0B7DF5BDC064}"/>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BFA87125-DF8F-492C-8233-4F208B125592}"/>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11</a:t>
            </a:r>
          </a:p>
        </p:txBody>
      </p:sp>
      <p:graphicFrame>
        <p:nvGraphicFramePr>
          <p:cNvPr id="5" name="Table 4">
            <a:extLst>
              <a:ext uri="{FF2B5EF4-FFF2-40B4-BE49-F238E27FC236}">
                <a16:creationId xmlns:a16="http://schemas.microsoft.com/office/drawing/2014/main" id="{210E515D-0331-4B0C-A690-9C865FEABBDC}"/>
              </a:ext>
            </a:extLst>
          </p:cNvPr>
          <p:cNvGraphicFramePr/>
          <p:nvPr/>
        </p:nvGraphicFramePr>
        <p:xfrm>
          <a:off x="628650" y="1428750"/>
          <a:ext cx="10858500" cy="3667128"/>
        </p:xfrm>
        <a:graphic>
          <a:graphicData uri="http://schemas.openxmlformats.org/drawingml/2006/table">
            <a:tbl>
              <a:tblPr/>
              <a:tblGrid>
                <a:gridCol w="6191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611188">
                <a:tc>
                  <a:txBody>
                    <a:bodyPr/>
                    <a:lstStyle/>
                    <a:p>
                      <a:r>
                        <a:rPr sz="1575" b="1">
                          <a:solidFill>
                            <a:srgbClr val="344638"/>
                          </a:solidFill>
                          <a:latin typeface="Arial"/>
                          <a:ea typeface="Arial"/>
                          <a:cs typeface="Arial"/>
                        </a:rPr>
                        <a:t>Omitted pass</a:t>
                      </a:r>
                    </a:p>
                  </a:txBody>
                  <a:tcPr>
                    <a:solidFill>
                      <a:srgbClr val="DCE6CE"/>
                    </a:solidFill>
                  </a:tcPr>
                </a:tc>
                <a:tc>
                  <a:txBody>
                    <a:bodyPr/>
                    <a:lstStyle/>
                    <a:p>
                      <a:r>
                        <a:rPr sz="1575" b="1">
                          <a:solidFill>
                            <a:srgbClr val="344638"/>
                          </a:solidFill>
                          <a:latin typeface="Arial"/>
                          <a:ea typeface="Arial"/>
                          <a:cs typeface="Arial"/>
                        </a:rPr>
                        <a:t>TAC count</a:t>
                      </a:r>
                    </a:p>
                  </a:txBody>
                  <a:tcPr>
                    <a:solidFill>
                      <a:srgbClr val="DCE6CE"/>
                    </a:solidFill>
                  </a:tcPr>
                </a:tc>
                <a:tc>
                  <a:txBody>
                    <a:bodyPr/>
                    <a:lstStyle/>
                    <a:p>
                      <a:r>
                        <a:rPr sz="1575" b="1">
                          <a:solidFill>
                            <a:srgbClr val="344638"/>
                          </a:solidFill>
                          <a:latin typeface="Arial"/>
                          <a:ea typeface="Arial"/>
                          <a:cs typeface="Arial"/>
                        </a:rPr>
                        <a:t>Count difference</a:t>
                      </a:r>
                    </a:p>
                  </a:txBody>
                  <a:tcPr>
                    <a:solidFill>
                      <a:srgbClr val="DCE6CE"/>
                    </a:solidFill>
                  </a:tcPr>
                </a:tc>
                <a:extLst>
                  <a:ext uri="{0D108BD9-81ED-4DB2-BD59-A6C34878D82A}">
                    <a16:rowId xmlns:a16="http://schemas.microsoft.com/office/drawing/2014/main" val="10000"/>
                  </a:ext>
                </a:extLst>
              </a:tr>
              <a:tr h="611188">
                <a:tc>
                  <a:txBody>
                    <a:bodyPr/>
                    <a:lstStyle/>
                    <a:p>
                      <a:r>
                        <a:rPr sz="1575" b="0">
                          <a:solidFill>
                            <a:srgbClr val="6F7F62"/>
                          </a:solidFill>
                          <a:latin typeface="Arial"/>
                          <a:ea typeface="Arial"/>
                          <a:cs typeface="Arial"/>
                        </a:rPr>
                        <a:t>Constant propagation</a:t>
                      </a:r>
                    </a:p>
                  </a:txBody>
                  <a:tcPr>
                    <a:solidFill>
                      <a:srgbClr val="EEF1E4"/>
                    </a:solidFill>
                  </a:tcPr>
                </a:tc>
                <a:tc>
                  <a:txBody>
                    <a:bodyPr/>
                    <a:lstStyle/>
                    <a:p>
                      <a:r>
                        <a:rPr sz="1575" b="0">
                          <a:solidFill>
                            <a:srgbClr val="6F7F62"/>
                          </a:solidFill>
                          <a:latin typeface="Arial"/>
                          <a:ea typeface="Arial"/>
                          <a:cs typeface="Arial"/>
                        </a:rPr>
                        <a:t>4</a:t>
                      </a:r>
                    </a:p>
                  </a:txBody>
                  <a:tcPr>
                    <a:solidFill>
                      <a:srgbClr val="EEF1E4"/>
                    </a:solidFill>
                  </a:tcPr>
                </a:tc>
                <a:tc>
                  <a:txBody>
                    <a:bodyPr/>
                    <a:lstStyle/>
                    <a:p>
                      <a:r>
                        <a:rPr sz="1575" b="0">
                          <a:solidFill>
                            <a:srgbClr val="6F7F62"/>
                          </a:solidFill>
                          <a:latin typeface="Arial"/>
                          <a:ea typeface="Arial"/>
                          <a:cs typeface="Arial"/>
                        </a:rPr>
                        <a:t>+3</a:t>
                      </a:r>
                    </a:p>
                  </a:txBody>
                  <a:tcPr>
                    <a:solidFill>
                      <a:srgbClr val="EEF1E4"/>
                    </a:solidFill>
                  </a:tcPr>
                </a:tc>
                <a:extLst>
                  <a:ext uri="{0D108BD9-81ED-4DB2-BD59-A6C34878D82A}">
                    <a16:rowId xmlns:a16="http://schemas.microsoft.com/office/drawing/2014/main" val="10001"/>
                  </a:ext>
                </a:extLst>
              </a:tr>
              <a:tr h="611188">
                <a:tc>
                  <a:txBody>
                    <a:bodyPr/>
                    <a:lstStyle/>
                    <a:p>
                      <a:r>
                        <a:rPr sz="1575" b="0">
                          <a:solidFill>
                            <a:srgbClr val="6F7F62"/>
                          </a:solidFill>
                          <a:latin typeface="Arial"/>
                          <a:ea typeface="Arial"/>
                          <a:cs typeface="Arial"/>
                        </a:rPr>
                        <a:t>Constant folding</a:t>
                      </a:r>
                    </a:p>
                  </a:txBody>
                  <a:tcPr>
                    <a:solidFill>
                      <a:srgbClr val="F6F3EA"/>
                    </a:solidFill>
                  </a:tcPr>
                </a:tc>
                <a:tc>
                  <a:txBody>
                    <a:bodyPr/>
                    <a:lstStyle/>
                    <a:p>
                      <a:r>
                        <a:rPr sz="1575" b="0">
                          <a:solidFill>
                            <a:srgbClr val="6F7F62"/>
                          </a:solidFill>
                          <a:latin typeface="Arial"/>
                          <a:ea typeface="Arial"/>
                          <a:cs typeface="Arial"/>
                        </a:rPr>
                        <a:t>3</a:t>
                      </a:r>
                    </a:p>
                  </a:txBody>
                  <a:tcPr>
                    <a:solidFill>
                      <a:srgbClr val="F6F3EA"/>
                    </a:solidFill>
                  </a:tcPr>
                </a:tc>
                <a:tc>
                  <a:txBody>
                    <a:bodyPr/>
                    <a:lstStyle/>
                    <a:p>
                      <a:r>
                        <a:rPr sz="1575" b="0">
                          <a:solidFill>
                            <a:srgbClr val="6F7F62"/>
                          </a:solidFill>
                          <a:latin typeface="Arial"/>
                          <a:ea typeface="Arial"/>
                          <a:cs typeface="Arial"/>
                        </a:rPr>
                        <a:t>+2</a:t>
                      </a:r>
                    </a:p>
                  </a:txBody>
                  <a:tcPr>
                    <a:solidFill>
                      <a:srgbClr val="F6F3EA"/>
                    </a:solidFill>
                  </a:tcPr>
                </a:tc>
                <a:extLst>
                  <a:ext uri="{0D108BD9-81ED-4DB2-BD59-A6C34878D82A}">
                    <a16:rowId xmlns:a16="http://schemas.microsoft.com/office/drawing/2014/main" val="10002"/>
                  </a:ext>
                </a:extLst>
              </a:tr>
              <a:tr h="611188">
                <a:tc>
                  <a:txBody>
                    <a:bodyPr/>
                    <a:lstStyle/>
                    <a:p>
                      <a:r>
                        <a:rPr sz="1575" b="0">
                          <a:solidFill>
                            <a:srgbClr val="6F7F62"/>
                          </a:solidFill>
                          <a:latin typeface="Arial"/>
                          <a:ea typeface="Arial"/>
                          <a:cs typeface="Arial"/>
                        </a:rPr>
                        <a:t>Common subexpressions</a:t>
                      </a:r>
                    </a:p>
                  </a:txBody>
                  <a:tcPr>
                    <a:solidFill>
                      <a:srgbClr val="EEF1E4"/>
                    </a:solidFill>
                  </a:tcPr>
                </a:tc>
                <a:tc>
                  <a:txBody>
                    <a:bodyPr/>
                    <a:lstStyle/>
                    <a:p>
                      <a:r>
                        <a:rPr sz="1575" b="0">
                          <a:solidFill>
                            <a:srgbClr val="6F7F62"/>
                          </a:solidFill>
                          <a:latin typeface="Arial"/>
                          <a:ea typeface="Arial"/>
                          <a:cs typeface="Arial"/>
                        </a:rPr>
                        <a:t>1</a:t>
                      </a:r>
                    </a:p>
                  </a:txBody>
                  <a:tcPr>
                    <a:solidFill>
                      <a:srgbClr val="EEF1E4"/>
                    </a:solidFill>
                  </a:tcPr>
                </a:tc>
                <a:tc>
                  <a:txBody>
                    <a:bodyPr/>
                    <a:lstStyle/>
                    <a:p>
                      <a:r>
                        <a:rPr sz="1575" b="0">
                          <a:solidFill>
                            <a:srgbClr val="6F7F62"/>
                          </a:solidFill>
                          <a:latin typeface="Arial"/>
                          <a:ea typeface="Arial"/>
                          <a:cs typeface="Arial"/>
                        </a:rPr>
                        <a:t>0</a:t>
                      </a:r>
                    </a:p>
                  </a:txBody>
                  <a:tcPr>
                    <a:solidFill>
                      <a:srgbClr val="EEF1E4"/>
                    </a:solidFill>
                  </a:tcPr>
                </a:tc>
                <a:extLst>
                  <a:ext uri="{0D108BD9-81ED-4DB2-BD59-A6C34878D82A}">
                    <a16:rowId xmlns:a16="http://schemas.microsoft.com/office/drawing/2014/main" val="10003"/>
                  </a:ext>
                </a:extLst>
              </a:tr>
              <a:tr h="611188">
                <a:tc>
                  <a:txBody>
                    <a:bodyPr/>
                    <a:lstStyle/>
                    <a:p>
                      <a:r>
                        <a:rPr sz="1575" b="0">
                          <a:solidFill>
                            <a:srgbClr val="6F7F62"/>
                          </a:solidFill>
                          <a:latin typeface="Arial"/>
                          <a:ea typeface="Arial"/>
                          <a:cs typeface="Arial"/>
                        </a:rPr>
                        <a:t>Copy propagation</a:t>
                      </a:r>
                    </a:p>
                  </a:txBody>
                  <a:tcPr>
                    <a:solidFill>
                      <a:srgbClr val="F6F3EA"/>
                    </a:solidFill>
                  </a:tcPr>
                </a:tc>
                <a:tc>
                  <a:txBody>
                    <a:bodyPr/>
                    <a:lstStyle/>
                    <a:p>
                      <a:r>
                        <a:rPr sz="1575" b="0">
                          <a:solidFill>
                            <a:srgbClr val="6F7F62"/>
                          </a:solidFill>
                          <a:latin typeface="Arial"/>
                          <a:ea typeface="Arial"/>
                          <a:cs typeface="Arial"/>
                        </a:rPr>
                        <a:t>1</a:t>
                      </a:r>
                    </a:p>
                  </a:txBody>
                  <a:tcPr>
                    <a:solidFill>
                      <a:srgbClr val="F6F3EA"/>
                    </a:solidFill>
                  </a:tcPr>
                </a:tc>
                <a:tc>
                  <a:txBody>
                    <a:bodyPr/>
                    <a:lstStyle/>
                    <a:p>
                      <a:r>
                        <a:rPr sz="1575" b="0">
                          <a:solidFill>
                            <a:srgbClr val="6F7F62"/>
                          </a:solidFill>
                          <a:latin typeface="Arial"/>
                          <a:ea typeface="Arial"/>
                          <a:cs typeface="Arial"/>
                        </a:rPr>
                        <a:t>0</a:t>
                      </a:r>
                    </a:p>
                  </a:txBody>
                  <a:tcPr>
                    <a:solidFill>
                      <a:srgbClr val="F6F3EA"/>
                    </a:solidFill>
                  </a:tcPr>
                </a:tc>
                <a:extLst>
                  <a:ext uri="{0D108BD9-81ED-4DB2-BD59-A6C34878D82A}">
                    <a16:rowId xmlns:a16="http://schemas.microsoft.com/office/drawing/2014/main" val="10004"/>
                  </a:ext>
                </a:extLst>
              </a:tr>
              <a:tr h="611188">
                <a:tc>
                  <a:txBody>
                    <a:bodyPr/>
                    <a:lstStyle/>
                    <a:p>
                      <a:r>
                        <a:rPr sz="1575" b="0">
                          <a:solidFill>
                            <a:srgbClr val="6F7F62"/>
                          </a:solidFill>
                          <a:latin typeface="Arial"/>
                          <a:ea typeface="Arial"/>
                          <a:cs typeface="Arial"/>
                        </a:rPr>
                        <a:t>Dead code elimination</a:t>
                      </a:r>
                    </a:p>
                  </a:txBody>
                  <a:tcPr>
                    <a:solidFill>
                      <a:srgbClr val="EEF1E4"/>
                    </a:solidFill>
                  </a:tcPr>
                </a:tc>
                <a:tc>
                  <a:txBody>
                    <a:bodyPr/>
                    <a:lstStyle/>
                    <a:p>
                      <a:r>
                        <a:rPr sz="1575" b="0">
                          <a:solidFill>
                            <a:srgbClr val="6F7F62"/>
                          </a:solidFill>
                          <a:latin typeface="Arial"/>
                          <a:ea typeface="Arial"/>
                          <a:cs typeface="Arial"/>
                        </a:rPr>
                        <a:t>7</a:t>
                      </a:r>
                    </a:p>
                  </a:txBody>
                  <a:tcPr>
                    <a:solidFill>
                      <a:srgbClr val="EEF1E4"/>
                    </a:solidFill>
                  </a:tcPr>
                </a:tc>
                <a:tc>
                  <a:txBody>
                    <a:bodyPr/>
                    <a:lstStyle/>
                    <a:p>
                      <a:r>
                        <a:rPr sz="1575" b="0">
                          <a:solidFill>
                            <a:srgbClr val="6F7F62"/>
                          </a:solidFill>
                          <a:latin typeface="Arial"/>
                          <a:ea typeface="Arial"/>
                          <a:cs typeface="Arial"/>
                        </a:rPr>
                        <a:t>+6</a:t>
                      </a:r>
                    </a:p>
                  </a:txBody>
                  <a:tcPr>
                    <a:solidFill>
                      <a:srgbClr val="EEF1E4"/>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25B73523-69A7-42BA-A754-6DA2BDFAC256}"/>
              </a:ext>
            </a:extLst>
          </p:cNvPr>
          <p:cNvSpPr>
            <a:spLocks noGrp="1"/>
          </p:cNvSpPr>
          <p:nvPr/>
        </p:nvSpPr>
        <p:spPr>
          <a:xfrm>
            <a:off x="647700" y="5476875"/>
            <a:ext cx="10477500" cy="571500"/>
          </a:xfrm>
          <a:prstGeom prst="rect">
            <a:avLst/>
          </a:prstGeom>
          <a:noFill/>
          <a:ln w="0">
            <a:noFill/>
          </a:ln>
        </p:spPr>
        <p:txBody>
          <a:bodyPr wrap="square" lIns="0" tIns="0" rIns="0" bIns="0" anchor="t">
            <a:noAutofit/>
          </a:bodyPr>
          <a:lstStyle>
            <a:defPPr>
              <a:defRPr sz="1800" b="0">
                <a:solidFill>
                  <a:srgbClr val="6F7F62"/>
                </a:solidFill>
                <a:latin typeface="Arial"/>
                <a:ea typeface="Arial"/>
                <a:cs typeface="Arial"/>
              </a:defRPr>
            </a:defPPr>
            <a:lvl1pPr>
              <a:buNone/>
              <a:defRPr sz="1800" b="0">
                <a:solidFill>
                  <a:srgbClr val="6F7F62"/>
                </a:solidFill>
                <a:latin typeface="Arial"/>
                <a:ea typeface="Arial"/>
                <a:cs typeface="Arial"/>
              </a:defRPr>
            </a:lvl1pPr>
            <a:lvl2pPr>
              <a:buNone/>
              <a:defRPr sz="1800" b="0">
                <a:solidFill>
                  <a:srgbClr val="6F7F62"/>
                </a:solidFill>
                <a:latin typeface="Arial"/>
                <a:ea typeface="Arial"/>
                <a:cs typeface="Arial"/>
              </a:defRPr>
            </a:lvl2pPr>
            <a:lvl3pPr>
              <a:buNone/>
              <a:defRPr sz="1800" b="0">
                <a:solidFill>
                  <a:srgbClr val="6F7F62"/>
                </a:solidFill>
                <a:latin typeface="Arial"/>
                <a:ea typeface="Arial"/>
                <a:cs typeface="Arial"/>
              </a:defRPr>
            </a:lvl3pPr>
            <a:lvl4pPr>
              <a:buNone/>
              <a:defRPr sz="1800" b="0">
                <a:solidFill>
                  <a:srgbClr val="6F7F62"/>
                </a:solidFill>
                <a:latin typeface="Arial"/>
                <a:ea typeface="Arial"/>
                <a:cs typeface="Arial"/>
              </a:defRPr>
            </a:lvl4pPr>
            <a:lvl5pPr>
              <a:buNone/>
              <a:defRPr sz="1800" b="0">
                <a:solidFill>
                  <a:srgbClr val="6F7F62"/>
                </a:solidFill>
                <a:latin typeface="Arial"/>
                <a:ea typeface="Arial"/>
                <a:cs typeface="Arial"/>
              </a:defRPr>
            </a:lvl5pPr>
            <a:lvl6pPr>
              <a:buNone/>
              <a:defRPr sz="1800" b="0">
                <a:solidFill>
                  <a:srgbClr val="6F7F62"/>
                </a:solidFill>
                <a:latin typeface="Arial"/>
                <a:ea typeface="Arial"/>
                <a:cs typeface="Arial"/>
              </a:defRPr>
            </a:lvl6pPr>
            <a:lvl7pPr>
              <a:buNone/>
              <a:defRPr sz="1800" b="0">
                <a:solidFill>
                  <a:srgbClr val="6F7F62"/>
                </a:solidFill>
                <a:latin typeface="Arial"/>
                <a:ea typeface="Arial"/>
                <a:cs typeface="Arial"/>
              </a:defRPr>
            </a:lvl7pPr>
            <a:lvl8pPr>
              <a:buNone/>
              <a:defRPr sz="1800" b="0">
                <a:solidFill>
                  <a:srgbClr val="6F7F62"/>
                </a:solidFill>
                <a:latin typeface="Arial"/>
                <a:ea typeface="Arial"/>
                <a:cs typeface="Arial"/>
              </a:defRPr>
            </a:lvl8pPr>
            <a:lvl9pPr>
              <a:buNone/>
              <a:defRPr sz="1800" b="0">
                <a:solidFill>
                  <a:srgbClr val="6F7F62"/>
                </a:solidFill>
                <a:latin typeface="Arial"/>
                <a:ea typeface="Arial"/>
                <a:cs typeface="Arial"/>
              </a:defRPr>
            </a:lvl9pPr>
          </a:lstStyle>
          <a:p>
            <a:pPr>
              <a:buNone/>
              <a:defRPr sz="1800" b="0">
                <a:solidFill>
                  <a:srgbClr val="6F7F62"/>
                </a:solidFill>
                <a:latin typeface="Arial"/>
                <a:ea typeface="Arial"/>
                <a:cs typeface="Arial"/>
              </a:defRPr>
            </a:pPr>
            <a:r>
              <a:rPr sz="1800" b="0">
                <a:solidFill>
                  <a:srgbClr val="6F7F62"/>
                </a:solidFill>
                <a:latin typeface="Arial"/>
                <a:ea typeface="Arial"/>
                <a:cs typeface="Arial"/>
              </a:rPr>
              <a:t>Market-order example · Positive deltas mean more TAC remains after omission.</a:t>
            </a:r>
          </a:p>
        </p:txBody>
      </p:sp>
    </p:spTree>
    <p:extLst>
      <p:ext uri="{BB962C8B-B14F-4D97-AF65-F5344CB8AC3E}">
        <p14:creationId xmlns:p14="http://schemas.microsoft.com/office/powerpoint/2010/main" val="1648875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27E03-9351-49A6-9A74-5994E7C4C3D8}"/>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Scout Office / actual local machine learning</a:t>
            </a:r>
          </a:p>
        </p:txBody>
      </p:sp>
      <p:sp>
        <p:nvSpPr>
          <p:cNvPr id="3" name="Rectangle 2">
            <a:extLst>
              <a:ext uri="{FF2B5EF4-FFF2-40B4-BE49-F238E27FC236}">
                <a16:creationId xmlns:a16="http://schemas.microsoft.com/office/drawing/2014/main" id="{0FC6BA55-47FF-4964-B78A-BF77D433B261}"/>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A4851BD8-48DB-4496-9EEC-04D26DE368D8}"/>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12</a:t>
            </a:r>
          </a:p>
        </p:txBody>
      </p:sp>
      <p:sp>
        <p:nvSpPr>
          <p:cNvPr id="5" name="Rectangle 4">
            <a:extLst>
              <a:ext uri="{FF2B5EF4-FFF2-40B4-BE49-F238E27FC236}">
                <a16:creationId xmlns:a16="http://schemas.microsoft.com/office/drawing/2014/main" id="{AE03781B-74ED-4553-A5C2-FEB1FF3F4E31}"/>
              </a:ext>
            </a:extLst>
          </p:cNvPr>
          <p:cNvSpPr>
            <a:spLocks noGrp="1"/>
          </p:cNvSpPr>
          <p:nvPr/>
        </p:nvSpPr>
        <p:spPr>
          <a:xfrm>
            <a:off x="628650" y="1381125"/>
            <a:ext cx="10763250" cy="714375"/>
          </a:xfrm>
          <a:prstGeom prst="rect">
            <a:avLst/>
          </a:prstGeom>
          <a:noFill/>
          <a:ln w="0">
            <a:noFill/>
          </a:ln>
        </p:spPr>
        <p:txBody>
          <a:bodyPr wrap="square" lIns="0" tIns="0" rIns="0" bIns="0" anchor="t">
            <a:noAutofit/>
          </a:bodyPr>
          <a:lstStyle>
            <a:defPPr>
              <a:defRPr sz="2850" b="0">
                <a:solidFill>
                  <a:srgbClr val="344638"/>
                </a:solidFill>
                <a:latin typeface="Georgia"/>
                <a:ea typeface="Georgia"/>
                <a:cs typeface="Georgia"/>
              </a:defRPr>
            </a:defPPr>
            <a:lvl1pPr>
              <a:buNone/>
              <a:defRPr sz="2850" b="0">
                <a:solidFill>
                  <a:srgbClr val="344638"/>
                </a:solidFill>
                <a:latin typeface="Georgia"/>
                <a:ea typeface="Georgia"/>
                <a:cs typeface="Georgia"/>
              </a:defRPr>
            </a:lvl1pPr>
            <a:lvl2pPr>
              <a:buNone/>
              <a:defRPr sz="2850" b="0">
                <a:solidFill>
                  <a:srgbClr val="344638"/>
                </a:solidFill>
                <a:latin typeface="Georgia"/>
                <a:ea typeface="Georgia"/>
                <a:cs typeface="Georgia"/>
              </a:defRPr>
            </a:lvl2pPr>
            <a:lvl3pPr>
              <a:buNone/>
              <a:defRPr sz="2850" b="0">
                <a:solidFill>
                  <a:srgbClr val="344638"/>
                </a:solidFill>
                <a:latin typeface="Georgia"/>
                <a:ea typeface="Georgia"/>
                <a:cs typeface="Georgia"/>
              </a:defRPr>
            </a:lvl3pPr>
            <a:lvl4pPr>
              <a:buNone/>
              <a:defRPr sz="2850" b="0">
                <a:solidFill>
                  <a:srgbClr val="344638"/>
                </a:solidFill>
                <a:latin typeface="Georgia"/>
                <a:ea typeface="Georgia"/>
                <a:cs typeface="Georgia"/>
              </a:defRPr>
            </a:lvl4pPr>
            <a:lvl5pPr>
              <a:buNone/>
              <a:defRPr sz="2850" b="0">
                <a:solidFill>
                  <a:srgbClr val="344638"/>
                </a:solidFill>
                <a:latin typeface="Georgia"/>
                <a:ea typeface="Georgia"/>
                <a:cs typeface="Georgia"/>
              </a:defRPr>
            </a:lvl5pPr>
            <a:lvl6pPr>
              <a:buNone/>
              <a:defRPr sz="2850" b="0">
                <a:solidFill>
                  <a:srgbClr val="344638"/>
                </a:solidFill>
                <a:latin typeface="Georgia"/>
                <a:ea typeface="Georgia"/>
                <a:cs typeface="Georgia"/>
              </a:defRPr>
            </a:lvl6pPr>
            <a:lvl7pPr>
              <a:buNone/>
              <a:defRPr sz="2850" b="0">
                <a:solidFill>
                  <a:srgbClr val="344638"/>
                </a:solidFill>
                <a:latin typeface="Georgia"/>
                <a:ea typeface="Georgia"/>
                <a:cs typeface="Georgia"/>
              </a:defRPr>
            </a:lvl7pPr>
            <a:lvl8pPr>
              <a:buNone/>
              <a:defRPr sz="2850" b="0">
                <a:solidFill>
                  <a:srgbClr val="344638"/>
                </a:solidFill>
                <a:latin typeface="Georgia"/>
                <a:ea typeface="Georgia"/>
                <a:cs typeface="Georgia"/>
              </a:defRPr>
            </a:lvl8pPr>
            <a:lvl9pPr>
              <a:buNone/>
              <a:defRPr sz="2850" b="0">
                <a:solidFill>
                  <a:srgbClr val="344638"/>
                </a:solidFill>
                <a:latin typeface="Georgia"/>
                <a:ea typeface="Georgia"/>
                <a:cs typeface="Georgia"/>
              </a:defRPr>
            </a:lvl9pPr>
          </a:lstStyle>
          <a:p>
            <a:pPr>
              <a:buNone/>
              <a:defRPr sz="2850" b="0">
                <a:solidFill>
                  <a:srgbClr val="344638"/>
                </a:solidFill>
                <a:latin typeface="Georgia"/>
                <a:ea typeface="Georgia"/>
                <a:cs typeface="Georgia"/>
              </a:defRPr>
            </a:pPr>
            <a:r>
              <a:rPr sz="2850" b="0">
                <a:solidFill>
                  <a:srgbClr val="344638"/>
                </a:solidFill>
                <a:latin typeface="Georgia"/>
                <a:ea typeface="Georgia"/>
                <a:cs typeface="Georgia"/>
              </a:rPr>
              <a:t>Predict → measure → inspect the disagreement</a:t>
            </a:r>
          </a:p>
        </p:txBody>
      </p:sp>
      <p:sp>
        <p:nvSpPr>
          <p:cNvPr id="6" name="Rectangle 5">
            <a:extLst>
              <a:ext uri="{FF2B5EF4-FFF2-40B4-BE49-F238E27FC236}">
                <a16:creationId xmlns:a16="http://schemas.microsoft.com/office/drawing/2014/main" id="{883001DA-EE13-4939-8DC4-4CD9E8523327}"/>
              </a:ext>
            </a:extLst>
          </p:cNvPr>
          <p:cNvSpPr>
            <a:spLocks noGrp="1"/>
          </p:cNvSpPr>
          <p:nvPr/>
        </p:nvSpPr>
        <p:spPr>
          <a:xfrm>
            <a:off x="666750" y="2571750"/>
            <a:ext cx="10287000" cy="933450"/>
          </a:xfrm>
          <a:prstGeom prst="rect">
            <a:avLst/>
          </a:prstGeom>
          <a:noFill/>
          <a:ln w="0">
            <a:noFill/>
          </a:ln>
        </p:spPr>
        <p:txBody>
          <a:bodyPr wrap="square" lIns="0" tIns="0" rIns="0" bIns="0" anchor="t">
            <a:noAutofit/>
          </a:bodyPr>
          <a:lstStyle>
            <a:defPPr>
              <a:defRPr sz="2025" b="0">
                <a:solidFill>
                  <a:srgbClr val="344638"/>
                </a:solidFill>
                <a:latin typeface="Arial"/>
                <a:ea typeface="Arial"/>
                <a:cs typeface="Arial"/>
              </a:defRPr>
            </a:defPPr>
            <a:lvl1pPr>
              <a:buNone/>
              <a:defRPr sz="2025" b="0">
                <a:solidFill>
                  <a:srgbClr val="344638"/>
                </a:solidFill>
                <a:latin typeface="Arial"/>
                <a:ea typeface="Arial"/>
                <a:cs typeface="Arial"/>
              </a:defRPr>
            </a:lvl1pPr>
            <a:lvl2pPr>
              <a:buNone/>
              <a:defRPr sz="2025" b="0">
                <a:solidFill>
                  <a:srgbClr val="344638"/>
                </a:solidFill>
                <a:latin typeface="Arial"/>
                <a:ea typeface="Arial"/>
                <a:cs typeface="Arial"/>
              </a:defRPr>
            </a:lvl2pPr>
            <a:lvl3pPr>
              <a:buNone/>
              <a:defRPr sz="2025" b="0">
                <a:solidFill>
                  <a:srgbClr val="344638"/>
                </a:solidFill>
                <a:latin typeface="Arial"/>
                <a:ea typeface="Arial"/>
                <a:cs typeface="Arial"/>
              </a:defRPr>
            </a:lvl3pPr>
            <a:lvl4pPr>
              <a:buNone/>
              <a:defRPr sz="2025" b="0">
                <a:solidFill>
                  <a:srgbClr val="344638"/>
                </a:solidFill>
                <a:latin typeface="Arial"/>
                <a:ea typeface="Arial"/>
                <a:cs typeface="Arial"/>
              </a:defRPr>
            </a:lvl4pPr>
            <a:lvl5pPr>
              <a:buNone/>
              <a:defRPr sz="2025" b="0">
                <a:solidFill>
                  <a:srgbClr val="344638"/>
                </a:solidFill>
                <a:latin typeface="Arial"/>
                <a:ea typeface="Arial"/>
                <a:cs typeface="Arial"/>
              </a:defRPr>
            </a:lvl5pPr>
            <a:lvl6pPr>
              <a:buNone/>
              <a:defRPr sz="2025" b="0">
                <a:solidFill>
                  <a:srgbClr val="344638"/>
                </a:solidFill>
                <a:latin typeface="Arial"/>
                <a:ea typeface="Arial"/>
                <a:cs typeface="Arial"/>
              </a:defRPr>
            </a:lvl6pPr>
            <a:lvl7pPr>
              <a:buNone/>
              <a:defRPr sz="2025" b="0">
                <a:solidFill>
                  <a:srgbClr val="344638"/>
                </a:solidFill>
                <a:latin typeface="Arial"/>
                <a:ea typeface="Arial"/>
                <a:cs typeface="Arial"/>
              </a:defRPr>
            </a:lvl7pPr>
            <a:lvl8pPr>
              <a:buNone/>
              <a:defRPr sz="2025" b="0">
                <a:solidFill>
                  <a:srgbClr val="344638"/>
                </a:solidFill>
                <a:latin typeface="Arial"/>
                <a:ea typeface="Arial"/>
                <a:cs typeface="Arial"/>
              </a:defRPr>
            </a:lvl8pPr>
            <a:lvl9pPr>
              <a:buNone/>
              <a:defRPr sz="2025" b="0">
                <a:solidFill>
                  <a:srgbClr val="344638"/>
                </a:solidFill>
                <a:latin typeface="Arial"/>
                <a:ea typeface="Arial"/>
                <a:cs typeface="Arial"/>
              </a:defRPr>
            </a:lvl9pPr>
          </a:lstStyle>
          <a:p>
            <a:pPr>
              <a:buNone/>
              <a:defRPr sz="2025" b="0">
                <a:solidFill>
                  <a:srgbClr val="344638"/>
                </a:solidFill>
                <a:latin typeface="Arial"/>
                <a:ea typeface="Arial"/>
                <a:cs typeface="Arial"/>
              </a:defRPr>
            </a:pPr>
            <a:r>
              <a:rPr sz="2025" b="0">
                <a:solidFill>
                  <a:srgbClr val="344638"/>
                </a:solidFill>
                <a:latin typeface="Arial"/>
                <a:ea typeface="Arial"/>
                <a:cs typeface="Arial"/>
              </a:rPr>
              <a:t>Learn from structural TAC examples using distance-weighted k-nearest-neighbor regression.</a:t>
            </a:r>
          </a:p>
        </p:txBody>
      </p:sp>
      <p:sp>
        <p:nvSpPr>
          <p:cNvPr id="7" name="Rectangle 6">
            <a:extLst>
              <a:ext uri="{FF2B5EF4-FFF2-40B4-BE49-F238E27FC236}">
                <a16:creationId xmlns:a16="http://schemas.microsoft.com/office/drawing/2014/main" id="{44ADA7BA-2917-4744-A180-A09F8C1F7F59}"/>
              </a:ext>
            </a:extLst>
          </p:cNvPr>
          <p:cNvSpPr>
            <a:spLocks noGrp="1"/>
          </p:cNvSpPr>
          <p:nvPr/>
        </p:nvSpPr>
        <p:spPr>
          <a:xfrm>
            <a:off x="666750" y="3676650"/>
            <a:ext cx="10287000" cy="933450"/>
          </a:xfrm>
          <a:prstGeom prst="rect">
            <a:avLst/>
          </a:prstGeom>
          <a:noFill/>
          <a:ln w="0">
            <a:noFill/>
          </a:ln>
        </p:spPr>
        <p:txBody>
          <a:bodyPr wrap="square" lIns="0" tIns="0" rIns="0" bIns="0" anchor="t">
            <a:noAutofit/>
          </a:bodyPr>
          <a:lstStyle>
            <a:defPPr>
              <a:defRPr sz="2025" b="0">
                <a:solidFill>
                  <a:srgbClr val="344638"/>
                </a:solidFill>
                <a:latin typeface="Arial"/>
                <a:ea typeface="Arial"/>
                <a:cs typeface="Arial"/>
              </a:defRPr>
            </a:defPPr>
            <a:lvl1pPr>
              <a:buNone/>
              <a:defRPr sz="2025" b="0">
                <a:solidFill>
                  <a:srgbClr val="344638"/>
                </a:solidFill>
                <a:latin typeface="Arial"/>
                <a:ea typeface="Arial"/>
                <a:cs typeface="Arial"/>
              </a:defRPr>
            </a:lvl1pPr>
            <a:lvl2pPr>
              <a:buNone/>
              <a:defRPr sz="2025" b="0">
                <a:solidFill>
                  <a:srgbClr val="344638"/>
                </a:solidFill>
                <a:latin typeface="Arial"/>
                <a:ea typeface="Arial"/>
                <a:cs typeface="Arial"/>
              </a:defRPr>
            </a:lvl2pPr>
            <a:lvl3pPr>
              <a:buNone/>
              <a:defRPr sz="2025" b="0">
                <a:solidFill>
                  <a:srgbClr val="344638"/>
                </a:solidFill>
                <a:latin typeface="Arial"/>
                <a:ea typeface="Arial"/>
                <a:cs typeface="Arial"/>
              </a:defRPr>
            </a:lvl3pPr>
            <a:lvl4pPr>
              <a:buNone/>
              <a:defRPr sz="2025" b="0">
                <a:solidFill>
                  <a:srgbClr val="344638"/>
                </a:solidFill>
                <a:latin typeface="Arial"/>
                <a:ea typeface="Arial"/>
                <a:cs typeface="Arial"/>
              </a:defRPr>
            </a:lvl4pPr>
            <a:lvl5pPr>
              <a:buNone/>
              <a:defRPr sz="2025" b="0">
                <a:solidFill>
                  <a:srgbClr val="344638"/>
                </a:solidFill>
                <a:latin typeface="Arial"/>
                <a:ea typeface="Arial"/>
                <a:cs typeface="Arial"/>
              </a:defRPr>
            </a:lvl5pPr>
            <a:lvl6pPr>
              <a:buNone/>
              <a:defRPr sz="2025" b="0">
                <a:solidFill>
                  <a:srgbClr val="344638"/>
                </a:solidFill>
                <a:latin typeface="Arial"/>
                <a:ea typeface="Arial"/>
                <a:cs typeface="Arial"/>
              </a:defRPr>
            </a:lvl6pPr>
            <a:lvl7pPr>
              <a:buNone/>
              <a:defRPr sz="2025" b="0">
                <a:solidFill>
                  <a:srgbClr val="344638"/>
                </a:solidFill>
                <a:latin typeface="Arial"/>
                <a:ea typeface="Arial"/>
                <a:cs typeface="Arial"/>
              </a:defRPr>
            </a:lvl7pPr>
            <a:lvl8pPr>
              <a:buNone/>
              <a:defRPr sz="2025" b="0">
                <a:solidFill>
                  <a:srgbClr val="344638"/>
                </a:solidFill>
                <a:latin typeface="Arial"/>
                <a:ea typeface="Arial"/>
                <a:cs typeface="Arial"/>
              </a:defRPr>
            </a:lvl8pPr>
            <a:lvl9pPr>
              <a:buNone/>
              <a:defRPr sz="2025" b="0">
                <a:solidFill>
                  <a:srgbClr val="344638"/>
                </a:solidFill>
                <a:latin typeface="Arial"/>
                <a:ea typeface="Arial"/>
                <a:cs typeface="Arial"/>
              </a:defRPr>
            </a:lvl9pPr>
          </a:lstStyle>
          <a:p>
            <a:pPr>
              <a:buNone/>
              <a:defRPr sz="2025" b="0">
                <a:solidFill>
                  <a:srgbClr val="344638"/>
                </a:solidFill>
                <a:latin typeface="Arial"/>
                <a:ea typeface="Arial"/>
                <a:cs typeface="Arial"/>
              </a:defRPr>
            </a:pPr>
            <a:r>
              <a:rPr sz="2025" b="0">
                <a:solidFill>
                  <a:srgbClr val="344638"/>
                </a:solidFill>
                <a:latin typeface="Arial"/>
                <a:ea typeface="Arial"/>
                <a:cs typeface="Arial"/>
              </a:rPr>
              <a:t>Predict a rewrite count for each pass using five nearby training examples.</a:t>
            </a:r>
          </a:p>
        </p:txBody>
      </p:sp>
      <p:sp>
        <p:nvSpPr>
          <p:cNvPr id="8" name="Rectangle 7">
            <a:extLst>
              <a:ext uri="{FF2B5EF4-FFF2-40B4-BE49-F238E27FC236}">
                <a16:creationId xmlns:a16="http://schemas.microsoft.com/office/drawing/2014/main" id="{F2A1519F-6198-48B3-B8C1-9880B90E0574}"/>
              </a:ext>
            </a:extLst>
          </p:cNvPr>
          <p:cNvSpPr>
            <a:spLocks noGrp="1"/>
          </p:cNvSpPr>
          <p:nvPr/>
        </p:nvSpPr>
        <p:spPr>
          <a:xfrm>
            <a:off x="666750" y="4781550"/>
            <a:ext cx="10287000" cy="933450"/>
          </a:xfrm>
          <a:prstGeom prst="rect">
            <a:avLst/>
          </a:prstGeom>
          <a:noFill/>
          <a:ln w="0">
            <a:noFill/>
          </a:ln>
        </p:spPr>
        <p:txBody>
          <a:bodyPr wrap="square" lIns="0" tIns="0" rIns="0" bIns="0" anchor="t">
            <a:noAutofit/>
          </a:bodyPr>
          <a:lstStyle>
            <a:defPPr>
              <a:defRPr sz="2025" b="0">
                <a:solidFill>
                  <a:srgbClr val="344638"/>
                </a:solidFill>
                <a:latin typeface="Arial"/>
                <a:ea typeface="Arial"/>
                <a:cs typeface="Arial"/>
              </a:defRPr>
            </a:defPPr>
            <a:lvl1pPr>
              <a:buNone/>
              <a:defRPr sz="2025" b="0">
                <a:solidFill>
                  <a:srgbClr val="344638"/>
                </a:solidFill>
                <a:latin typeface="Arial"/>
                <a:ea typeface="Arial"/>
                <a:cs typeface="Arial"/>
              </a:defRPr>
            </a:lvl1pPr>
            <a:lvl2pPr>
              <a:buNone/>
              <a:defRPr sz="2025" b="0">
                <a:solidFill>
                  <a:srgbClr val="344638"/>
                </a:solidFill>
                <a:latin typeface="Arial"/>
                <a:ea typeface="Arial"/>
                <a:cs typeface="Arial"/>
              </a:defRPr>
            </a:lvl2pPr>
            <a:lvl3pPr>
              <a:buNone/>
              <a:defRPr sz="2025" b="0">
                <a:solidFill>
                  <a:srgbClr val="344638"/>
                </a:solidFill>
                <a:latin typeface="Arial"/>
                <a:ea typeface="Arial"/>
                <a:cs typeface="Arial"/>
              </a:defRPr>
            </a:lvl3pPr>
            <a:lvl4pPr>
              <a:buNone/>
              <a:defRPr sz="2025" b="0">
                <a:solidFill>
                  <a:srgbClr val="344638"/>
                </a:solidFill>
                <a:latin typeface="Arial"/>
                <a:ea typeface="Arial"/>
                <a:cs typeface="Arial"/>
              </a:defRPr>
            </a:lvl4pPr>
            <a:lvl5pPr>
              <a:buNone/>
              <a:defRPr sz="2025" b="0">
                <a:solidFill>
                  <a:srgbClr val="344638"/>
                </a:solidFill>
                <a:latin typeface="Arial"/>
                <a:ea typeface="Arial"/>
                <a:cs typeface="Arial"/>
              </a:defRPr>
            </a:lvl5pPr>
            <a:lvl6pPr>
              <a:buNone/>
              <a:defRPr sz="2025" b="0">
                <a:solidFill>
                  <a:srgbClr val="344638"/>
                </a:solidFill>
                <a:latin typeface="Arial"/>
                <a:ea typeface="Arial"/>
                <a:cs typeface="Arial"/>
              </a:defRPr>
            </a:lvl6pPr>
            <a:lvl7pPr>
              <a:buNone/>
              <a:defRPr sz="2025" b="0">
                <a:solidFill>
                  <a:srgbClr val="344638"/>
                </a:solidFill>
                <a:latin typeface="Arial"/>
                <a:ea typeface="Arial"/>
                <a:cs typeface="Arial"/>
              </a:defRPr>
            </a:lvl7pPr>
            <a:lvl8pPr>
              <a:buNone/>
              <a:defRPr sz="2025" b="0">
                <a:solidFill>
                  <a:srgbClr val="344638"/>
                </a:solidFill>
                <a:latin typeface="Arial"/>
                <a:ea typeface="Arial"/>
                <a:cs typeface="Arial"/>
              </a:defRPr>
            </a:lvl8pPr>
            <a:lvl9pPr>
              <a:buNone/>
              <a:defRPr sz="2025" b="0">
                <a:solidFill>
                  <a:srgbClr val="344638"/>
                </a:solidFill>
                <a:latin typeface="Arial"/>
                <a:ea typeface="Arial"/>
                <a:cs typeface="Arial"/>
              </a:defRPr>
            </a:lvl9pPr>
          </a:lstStyle>
          <a:p>
            <a:pPr>
              <a:buNone/>
              <a:defRPr sz="2025" b="0">
                <a:solidFill>
                  <a:srgbClr val="344638"/>
                </a:solidFill>
                <a:latin typeface="Arial"/>
                <a:ea typeface="Arial"/>
                <a:cs typeface="Arial"/>
              </a:defRPr>
            </a:pPr>
            <a:r>
              <a:rPr sz="2025" b="0">
                <a:solidFill>
                  <a:srgbClr val="344638"/>
                </a:solidFill>
                <a:latin typeface="Arial"/>
                <a:ea typeface="Arial"/>
                <a:cs typeface="Arial"/>
              </a:rPr>
              <a:t>Run every pass on the original TAC to compare the prediction with measured evidence.</a:t>
            </a:r>
          </a:p>
        </p:txBody>
      </p:sp>
    </p:spTree>
    <p:extLst>
      <p:ext uri="{BB962C8B-B14F-4D97-AF65-F5344CB8AC3E}">
        <p14:creationId xmlns:p14="http://schemas.microsoft.com/office/powerpoint/2010/main" val="170693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CB57FB-9C68-4BDE-87B8-2A389F84861E}"/>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The scout exposes its reasoning</a:t>
            </a:r>
          </a:p>
        </p:txBody>
      </p:sp>
      <p:sp>
        <p:nvSpPr>
          <p:cNvPr id="3" name="Rectangle 2">
            <a:extLst>
              <a:ext uri="{FF2B5EF4-FFF2-40B4-BE49-F238E27FC236}">
                <a16:creationId xmlns:a16="http://schemas.microsoft.com/office/drawing/2014/main" id="{B7B5E866-F6D0-4391-8B7C-3D7EC2504622}"/>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0FA3706E-D72F-4ED1-8E36-0F4302D853AC}"/>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13</a:t>
            </a:r>
          </a:p>
        </p:txBody>
      </p:sp>
      <p:sp>
        <p:nvSpPr>
          <p:cNvPr id="5" name="Rectangle 4">
            <a:extLst>
              <a:ext uri="{FF2B5EF4-FFF2-40B4-BE49-F238E27FC236}">
                <a16:creationId xmlns:a16="http://schemas.microsoft.com/office/drawing/2014/main" id="{F012CA0C-C571-42A9-88D8-BF8225714C21}"/>
              </a:ext>
            </a:extLst>
          </p:cNvPr>
          <p:cNvSpPr>
            <a:spLocks noGrp="1"/>
          </p:cNvSpPr>
          <p:nvPr/>
        </p:nvSpPr>
        <p:spPr>
          <a:xfrm>
            <a:off x="609600" y="1476375"/>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Seven structural features; no source-code embedding or API call.</a:t>
            </a:r>
          </a:p>
        </p:txBody>
      </p:sp>
      <p:sp>
        <p:nvSpPr>
          <p:cNvPr id="6" name="Rectangle 5">
            <a:extLst>
              <a:ext uri="{FF2B5EF4-FFF2-40B4-BE49-F238E27FC236}">
                <a16:creationId xmlns:a16="http://schemas.microsoft.com/office/drawing/2014/main" id="{B0FC6479-4CAD-4C88-BB07-3DB820B5768A}"/>
              </a:ext>
            </a:extLst>
          </p:cNvPr>
          <p:cNvSpPr>
            <a:spLocks noGrp="1"/>
          </p:cNvSpPr>
          <p:nvPr/>
        </p:nvSpPr>
        <p:spPr>
          <a:xfrm>
            <a:off x="609600" y="2762250"/>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Neighbor IDs, distances and stored target counts are inspectable.</a:t>
            </a:r>
          </a:p>
        </p:txBody>
      </p:sp>
      <p:sp>
        <p:nvSpPr>
          <p:cNvPr id="7" name="Rectangle 6">
            <a:extLst>
              <a:ext uri="{FF2B5EF4-FFF2-40B4-BE49-F238E27FC236}">
                <a16:creationId xmlns:a16="http://schemas.microsoft.com/office/drawing/2014/main" id="{1499AD51-DD20-4AE3-9293-67B03C6E3589}"/>
              </a:ext>
            </a:extLst>
          </p:cNvPr>
          <p:cNvSpPr>
            <a:spLocks noGrp="1"/>
          </p:cNvSpPr>
          <p:nvPr/>
        </p:nvSpPr>
        <p:spPr>
          <a:xfrm>
            <a:off x="609600" y="4048125"/>
            <a:ext cx="3952875"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The scout suggests what to investigate. Compiler execution checks remain separate and authoritative.</a:t>
            </a:r>
          </a:p>
        </p:txBody>
      </p:sp>
      <p:pic>
        <p:nvPicPr>
          <p:cNvPr id="8" name="Picture 7">
            <a:extLst>
              <a:ext uri="{FF2B5EF4-FFF2-40B4-BE49-F238E27FC236}">
                <a16:creationId xmlns:a16="http://schemas.microsoft.com/office/drawing/2014/main" id="{DA8136AF-B113-457E-A8AF-C512EC1917C9}"/>
              </a:ext>
            </a:extLst>
          </p:cNvPr>
          <p:cNvPicPr>
            <a:picLocks noChangeAspect="1"/>
          </p:cNvPicPr>
          <p:nvPr/>
        </p:nvPicPr>
        <p:blipFill>
          <a:blip r:embed="rId3"/>
          <a:stretch/>
        </p:blipFill>
        <p:spPr>
          <a:xfrm>
            <a:off x="4953000" y="1383212"/>
            <a:ext cx="6619875" cy="4615451"/>
          </a:xfrm>
          <a:prstGeom prst="rect">
            <a:avLst/>
          </a:prstGeom>
        </p:spPr>
      </p:pic>
    </p:spTree>
    <p:extLst>
      <p:ext uri="{BB962C8B-B14F-4D97-AF65-F5344CB8AC3E}">
        <p14:creationId xmlns:p14="http://schemas.microsoft.com/office/powerpoint/2010/main" val="1882795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9A9530-173F-4437-9B89-D804E20DA9EE}"/>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Challenge Hall / game progress with feedback</a:t>
            </a:r>
          </a:p>
        </p:txBody>
      </p:sp>
      <p:sp>
        <p:nvSpPr>
          <p:cNvPr id="3" name="Rectangle 2">
            <a:extLst>
              <a:ext uri="{FF2B5EF4-FFF2-40B4-BE49-F238E27FC236}">
                <a16:creationId xmlns:a16="http://schemas.microsoft.com/office/drawing/2014/main" id="{188D7A81-1284-46D9-80F4-1BEA46FBD19E}"/>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8A1E8858-468D-4FCA-A4A4-24FEED42548A}"/>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15</a:t>
            </a:r>
          </a:p>
        </p:txBody>
      </p:sp>
      <p:sp>
        <p:nvSpPr>
          <p:cNvPr id="5" name="Rectangle 4">
            <a:extLst>
              <a:ext uri="{FF2B5EF4-FFF2-40B4-BE49-F238E27FC236}">
                <a16:creationId xmlns:a16="http://schemas.microsoft.com/office/drawing/2014/main" id="{E5BC55C7-C186-4A26-BD99-32F01FE4A434}"/>
              </a:ext>
            </a:extLst>
          </p:cNvPr>
          <p:cNvSpPr>
            <a:spLocks noGrp="1"/>
          </p:cNvSpPr>
          <p:nvPr/>
        </p:nvSpPr>
        <p:spPr>
          <a:xfrm>
            <a:off x="609600" y="147637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Seven knowledge challenges earn seven passport stamps.</a:t>
            </a:r>
          </a:p>
        </p:txBody>
      </p:sp>
      <p:sp>
        <p:nvSpPr>
          <p:cNvPr id="6" name="Rectangle 5">
            <a:extLst>
              <a:ext uri="{FF2B5EF4-FFF2-40B4-BE49-F238E27FC236}">
                <a16:creationId xmlns:a16="http://schemas.microsoft.com/office/drawing/2014/main" id="{1608E811-3DF6-4F7A-852C-C622372630A9}"/>
              </a:ext>
            </a:extLst>
          </p:cNvPr>
          <p:cNvSpPr>
            <a:spLocks noGrp="1"/>
          </p:cNvSpPr>
          <p:nvPr/>
        </p:nvSpPr>
        <p:spPr>
          <a:xfrm>
            <a:off x="609600" y="2762250"/>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Wrong answers explain the idea; a correct answer cannot earn duplicate stamps.</a:t>
            </a:r>
          </a:p>
        </p:txBody>
      </p:sp>
      <p:sp>
        <p:nvSpPr>
          <p:cNvPr id="7" name="Rectangle 6">
            <a:extLst>
              <a:ext uri="{FF2B5EF4-FFF2-40B4-BE49-F238E27FC236}">
                <a16:creationId xmlns:a16="http://schemas.microsoft.com/office/drawing/2014/main" id="{67F1668E-A24E-4B4F-A9E8-AE5515BD52CB}"/>
              </a:ext>
            </a:extLst>
          </p:cNvPr>
          <p:cNvSpPr>
            <a:spLocks noGrp="1"/>
          </p:cNvSpPr>
          <p:nvPr/>
        </p:nvSpPr>
        <p:spPr>
          <a:xfrm>
            <a:off x="609600" y="4048125"/>
            <a:ext cx="3905250" cy="1114425"/>
          </a:xfrm>
          <a:prstGeom prst="rect">
            <a:avLst/>
          </a:prstGeom>
          <a:noFill/>
          <a:ln w="0">
            <a:noFill/>
          </a:ln>
        </p:spPr>
        <p:txBody>
          <a:bodyPr wrap="square" lIns="0" tIns="0" rIns="0" bIns="0" anchor="t">
            <a:noAutofit/>
          </a:bodyPr>
          <a:lstStyle>
            <a:defPPr>
              <a:defRPr sz="1800" b="0">
                <a:solidFill>
                  <a:srgbClr val="344638"/>
                </a:solidFill>
                <a:latin typeface="Arial"/>
                <a:ea typeface="Arial"/>
                <a:cs typeface="Arial"/>
              </a:defRPr>
            </a:defPPr>
            <a:lvl1pPr>
              <a:buNone/>
              <a:defRPr sz="1800" b="0">
                <a:solidFill>
                  <a:srgbClr val="344638"/>
                </a:solidFill>
                <a:latin typeface="Arial"/>
                <a:ea typeface="Arial"/>
                <a:cs typeface="Arial"/>
              </a:defRPr>
            </a:lvl1pPr>
            <a:lvl2pPr>
              <a:buNone/>
              <a:defRPr sz="1800" b="0">
                <a:solidFill>
                  <a:srgbClr val="344638"/>
                </a:solidFill>
                <a:latin typeface="Arial"/>
                <a:ea typeface="Arial"/>
                <a:cs typeface="Arial"/>
              </a:defRPr>
            </a:lvl2pPr>
            <a:lvl3pPr>
              <a:buNone/>
              <a:defRPr sz="1800" b="0">
                <a:solidFill>
                  <a:srgbClr val="344638"/>
                </a:solidFill>
                <a:latin typeface="Arial"/>
                <a:ea typeface="Arial"/>
                <a:cs typeface="Arial"/>
              </a:defRPr>
            </a:lvl3pPr>
            <a:lvl4pPr>
              <a:buNone/>
              <a:defRPr sz="1800" b="0">
                <a:solidFill>
                  <a:srgbClr val="344638"/>
                </a:solidFill>
                <a:latin typeface="Arial"/>
                <a:ea typeface="Arial"/>
                <a:cs typeface="Arial"/>
              </a:defRPr>
            </a:lvl4pPr>
            <a:lvl5pPr>
              <a:buNone/>
              <a:defRPr sz="1800" b="0">
                <a:solidFill>
                  <a:srgbClr val="344638"/>
                </a:solidFill>
                <a:latin typeface="Arial"/>
                <a:ea typeface="Arial"/>
                <a:cs typeface="Arial"/>
              </a:defRPr>
            </a:lvl5pPr>
            <a:lvl6pPr>
              <a:buNone/>
              <a:defRPr sz="1800" b="0">
                <a:solidFill>
                  <a:srgbClr val="344638"/>
                </a:solidFill>
                <a:latin typeface="Arial"/>
                <a:ea typeface="Arial"/>
                <a:cs typeface="Arial"/>
              </a:defRPr>
            </a:lvl6pPr>
            <a:lvl7pPr>
              <a:buNone/>
              <a:defRPr sz="1800" b="0">
                <a:solidFill>
                  <a:srgbClr val="344638"/>
                </a:solidFill>
                <a:latin typeface="Arial"/>
                <a:ea typeface="Arial"/>
                <a:cs typeface="Arial"/>
              </a:defRPr>
            </a:lvl7pPr>
            <a:lvl8pPr>
              <a:buNone/>
              <a:defRPr sz="1800" b="0">
                <a:solidFill>
                  <a:srgbClr val="344638"/>
                </a:solidFill>
                <a:latin typeface="Arial"/>
                <a:ea typeface="Arial"/>
                <a:cs typeface="Arial"/>
              </a:defRPr>
            </a:lvl8pPr>
            <a:lvl9pPr>
              <a:buNone/>
              <a:defRPr sz="1800" b="0">
                <a:solidFill>
                  <a:srgbClr val="344638"/>
                </a:solidFill>
                <a:latin typeface="Arial"/>
                <a:ea typeface="Arial"/>
                <a:cs typeface="Arial"/>
              </a:defRPr>
            </a:lvl9pPr>
          </a:lstStyle>
          <a:p>
            <a:pPr>
              <a:buNone/>
              <a:defRPr sz="1800" b="0">
                <a:solidFill>
                  <a:srgbClr val="344638"/>
                </a:solidFill>
                <a:latin typeface="Arial"/>
                <a:ea typeface="Arial"/>
                <a:cs typeface="Arial"/>
              </a:defRPr>
            </a:pPr>
            <a:r>
              <a:rPr sz="1800" b="0">
                <a:solidFill>
                  <a:srgbClr val="344638"/>
                </a:solidFill>
                <a:latin typeface="Arial"/>
                <a:ea typeface="Arial"/>
                <a:cs typeface="Arial"/>
              </a:rPr>
              <a:t>Every shop stays open. Progress supports exploration rather than restricting it.</a:t>
            </a:r>
          </a:p>
        </p:txBody>
      </p:sp>
      <p:pic>
        <p:nvPicPr>
          <p:cNvPr id="8" name="Picture 7">
            <a:extLst>
              <a:ext uri="{FF2B5EF4-FFF2-40B4-BE49-F238E27FC236}">
                <a16:creationId xmlns:a16="http://schemas.microsoft.com/office/drawing/2014/main" id="{177C1120-0AD5-40DC-B56A-A4EF1282A47B}"/>
              </a:ext>
            </a:extLst>
          </p:cNvPr>
          <p:cNvPicPr>
            <a:picLocks noChangeAspect="1"/>
          </p:cNvPicPr>
          <p:nvPr/>
        </p:nvPicPr>
        <p:blipFill>
          <a:blip r:embed="rId3"/>
          <a:stretch/>
        </p:blipFill>
        <p:spPr>
          <a:xfrm>
            <a:off x="4953000" y="2702732"/>
            <a:ext cx="6619875" cy="1976411"/>
          </a:xfrm>
          <a:prstGeom prst="rect">
            <a:avLst/>
          </a:prstGeom>
        </p:spPr>
      </p:pic>
    </p:spTree>
    <p:extLst>
      <p:ext uri="{BB962C8B-B14F-4D97-AF65-F5344CB8AC3E}">
        <p14:creationId xmlns:p14="http://schemas.microsoft.com/office/powerpoint/2010/main" val="1475121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519031-8C2F-482D-BB81-FAB35646C028}"/>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Validation coverage</a:t>
            </a:r>
          </a:p>
        </p:txBody>
      </p:sp>
      <p:sp>
        <p:nvSpPr>
          <p:cNvPr id="3" name="Rectangle 2">
            <a:extLst>
              <a:ext uri="{FF2B5EF4-FFF2-40B4-BE49-F238E27FC236}">
                <a16:creationId xmlns:a16="http://schemas.microsoft.com/office/drawing/2014/main" id="{5C397B50-56F7-44AC-89BD-1C5D3E5C2ED1}"/>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E9E0B12E-5B51-4B42-B51D-DBE4AACC94F3}"/>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16</a:t>
            </a:r>
          </a:p>
        </p:txBody>
      </p:sp>
      <p:graphicFrame>
        <p:nvGraphicFramePr>
          <p:cNvPr id="5" name="Table 4">
            <a:extLst>
              <a:ext uri="{FF2B5EF4-FFF2-40B4-BE49-F238E27FC236}">
                <a16:creationId xmlns:a16="http://schemas.microsoft.com/office/drawing/2014/main" id="{A499E029-4DB1-47E6-9502-51A421D8B6FC}"/>
              </a:ext>
            </a:extLst>
          </p:cNvPr>
          <p:cNvGraphicFramePr/>
          <p:nvPr/>
        </p:nvGraphicFramePr>
        <p:xfrm>
          <a:off x="628650" y="1381125"/>
          <a:ext cx="10858500" cy="4000500"/>
        </p:xfrm>
        <a:graphic>
          <a:graphicData uri="http://schemas.openxmlformats.org/drawingml/2006/table">
            <a:tbl>
              <a:tblPr/>
              <a:tblGrid>
                <a:gridCol w="3714750">
                  <a:extLst>
                    <a:ext uri="{9D8B030D-6E8A-4147-A177-3AD203B41FA5}">
                      <a16:colId xmlns:a16="http://schemas.microsoft.com/office/drawing/2014/main" val="20000"/>
                    </a:ext>
                  </a:extLst>
                </a:gridCol>
                <a:gridCol w="7143750">
                  <a:extLst>
                    <a:ext uri="{9D8B030D-6E8A-4147-A177-3AD203B41FA5}">
                      <a16:colId xmlns:a16="http://schemas.microsoft.com/office/drawing/2014/main" val="20001"/>
                    </a:ext>
                  </a:extLst>
                </a:gridCol>
              </a:tblGrid>
              <a:tr h="666750">
                <a:tc>
                  <a:txBody>
                    <a:bodyPr/>
                    <a:lstStyle/>
                    <a:p>
                      <a:r>
                        <a:rPr sz="1575" b="1">
                          <a:solidFill>
                            <a:srgbClr val="344638"/>
                          </a:solidFill>
                          <a:latin typeface="Arial"/>
                          <a:ea typeface="Arial"/>
                          <a:cs typeface="Arial"/>
                        </a:rPr>
                        <a:t>Check</a:t>
                      </a:r>
                    </a:p>
                  </a:txBody>
                  <a:tcPr>
                    <a:solidFill>
                      <a:srgbClr val="DCE6CE"/>
                    </a:solidFill>
                  </a:tcPr>
                </a:tc>
                <a:tc>
                  <a:txBody>
                    <a:bodyPr/>
                    <a:lstStyle/>
                    <a:p>
                      <a:r>
                        <a:rPr sz="1575" b="1">
                          <a:solidFill>
                            <a:srgbClr val="344638"/>
                          </a:solidFill>
                          <a:latin typeface="Arial"/>
                          <a:ea typeface="Arial"/>
                          <a:cs typeface="Arial"/>
                        </a:rPr>
                        <a:t>Evidence</a:t>
                      </a:r>
                    </a:p>
                  </a:txBody>
                  <a:tcPr>
                    <a:solidFill>
                      <a:srgbClr val="DCE6CE"/>
                    </a:solidFill>
                  </a:tcPr>
                </a:tc>
                <a:extLst>
                  <a:ext uri="{0D108BD9-81ED-4DB2-BD59-A6C34878D82A}">
                    <a16:rowId xmlns:a16="http://schemas.microsoft.com/office/drawing/2014/main" val="10000"/>
                  </a:ext>
                </a:extLst>
              </a:tr>
              <a:tr h="666750">
                <a:tc>
                  <a:txBody>
                    <a:bodyPr/>
                    <a:lstStyle/>
                    <a:p>
                      <a:r>
                        <a:rPr sz="1575" b="0">
                          <a:solidFill>
                            <a:srgbClr val="6F7F62"/>
                          </a:solidFill>
                          <a:latin typeface="Arial"/>
                          <a:ea typeface="Arial"/>
                          <a:cs typeface="Arial"/>
                        </a:rPr>
                        <a:t>Automated test cases</a:t>
                      </a:r>
                    </a:p>
                  </a:txBody>
                  <a:tcPr>
                    <a:solidFill>
                      <a:srgbClr val="EEF1E4"/>
                    </a:solidFill>
                  </a:tcPr>
                </a:tc>
                <a:tc>
                  <a:txBody>
                    <a:bodyPr/>
                    <a:lstStyle/>
                    <a:p>
                      <a:r>
                        <a:rPr sz="1575" b="0">
                          <a:solidFill>
                            <a:srgbClr val="6F7F62"/>
                          </a:solidFill>
                          <a:latin typeface="Arial"/>
                          <a:ea typeface="Arial"/>
                          <a:cs typeface="Arial"/>
                        </a:rPr>
                        <a:t>126 passing cases across two test files</a:t>
                      </a:r>
                    </a:p>
                  </a:txBody>
                  <a:tcPr>
                    <a:solidFill>
                      <a:srgbClr val="EEF1E4"/>
                    </a:solidFill>
                  </a:tcPr>
                </a:tc>
                <a:extLst>
                  <a:ext uri="{0D108BD9-81ED-4DB2-BD59-A6C34878D82A}">
                    <a16:rowId xmlns:a16="http://schemas.microsoft.com/office/drawing/2014/main" val="10001"/>
                  </a:ext>
                </a:extLst>
              </a:tr>
              <a:tr h="666750">
                <a:tc>
                  <a:txBody>
                    <a:bodyPr/>
                    <a:lstStyle/>
                    <a:p>
                      <a:r>
                        <a:rPr sz="1575" b="0">
                          <a:solidFill>
                            <a:srgbClr val="6F7F62"/>
                          </a:solidFill>
                          <a:latin typeface="Arial"/>
                          <a:ea typeface="Arial"/>
                          <a:cs typeface="Arial"/>
                        </a:rPr>
                        <a:t>Independent arithmetic oracle</a:t>
                      </a:r>
                    </a:p>
                  </a:txBody>
                  <a:tcPr>
                    <a:solidFill>
                      <a:srgbClr val="F6F3EA"/>
                    </a:solidFill>
                  </a:tcPr>
                </a:tc>
                <a:tc>
                  <a:txBody>
                    <a:bodyPr/>
                    <a:lstStyle/>
                    <a:p>
                      <a:r>
                        <a:rPr sz="1575" b="0">
                          <a:solidFill>
                            <a:srgbClr val="6F7F62"/>
                          </a:solidFill>
                          <a:latin typeface="Arial"/>
                          <a:ea typeface="Arial"/>
                          <a:cs typeface="Arial"/>
                        </a:rPr>
                        <a:t>60 expressions × 32 pass subsets = 1,920 cases</a:t>
                      </a:r>
                    </a:p>
                  </a:txBody>
                  <a:tcPr>
                    <a:solidFill>
                      <a:srgbClr val="F6F3EA"/>
                    </a:solidFill>
                  </a:tcPr>
                </a:tc>
                <a:extLst>
                  <a:ext uri="{0D108BD9-81ED-4DB2-BD59-A6C34878D82A}">
                    <a16:rowId xmlns:a16="http://schemas.microsoft.com/office/drawing/2014/main" val="10002"/>
                  </a:ext>
                </a:extLst>
              </a:tr>
              <a:tr h="666750">
                <a:tc>
                  <a:txBody>
                    <a:bodyPr/>
                    <a:lstStyle/>
                    <a:p>
                      <a:r>
                        <a:rPr sz="1575" b="0">
                          <a:solidFill>
                            <a:srgbClr val="6F7F62"/>
                          </a:solidFill>
                          <a:latin typeface="Arial"/>
                          <a:ea typeface="Arial"/>
                          <a:cs typeface="Arial"/>
                        </a:rPr>
                        <a:t>Isolated-pass observations</a:t>
                      </a:r>
                    </a:p>
                  </a:txBody>
                  <a:tcPr>
                    <a:solidFill>
                      <a:srgbClr val="EEF1E4"/>
                    </a:solidFill>
                  </a:tcPr>
                </a:tc>
                <a:tc>
                  <a:txBody>
                    <a:bodyPr/>
                    <a:lstStyle/>
                    <a:p>
                      <a:r>
                        <a:rPr sz="1575" b="0">
                          <a:solidFill>
                            <a:srgbClr val="6F7F62"/>
                          </a:solidFill>
                          <a:latin typeface="Arial"/>
                          <a:ea typeface="Arial"/>
                          <a:cs typeface="Arial"/>
                        </a:rPr>
                        <a:t>60 synthetic programs × 5 passes = 300 checks</a:t>
                      </a:r>
                    </a:p>
                  </a:txBody>
                  <a:tcPr>
                    <a:solidFill>
                      <a:srgbClr val="EEF1E4"/>
                    </a:solidFill>
                  </a:tcPr>
                </a:tc>
                <a:extLst>
                  <a:ext uri="{0D108BD9-81ED-4DB2-BD59-A6C34878D82A}">
                    <a16:rowId xmlns:a16="http://schemas.microsoft.com/office/drawing/2014/main" val="10003"/>
                  </a:ext>
                </a:extLst>
              </a:tr>
              <a:tr h="666750">
                <a:tc>
                  <a:txBody>
                    <a:bodyPr/>
                    <a:lstStyle/>
                    <a:p>
                      <a:r>
                        <a:rPr sz="1575" b="0">
                          <a:solidFill>
                            <a:srgbClr val="6F7F62"/>
                          </a:solidFill>
                          <a:latin typeface="Arial"/>
                          <a:ea typeface="Arial"/>
                          <a:cs typeface="Arial"/>
                        </a:rPr>
                        <a:t>Numeric / error regressions</a:t>
                      </a:r>
                    </a:p>
                  </a:txBody>
                  <a:tcPr>
                    <a:solidFill>
                      <a:srgbClr val="F6F3EA"/>
                    </a:solidFill>
                  </a:tcPr>
                </a:tc>
                <a:tc>
                  <a:txBody>
                    <a:bodyPr/>
                    <a:lstStyle/>
                    <a:p>
                      <a:r>
                        <a:rPr sz="1575" b="0">
                          <a:solidFill>
                            <a:srgbClr val="6F7F62"/>
                          </a:solidFill>
                          <a:latin typeface="Arial"/>
                          <a:ea typeface="Arial"/>
                          <a:cs typeface="Arial"/>
                        </a:rPr>
                        <a:t>Signed zero, scientific notation, NaN, traps</a:t>
                      </a:r>
                    </a:p>
                  </a:txBody>
                  <a:tcPr>
                    <a:solidFill>
                      <a:srgbClr val="F6F3EA"/>
                    </a:solidFill>
                  </a:tcPr>
                </a:tc>
                <a:extLst>
                  <a:ext uri="{0D108BD9-81ED-4DB2-BD59-A6C34878D82A}">
                    <a16:rowId xmlns:a16="http://schemas.microsoft.com/office/drawing/2014/main" val="10004"/>
                  </a:ext>
                </a:extLst>
              </a:tr>
              <a:tr h="666750">
                <a:tc>
                  <a:txBody>
                    <a:bodyPr/>
                    <a:lstStyle/>
                    <a:p>
                      <a:r>
                        <a:rPr sz="1575" b="0">
                          <a:solidFill>
                            <a:srgbClr val="6F7F62"/>
                          </a:solidFill>
                          <a:latin typeface="Arial"/>
                          <a:ea typeface="Arial"/>
                          <a:cs typeface="Arial"/>
                        </a:rPr>
                        <a:t>Browser journeys</a:t>
                      </a:r>
                    </a:p>
                  </a:txBody>
                  <a:tcPr>
                    <a:solidFill>
                      <a:srgbClr val="EEF1E4"/>
                    </a:solidFill>
                  </a:tcPr>
                </a:tc>
                <a:tc>
                  <a:txBody>
                    <a:bodyPr/>
                    <a:lstStyle/>
                    <a:p>
                      <a:r>
                        <a:rPr sz="1575" b="0">
                          <a:solidFill>
                            <a:srgbClr val="6F7F62"/>
                          </a:solidFill>
                          <a:latin typeface="Arial"/>
                          <a:ea typeface="Arial"/>
                          <a:cs typeface="Arial"/>
                        </a:rPr>
                        <a:t>8 shops, replay, logs, export, stamps, mobile, offline</a:t>
                      </a:r>
                    </a:p>
                  </a:txBody>
                  <a:tcPr>
                    <a:solidFill>
                      <a:srgbClr val="EEF1E4"/>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636F6F81-3460-4323-9DA0-202267DC8124}"/>
              </a:ext>
            </a:extLst>
          </p:cNvPr>
          <p:cNvSpPr>
            <a:spLocks noGrp="1"/>
          </p:cNvSpPr>
          <p:nvPr/>
        </p:nvSpPr>
        <p:spPr>
          <a:xfrm>
            <a:off x="647700" y="5791200"/>
            <a:ext cx="10477500" cy="428625"/>
          </a:xfrm>
          <a:prstGeom prst="rect">
            <a:avLst/>
          </a:prstGeom>
          <a:noFill/>
          <a:ln w="0">
            <a:noFill/>
          </a:ln>
        </p:spPr>
        <p:txBody>
          <a:bodyPr wrap="square" lIns="0" tIns="0" rIns="0" bIns="0" anchor="t">
            <a:noAutofit/>
          </a:bodyPr>
          <a:lstStyle>
            <a:defPPr>
              <a:defRPr sz="1725" b="0">
                <a:solidFill>
                  <a:srgbClr val="6F7F62"/>
                </a:solidFill>
                <a:latin typeface="Arial"/>
                <a:ea typeface="Arial"/>
                <a:cs typeface="Arial"/>
              </a:defRPr>
            </a:defPPr>
            <a:lvl1pPr>
              <a:buNone/>
              <a:defRPr sz="1725" b="0">
                <a:solidFill>
                  <a:srgbClr val="6F7F62"/>
                </a:solidFill>
                <a:latin typeface="Arial"/>
                <a:ea typeface="Arial"/>
                <a:cs typeface="Arial"/>
              </a:defRPr>
            </a:lvl1pPr>
            <a:lvl2pPr>
              <a:buNone/>
              <a:defRPr sz="1725" b="0">
                <a:solidFill>
                  <a:srgbClr val="6F7F62"/>
                </a:solidFill>
                <a:latin typeface="Arial"/>
                <a:ea typeface="Arial"/>
                <a:cs typeface="Arial"/>
              </a:defRPr>
            </a:lvl2pPr>
            <a:lvl3pPr>
              <a:buNone/>
              <a:defRPr sz="1725" b="0">
                <a:solidFill>
                  <a:srgbClr val="6F7F62"/>
                </a:solidFill>
                <a:latin typeface="Arial"/>
                <a:ea typeface="Arial"/>
                <a:cs typeface="Arial"/>
              </a:defRPr>
            </a:lvl3pPr>
            <a:lvl4pPr>
              <a:buNone/>
              <a:defRPr sz="1725" b="0">
                <a:solidFill>
                  <a:srgbClr val="6F7F62"/>
                </a:solidFill>
                <a:latin typeface="Arial"/>
                <a:ea typeface="Arial"/>
                <a:cs typeface="Arial"/>
              </a:defRPr>
            </a:lvl4pPr>
            <a:lvl5pPr>
              <a:buNone/>
              <a:defRPr sz="1725" b="0">
                <a:solidFill>
                  <a:srgbClr val="6F7F62"/>
                </a:solidFill>
                <a:latin typeface="Arial"/>
                <a:ea typeface="Arial"/>
                <a:cs typeface="Arial"/>
              </a:defRPr>
            </a:lvl5pPr>
            <a:lvl6pPr>
              <a:buNone/>
              <a:defRPr sz="1725" b="0">
                <a:solidFill>
                  <a:srgbClr val="6F7F62"/>
                </a:solidFill>
                <a:latin typeface="Arial"/>
                <a:ea typeface="Arial"/>
                <a:cs typeface="Arial"/>
              </a:defRPr>
            </a:lvl6pPr>
            <a:lvl7pPr>
              <a:buNone/>
              <a:defRPr sz="1725" b="0">
                <a:solidFill>
                  <a:srgbClr val="6F7F62"/>
                </a:solidFill>
                <a:latin typeface="Arial"/>
                <a:ea typeface="Arial"/>
                <a:cs typeface="Arial"/>
              </a:defRPr>
            </a:lvl7pPr>
            <a:lvl8pPr>
              <a:buNone/>
              <a:defRPr sz="1725" b="0">
                <a:solidFill>
                  <a:srgbClr val="6F7F62"/>
                </a:solidFill>
                <a:latin typeface="Arial"/>
                <a:ea typeface="Arial"/>
                <a:cs typeface="Arial"/>
              </a:defRPr>
            </a:lvl8pPr>
            <a:lvl9pPr>
              <a:buNone/>
              <a:defRPr sz="1725" b="0">
                <a:solidFill>
                  <a:srgbClr val="6F7F62"/>
                </a:solidFill>
                <a:latin typeface="Arial"/>
                <a:ea typeface="Arial"/>
                <a:cs typeface="Arial"/>
              </a:defRPr>
            </a:lvl9pPr>
          </a:lstStyle>
          <a:p>
            <a:pPr>
              <a:buNone/>
              <a:defRPr sz="1725" b="0">
                <a:solidFill>
                  <a:srgbClr val="6F7F62"/>
                </a:solidFill>
                <a:latin typeface="Arial"/>
                <a:ea typeface="Arial"/>
                <a:cs typeface="Arial"/>
              </a:defRPr>
            </a:pPr>
            <a:r>
              <a:rPr sz="1725" b="0">
                <a:solidFill>
                  <a:srgbClr val="6F7F62"/>
                </a:solidFill>
                <a:latin typeface="Arial"/>
                <a:ea typeface="Arial"/>
                <a:cs typeface="Arial"/>
              </a:rPr>
              <a:t>Tested behavior is reported explicitly; universal correctness is not claimed.</a:t>
            </a:r>
          </a:p>
        </p:txBody>
      </p:sp>
    </p:spTree>
    <p:extLst>
      <p:ext uri="{BB962C8B-B14F-4D97-AF65-F5344CB8AC3E}">
        <p14:creationId xmlns:p14="http://schemas.microsoft.com/office/powerpoint/2010/main" val="636444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7FAB72-A515-47A2-A92E-A0C26785FBA9}"/>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The proposed contribution</a:t>
            </a:r>
          </a:p>
        </p:txBody>
      </p:sp>
      <p:sp>
        <p:nvSpPr>
          <p:cNvPr id="3" name="Rectangle 2">
            <a:extLst>
              <a:ext uri="{FF2B5EF4-FFF2-40B4-BE49-F238E27FC236}">
                <a16:creationId xmlns:a16="http://schemas.microsoft.com/office/drawing/2014/main" id="{61032797-1D75-43B8-8779-D763AAC0F0C2}"/>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E559B84D-7164-445A-8F73-767CD173A14E}"/>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17</a:t>
            </a:r>
          </a:p>
        </p:txBody>
      </p:sp>
      <p:sp>
        <p:nvSpPr>
          <p:cNvPr id="5" name="Rectangle 4">
            <a:extLst>
              <a:ext uri="{FF2B5EF4-FFF2-40B4-BE49-F238E27FC236}">
                <a16:creationId xmlns:a16="http://schemas.microsoft.com/office/drawing/2014/main" id="{9ADDC2C1-7A9B-4048-A81A-7FD49B9EF3C7}"/>
              </a:ext>
            </a:extLst>
          </p:cNvPr>
          <p:cNvSpPr>
            <a:spLocks noGrp="1"/>
          </p:cNvSpPr>
          <p:nvPr/>
        </p:nvSpPr>
        <p:spPr>
          <a:xfrm>
            <a:off x="628650" y="1381125"/>
            <a:ext cx="10858500" cy="762000"/>
          </a:xfrm>
          <a:prstGeom prst="rect">
            <a:avLst/>
          </a:prstGeom>
          <a:noFill/>
          <a:ln w="0">
            <a:noFill/>
          </a:ln>
        </p:spPr>
        <p:txBody>
          <a:bodyPr wrap="square" lIns="0" tIns="0" rIns="0" bIns="0" anchor="t">
            <a:noAutofit/>
          </a:bodyPr>
          <a:lstStyle>
            <a:defPPr>
              <a:defRPr sz="3225" b="0">
                <a:solidFill>
                  <a:srgbClr val="344638"/>
                </a:solidFill>
                <a:latin typeface="Georgia"/>
                <a:ea typeface="Georgia"/>
                <a:cs typeface="Georgia"/>
              </a:defRPr>
            </a:defPPr>
            <a:lvl1pPr>
              <a:buNone/>
              <a:defRPr sz="3225" b="0">
                <a:solidFill>
                  <a:srgbClr val="344638"/>
                </a:solidFill>
                <a:latin typeface="Georgia"/>
                <a:ea typeface="Georgia"/>
                <a:cs typeface="Georgia"/>
              </a:defRPr>
            </a:lvl1pPr>
            <a:lvl2pPr>
              <a:buNone/>
              <a:defRPr sz="3225" b="0">
                <a:solidFill>
                  <a:srgbClr val="344638"/>
                </a:solidFill>
                <a:latin typeface="Georgia"/>
                <a:ea typeface="Georgia"/>
                <a:cs typeface="Georgia"/>
              </a:defRPr>
            </a:lvl2pPr>
            <a:lvl3pPr>
              <a:buNone/>
              <a:defRPr sz="3225" b="0">
                <a:solidFill>
                  <a:srgbClr val="344638"/>
                </a:solidFill>
                <a:latin typeface="Georgia"/>
                <a:ea typeface="Georgia"/>
                <a:cs typeface="Georgia"/>
              </a:defRPr>
            </a:lvl3pPr>
            <a:lvl4pPr>
              <a:buNone/>
              <a:defRPr sz="3225" b="0">
                <a:solidFill>
                  <a:srgbClr val="344638"/>
                </a:solidFill>
                <a:latin typeface="Georgia"/>
                <a:ea typeface="Georgia"/>
                <a:cs typeface="Georgia"/>
              </a:defRPr>
            </a:lvl4pPr>
            <a:lvl5pPr>
              <a:buNone/>
              <a:defRPr sz="3225" b="0">
                <a:solidFill>
                  <a:srgbClr val="344638"/>
                </a:solidFill>
                <a:latin typeface="Georgia"/>
                <a:ea typeface="Georgia"/>
                <a:cs typeface="Georgia"/>
              </a:defRPr>
            </a:lvl5pPr>
            <a:lvl6pPr>
              <a:buNone/>
              <a:defRPr sz="3225" b="0">
                <a:solidFill>
                  <a:srgbClr val="344638"/>
                </a:solidFill>
                <a:latin typeface="Georgia"/>
                <a:ea typeface="Georgia"/>
                <a:cs typeface="Georgia"/>
              </a:defRPr>
            </a:lvl6pPr>
            <a:lvl7pPr>
              <a:buNone/>
              <a:defRPr sz="3225" b="0">
                <a:solidFill>
                  <a:srgbClr val="344638"/>
                </a:solidFill>
                <a:latin typeface="Georgia"/>
                <a:ea typeface="Georgia"/>
                <a:cs typeface="Georgia"/>
              </a:defRPr>
            </a:lvl7pPr>
            <a:lvl8pPr>
              <a:buNone/>
              <a:defRPr sz="3225" b="0">
                <a:solidFill>
                  <a:srgbClr val="344638"/>
                </a:solidFill>
                <a:latin typeface="Georgia"/>
                <a:ea typeface="Georgia"/>
                <a:cs typeface="Georgia"/>
              </a:defRPr>
            </a:lvl8pPr>
            <a:lvl9pPr>
              <a:buNone/>
              <a:defRPr sz="3225" b="0">
                <a:solidFill>
                  <a:srgbClr val="344638"/>
                </a:solidFill>
                <a:latin typeface="Georgia"/>
                <a:ea typeface="Georgia"/>
                <a:cs typeface="Georgia"/>
              </a:defRPr>
            </a:lvl9pPr>
          </a:lstStyle>
          <a:p>
            <a:pPr>
              <a:buNone/>
              <a:defRPr sz="3225" b="0">
                <a:solidFill>
                  <a:srgbClr val="344638"/>
                </a:solidFill>
                <a:latin typeface="Georgia"/>
                <a:ea typeface="Georgia"/>
                <a:cs typeface="Georgia"/>
              </a:defRPr>
            </a:pPr>
            <a:r>
              <a:rPr sz="3225" b="0">
                <a:solidFill>
                  <a:srgbClr val="344638"/>
                </a:solidFill>
                <a:latin typeface="Georgia"/>
                <a:ea typeface="Georgia"/>
                <a:cs typeface="Georgia"/>
              </a:rPr>
              <a:t>A spatial, evidence-checked learning loop</a:t>
            </a:r>
          </a:p>
        </p:txBody>
      </p:sp>
      <p:sp>
        <p:nvSpPr>
          <p:cNvPr id="6" name="Rectangle 5">
            <a:extLst>
              <a:ext uri="{FF2B5EF4-FFF2-40B4-BE49-F238E27FC236}">
                <a16:creationId xmlns:a16="http://schemas.microsoft.com/office/drawing/2014/main" id="{E4B2BB0B-39FA-4E0D-A061-3C66DA62288C}"/>
              </a:ext>
            </a:extLst>
          </p:cNvPr>
          <p:cNvSpPr>
            <a:spLocks noGrp="1"/>
          </p:cNvSpPr>
          <p:nvPr/>
        </p:nvSpPr>
        <p:spPr>
          <a:xfrm>
            <a:off x="666750" y="2667000"/>
            <a:ext cx="10477500" cy="876300"/>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A program becomes a parcel with an artifact at each shop.</a:t>
            </a:r>
          </a:p>
        </p:txBody>
      </p:sp>
      <p:sp>
        <p:nvSpPr>
          <p:cNvPr id="7" name="Rectangle 6">
            <a:extLst>
              <a:ext uri="{FF2B5EF4-FFF2-40B4-BE49-F238E27FC236}">
                <a16:creationId xmlns:a16="http://schemas.microsoft.com/office/drawing/2014/main" id="{E410DB05-E1D0-488C-BC63-4388D21FD38A}"/>
              </a:ext>
            </a:extLst>
          </p:cNvPr>
          <p:cNvSpPr>
            <a:spLocks noGrp="1"/>
          </p:cNvSpPr>
          <p:nvPr/>
        </p:nvSpPr>
        <p:spPr>
          <a:xfrm>
            <a:off x="666750" y="3714750"/>
            <a:ext cx="10477500" cy="876300"/>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Optimization experiments expose both behavior and pass interactions.</a:t>
            </a:r>
          </a:p>
        </p:txBody>
      </p:sp>
      <p:sp>
        <p:nvSpPr>
          <p:cNvPr id="8" name="Rectangle 7">
            <a:extLst>
              <a:ext uri="{FF2B5EF4-FFF2-40B4-BE49-F238E27FC236}">
                <a16:creationId xmlns:a16="http://schemas.microsoft.com/office/drawing/2014/main" id="{ADAA9DB1-5F5B-43C0-98F0-BD803037220C}"/>
              </a:ext>
            </a:extLst>
          </p:cNvPr>
          <p:cNvSpPr>
            <a:spLocks noGrp="1"/>
          </p:cNvSpPr>
          <p:nvPr/>
        </p:nvSpPr>
        <p:spPr>
          <a:xfrm>
            <a:off x="666750" y="4762500"/>
            <a:ext cx="10477500" cy="876300"/>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An inspectable ML suggestion is checked against compiler evidence, so disagreement becomes a teaching moment.</a:t>
            </a:r>
          </a:p>
        </p:txBody>
      </p:sp>
    </p:spTree>
    <p:extLst>
      <p:ext uri="{BB962C8B-B14F-4D97-AF65-F5344CB8AC3E}">
        <p14:creationId xmlns:p14="http://schemas.microsoft.com/office/powerpoint/2010/main" val="68721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7CA7A9-AA1B-46E2-AB99-8D041F2D7870}"/>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Project boundaries and research next steps</a:t>
            </a:r>
          </a:p>
        </p:txBody>
      </p:sp>
      <p:sp>
        <p:nvSpPr>
          <p:cNvPr id="3" name="Rectangle 2">
            <a:extLst>
              <a:ext uri="{FF2B5EF4-FFF2-40B4-BE49-F238E27FC236}">
                <a16:creationId xmlns:a16="http://schemas.microsoft.com/office/drawing/2014/main" id="{8B89311B-8485-46D8-B4C0-40685443DEC0}"/>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03532F8B-25A2-4A63-8F9F-18DCBB7F3469}"/>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18</a:t>
            </a:r>
          </a:p>
        </p:txBody>
      </p:sp>
      <p:sp>
        <p:nvSpPr>
          <p:cNvPr id="5" name="Rectangle 4">
            <a:extLst>
              <a:ext uri="{FF2B5EF4-FFF2-40B4-BE49-F238E27FC236}">
                <a16:creationId xmlns:a16="http://schemas.microsoft.com/office/drawing/2014/main" id="{03A79DBB-D4A7-496F-8274-51854E3A7C5C}"/>
              </a:ext>
            </a:extLst>
          </p:cNvPr>
          <p:cNvSpPr>
            <a:spLocks noGrp="1"/>
          </p:cNvSpPr>
          <p:nvPr/>
        </p:nvSpPr>
        <p:spPr>
          <a:xfrm>
            <a:off x="647700" y="1428750"/>
            <a:ext cx="4762500" cy="523875"/>
          </a:xfrm>
          <a:prstGeom prst="rect">
            <a:avLst/>
          </a:prstGeom>
          <a:noFill/>
          <a:ln w="0">
            <a:noFill/>
          </a:ln>
        </p:spPr>
        <p:txBody>
          <a:bodyPr wrap="square" lIns="0" tIns="0" rIns="0" bIns="0" anchor="t">
            <a:noAutofit/>
          </a:bodyPr>
          <a:lstStyle>
            <a:defPPr>
              <a:defRPr sz="2400" b="0">
                <a:solidFill>
                  <a:srgbClr val="344638"/>
                </a:solidFill>
                <a:latin typeface="Georgia"/>
                <a:ea typeface="Georgia"/>
                <a:cs typeface="Georgia"/>
              </a:defRPr>
            </a:defPPr>
            <a:lvl1pPr>
              <a:buNone/>
              <a:defRPr sz="2400" b="0">
                <a:solidFill>
                  <a:srgbClr val="344638"/>
                </a:solidFill>
                <a:latin typeface="Georgia"/>
                <a:ea typeface="Georgia"/>
                <a:cs typeface="Georgia"/>
              </a:defRPr>
            </a:lvl1pPr>
            <a:lvl2pPr>
              <a:buNone/>
              <a:defRPr sz="2400" b="0">
                <a:solidFill>
                  <a:srgbClr val="344638"/>
                </a:solidFill>
                <a:latin typeface="Georgia"/>
                <a:ea typeface="Georgia"/>
                <a:cs typeface="Georgia"/>
              </a:defRPr>
            </a:lvl2pPr>
            <a:lvl3pPr>
              <a:buNone/>
              <a:defRPr sz="2400" b="0">
                <a:solidFill>
                  <a:srgbClr val="344638"/>
                </a:solidFill>
                <a:latin typeface="Georgia"/>
                <a:ea typeface="Georgia"/>
                <a:cs typeface="Georgia"/>
              </a:defRPr>
            </a:lvl3pPr>
            <a:lvl4pPr>
              <a:buNone/>
              <a:defRPr sz="2400" b="0">
                <a:solidFill>
                  <a:srgbClr val="344638"/>
                </a:solidFill>
                <a:latin typeface="Georgia"/>
                <a:ea typeface="Georgia"/>
                <a:cs typeface="Georgia"/>
              </a:defRPr>
            </a:lvl4pPr>
            <a:lvl5pPr>
              <a:buNone/>
              <a:defRPr sz="2400" b="0">
                <a:solidFill>
                  <a:srgbClr val="344638"/>
                </a:solidFill>
                <a:latin typeface="Georgia"/>
                <a:ea typeface="Georgia"/>
                <a:cs typeface="Georgia"/>
              </a:defRPr>
            </a:lvl5pPr>
            <a:lvl6pPr>
              <a:buNone/>
              <a:defRPr sz="2400" b="0">
                <a:solidFill>
                  <a:srgbClr val="344638"/>
                </a:solidFill>
                <a:latin typeface="Georgia"/>
                <a:ea typeface="Georgia"/>
                <a:cs typeface="Georgia"/>
              </a:defRPr>
            </a:lvl6pPr>
            <a:lvl7pPr>
              <a:buNone/>
              <a:defRPr sz="2400" b="0">
                <a:solidFill>
                  <a:srgbClr val="344638"/>
                </a:solidFill>
                <a:latin typeface="Georgia"/>
                <a:ea typeface="Georgia"/>
                <a:cs typeface="Georgia"/>
              </a:defRPr>
            </a:lvl7pPr>
            <a:lvl8pPr>
              <a:buNone/>
              <a:defRPr sz="2400" b="0">
                <a:solidFill>
                  <a:srgbClr val="344638"/>
                </a:solidFill>
                <a:latin typeface="Georgia"/>
                <a:ea typeface="Georgia"/>
                <a:cs typeface="Georgia"/>
              </a:defRPr>
            </a:lvl8pPr>
            <a:lvl9pPr>
              <a:buNone/>
              <a:defRPr sz="2400" b="0">
                <a:solidFill>
                  <a:srgbClr val="344638"/>
                </a:solidFill>
                <a:latin typeface="Georgia"/>
                <a:ea typeface="Georgia"/>
                <a:cs typeface="Georgia"/>
              </a:defRPr>
            </a:lvl9pPr>
          </a:lstStyle>
          <a:p>
            <a:pPr>
              <a:buNone/>
              <a:defRPr sz="2400" b="0">
                <a:solidFill>
                  <a:srgbClr val="344638"/>
                </a:solidFill>
                <a:latin typeface="Georgia"/>
                <a:ea typeface="Georgia"/>
                <a:cs typeface="Georgia"/>
              </a:defRPr>
            </a:pPr>
            <a:r>
              <a:rPr sz="2400" b="0">
                <a:solidFill>
                  <a:srgbClr val="344638"/>
                </a:solidFill>
                <a:latin typeface="Georgia"/>
                <a:ea typeface="Georgia"/>
                <a:cs typeface="Georgia"/>
              </a:rPr>
              <a:t>Implemented</a:t>
            </a:r>
          </a:p>
        </p:txBody>
      </p:sp>
      <p:sp>
        <p:nvSpPr>
          <p:cNvPr id="6" name="Rectangle 5">
            <a:extLst>
              <a:ext uri="{FF2B5EF4-FFF2-40B4-BE49-F238E27FC236}">
                <a16:creationId xmlns:a16="http://schemas.microsoft.com/office/drawing/2014/main" id="{675DD036-88F1-497D-9BF0-5463037396F3}"/>
              </a:ext>
            </a:extLst>
          </p:cNvPr>
          <p:cNvSpPr>
            <a:spLocks noGrp="1"/>
          </p:cNvSpPr>
          <p:nvPr/>
        </p:nvSpPr>
        <p:spPr>
          <a:xfrm>
            <a:off x="647700" y="2190750"/>
            <a:ext cx="4762500" cy="2333625"/>
          </a:xfrm>
          <a:prstGeom prst="rect">
            <a:avLst/>
          </a:prstGeom>
          <a:noFill/>
          <a:ln w="0">
            <a:noFill/>
          </a:ln>
        </p:spPr>
        <p:txBody>
          <a:bodyPr wrap="square" lIns="0" tIns="0" rIns="0" bIns="0" anchor="t">
            <a:noAutofit/>
          </a:bodyPr>
          <a:lstStyle>
            <a:defPPr>
              <a:defRPr sz="2100" b="0">
                <a:solidFill>
                  <a:srgbClr val="6F7F62"/>
                </a:solidFill>
                <a:latin typeface="Arial"/>
                <a:ea typeface="Arial"/>
                <a:cs typeface="Arial"/>
              </a:defRPr>
            </a:defPPr>
            <a:lvl1pPr>
              <a:buNone/>
              <a:defRPr sz="2100" b="0">
                <a:solidFill>
                  <a:srgbClr val="6F7F62"/>
                </a:solidFill>
                <a:latin typeface="Arial"/>
                <a:ea typeface="Arial"/>
                <a:cs typeface="Arial"/>
              </a:defRPr>
            </a:lvl1pPr>
            <a:lvl2pPr>
              <a:buNone/>
              <a:defRPr sz="2100" b="0">
                <a:solidFill>
                  <a:srgbClr val="6F7F62"/>
                </a:solidFill>
                <a:latin typeface="Arial"/>
                <a:ea typeface="Arial"/>
                <a:cs typeface="Arial"/>
              </a:defRPr>
            </a:lvl2pPr>
            <a:lvl3pPr>
              <a:buNone/>
              <a:defRPr sz="2100" b="0">
                <a:solidFill>
                  <a:srgbClr val="6F7F62"/>
                </a:solidFill>
                <a:latin typeface="Arial"/>
                <a:ea typeface="Arial"/>
                <a:cs typeface="Arial"/>
              </a:defRPr>
            </a:lvl3pPr>
            <a:lvl4pPr>
              <a:buNone/>
              <a:defRPr sz="2100" b="0">
                <a:solidFill>
                  <a:srgbClr val="6F7F62"/>
                </a:solidFill>
                <a:latin typeface="Arial"/>
                <a:ea typeface="Arial"/>
                <a:cs typeface="Arial"/>
              </a:defRPr>
            </a:lvl4pPr>
            <a:lvl5pPr>
              <a:buNone/>
              <a:defRPr sz="2100" b="0">
                <a:solidFill>
                  <a:srgbClr val="6F7F62"/>
                </a:solidFill>
                <a:latin typeface="Arial"/>
                <a:ea typeface="Arial"/>
                <a:cs typeface="Arial"/>
              </a:defRPr>
            </a:lvl5pPr>
            <a:lvl6pPr>
              <a:buNone/>
              <a:defRPr sz="2100" b="0">
                <a:solidFill>
                  <a:srgbClr val="6F7F62"/>
                </a:solidFill>
                <a:latin typeface="Arial"/>
                <a:ea typeface="Arial"/>
                <a:cs typeface="Arial"/>
              </a:defRPr>
            </a:lvl6pPr>
            <a:lvl7pPr>
              <a:buNone/>
              <a:defRPr sz="2100" b="0">
                <a:solidFill>
                  <a:srgbClr val="6F7F62"/>
                </a:solidFill>
                <a:latin typeface="Arial"/>
                <a:ea typeface="Arial"/>
                <a:cs typeface="Arial"/>
              </a:defRPr>
            </a:lvl7pPr>
            <a:lvl8pPr>
              <a:buNone/>
              <a:defRPr sz="2100" b="0">
                <a:solidFill>
                  <a:srgbClr val="6F7F62"/>
                </a:solidFill>
                <a:latin typeface="Arial"/>
                <a:ea typeface="Arial"/>
                <a:cs typeface="Arial"/>
              </a:defRPr>
            </a:lvl8pPr>
            <a:lvl9pPr>
              <a:buNone/>
              <a:defRPr sz="2100" b="0">
                <a:solidFill>
                  <a:srgbClr val="6F7F62"/>
                </a:solidFill>
                <a:latin typeface="Arial"/>
                <a:ea typeface="Arial"/>
                <a:cs typeface="Arial"/>
              </a:defRPr>
            </a:lvl9pPr>
          </a:lstStyle>
          <a:p>
            <a:pPr>
              <a:buNone/>
              <a:defRPr sz="2100" b="0">
                <a:solidFill>
                  <a:srgbClr val="6F7F62"/>
                </a:solidFill>
                <a:latin typeface="Arial"/>
                <a:ea typeface="Arial"/>
                <a:cs typeface="Arial"/>
              </a:defRPr>
            </a:pPr>
            <a:r>
              <a:rPr sz="2100" b="0">
                <a:solidFill>
                  <a:srgbClr val="6F7F62"/>
                </a:solidFill>
                <a:latin typeface="Arial"/>
                <a:ea typeface="Arial"/>
                <a:cs typeface="Arial"/>
              </a:rPr>
              <a:t>Local compiler, inspectable artifacts, five-pass experiments, detailed traces, local ML, passport challenges and evidence export.</a:t>
            </a:r>
          </a:p>
        </p:txBody>
      </p:sp>
      <p:sp>
        <p:nvSpPr>
          <p:cNvPr id="7" name="Rectangle 6">
            <a:extLst>
              <a:ext uri="{FF2B5EF4-FFF2-40B4-BE49-F238E27FC236}">
                <a16:creationId xmlns:a16="http://schemas.microsoft.com/office/drawing/2014/main" id="{3CFDEEF2-30F0-47B2-ADD4-7591A9C2F69A}"/>
              </a:ext>
            </a:extLst>
          </p:cNvPr>
          <p:cNvSpPr>
            <a:spLocks noGrp="1"/>
          </p:cNvSpPr>
          <p:nvPr/>
        </p:nvSpPr>
        <p:spPr>
          <a:xfrm>
            <a:off x="6619875" y="1428750"/>
            <a:ext cx="4762500" cy="523875"/>
          </a:xfrm>
          <a:prstGeom prst="rect">
            <a:avLst/>
          </a:prstGeom>
          <a:noFill/>
          <a:ln w="0">
            <a:noFill/>
          </a:ln>
        </p:spPr>
        <p:txBody>
          <a:bodyPr wrap="square" lIns="0" tIns="0" rIns="0" bIns="0" anchor="t">
            <a:noAutofit/>
          </a:bodyPr>
          <a:lstStyle>
            <a:defPPr>
              <a:defRPr sz="2400" b="0">
                <a:solidFill>
                  <a:srgbClr val="344638"/>
                </a:solidFill>
                <a:latin typeface="Georgia"/>
                <a:ea typeface="Georgia"/>
                <a:cs typeface="Georgia"/>
              </a:defRPr>
            </a:defPPr>
            <a:lvl1pPr>
              <a:buNone/>
              <a:defRPr sz="2400" b="0">
                <a:solidFill>
                  <a:srgbClr val="344638"/>
                </a:solidFill>
                <a:latin typeface="Georgia"/>
                <a:ea typeface="Georgia"/>
                <a:cs typeface="Georgia"/>
              </a:defRPr>
            </a:lvl1pPr>
            <a:lvl2pPr>
              <a:buNone/>
              <a:defRPr sz="2400" b="0">
                <a:solidFill>
                  <a:srgbClr val="344638"/>
                </a:solidFill>
                <a:latin typeface="Georgia"/>
                <a:ea typeface="Georgia"/>
                <a:cs typeface="Georgia"/>
              </a:defRPr>
            </a:lvl2pPr>
            <a:lvl3pPr>
              <a:buNone/>
              <a:defRPr sz="2400" b="0">
                <a:solidFill>
                  <a:srgbClr val="344638"/>
                </a:solidFill>
                <a:latin typeface="Georgia"/>
                <a:ea typeface="Georgia"/>
                <a:cs typeface="Georgia"/>
              </a:defRPr>
            </a:lvl3pPr>
            <a:lvl4pPr>
              <a:buNone/>
              <a:defRPr sz="2400" b="0">
                <a:solidFill>
                  <a:srgbClr val="344638"/>
                </a:solidFill>
                <a:latin typeface="Georgia"/>
                <a:ea typeface="Georgia"/>
                <a:cs typeface="Georgia"/>
              </a:defRPr>
            </a:lvl4pPr>
            <a:lvl5pPr>
              <a:buNone/>
              <a:defRPr sz="2400" b="0">
                <a:solidFill>
                  <a:srgbClr val="344638"/>
                </a:solidFill>
                <a:latin typeface="Georgia"/>
                <a:ea typeface="Georgia"/>
                <a:cs typeface="Georgia"/>
              </a:defRPr>
            </a:lvl5pPr>
            <a:lvl6pPr>
              <a:buNone/>
              <a:defRPr sz="2400" b="0">
                <a:solidFill>
                  <a:srgbClr val="344638"/>
                </a:solidFill>
                <a:latin typeface="Georgia"/>
                <a:ea typeface="Georgia"/>
                <a:cs typeface="Georgia"/>
              </a:defRPr>
            </a:lvl6pPr>
            <a:lvl7pPr>
              <a:buNone/>
              <a:defRPr sz="2400" b="0">
                <a:solidFill>
                  <a:srgbClr val="344638"/>
                </a:solidFill>
                <a:latin typeface="Georgia"/>
                <a:ea typeface="Georgia"/>
                <a:cs typeface="Georgia"/>
              </a:defRPr>
            </a:lvl7pPr>
            <a:lvl8pPr>
              <a:buNone/>
              <a:defRPr sz="2400" b="0">
                <a:solidFill>
                  <a:srgbClr val="344638"/>
                </a:solidFill>
                <a:latin typeface="Georgia"/>
                <a:ea typeface="Georgia"/>
                <a:cs typeface="Georgia"/>
              </a:defRPr>
            </a:lvl8pPr>
            <a:lvl9pPr>
              <a:buNone/>
              <a:defRPr sz="2400" b="0">
                <a:solidFill>
                  <a:srgbClr val="344638"/>
                </a:solidFill>
                <a:latin typeface="Georgia"/>
                <a:ea typeface="Georgia"/>
                <a:cs typeface="Georgia"/>
              </a:defRPr>
            </a:lvl9pPr>
          </a:lstStyle>
          <a:p>
            <a:pPr>
              <a:buNone/>
              <a:defRPr sz="2400" b="0">
                <a:solidFill>
                  <a:srgbClr val="344638"/>
                </a:solidFill>
                <a:latin typeface="Georgia"/>
                <a:ea typeface="Georgia"/>
                <a:cs typeface="Georgia"/>
              </a:defRPr>
            </a:pPr>
            <a:r>
              <a:rPr sz="2400" b="0">
                <a:solidFill>
                  <a:srgbClr val="344638"/>
                </a:solidFill>
                <a:latin typeface="Georgia"/>
                <a:ea typeface="Georgia"/>
                <a:cs typeface="Georgia"/>
              </a:rPr>
              <a:t>Still open</a:t>
            </a:r>
          </a:p>
        </p:txBody>
      </p:sp>
      <p:sp>
        <p:nvSpPr>
          <p:cNvPr id="8" name="Rectangle 7">
            <a:extLst>
              <a:ext uri="{FF2B5EF4-FFF2-40B4-BE49-F238E27FC236}">
                <a16:creationId xmlns:a16="http://schemas.microsoft.com/office/drawing/2014/main" id="{BCA54B8F-515A-4B45-9475-FCE47105822B}"/>
              </a:ext>
            </a:extLst>
          </p:cNvPr>
          <p:cNvSpPr>
            <a:spLocks noGrp="1"/>
          </p:cNvSpPr>
          <p:nvPr/>
        </p:nvSpPr>
        <p:spPr>
          <a:xfrm>
            <a:off x="6619875" y="2190750"/>
            <a:ext cx="4762500" cy="2333625"/>
          </a:xfrm>
          <a:prstGeom prst="rect">
            <a:avLst/>
          </a:prstGeom>
          <a:noFill/>
          <a:ln w="0">
            <a:noFill/>
          </a:ln>
        </p:spPr>
        <p:txBody>
          <a:bodyPr wrap="square" lIns="0" tIns="0" rIns="0" bIns="0" anchor="t">
            <a:noAutofit/>
          </a:bodyPr>
          <a:lstStyle>
            <a:defPPr>
              <a:defRPr sz="2100" b="0">
                <a:solidFill>
                  <a:srgbClr val="6F7F62"/>
                </a:solidFill>
                <a:latin typeface="Arial"/>
                <a:ea typeface="Arial"/>
                <a:cs typeface="Arial"/>
              </a:defRPr>
            </a:defPPr>
            <a:lvl1pPr>
              <a:buNone/>
              <a:defRPr sz="2100" b="0">
                <a:solidFill>
                  <a:srgbClr val="6F7F62"/>
                </a:solidFill>
                <a:latin typeface="Arial"/>
                <a:ea typeface="Arial"/>
                <a:cs typeface="Arial"/>
              </a:defRPr>
            </a:lvl1pPr>
            <a:lvl2pPr>
              <a:buNone/>
              <a:defRPr sz="2100" b="0">
                <a:solidFill>
                  <a:srgbClr val="6F7F62"/>
                </a:solidFill>
                <a:latin typeface="Arial"/>
                <a:ea typeface="Arial"/>
                <a:cs typeface="Arial"/>
              </a:defRPr>
            </a:lvl2pPr>
            <a:lvl3pPr>
              <a:buNone/>
              <a:defRPr sz="2100" b="0">
                <a:solidFill>
                  <a:srgbClr val="6F7F62"/>
                </a:solidFill>
                <a:latin typeface="Arial"/>
                <a:ea typeface="Arial"/>
                <a:cs typeface="Arial"/>
              </a:defRPr>
            </a:lvl3pPr>
            <a:lvl4pPr>
              <a:buNone/>
              <a:defRPr sz="2100" b="0">
                <a:solidFill>
                  <a:srgbClr val="6F7F62"/>
                </a:solidFill>
                <a:latin typeface="Arial"/>
                <a:ea typeface="Arial"/>
                <a:cs typeface="Arial"/>
              </a:defRPr>
            </a:lvl4pPr>
            <a:lvl5pPr>
              <a:buNone/>
              <a:defRPr sz="2100" b="0">
                <a:solidFill>
                  <a:srgbClr val="6F7F62"/>
                </a:solidFill>
                <a:latin typeface="Arial"/>
                <a:ea typeface="Arial"/>
                <a:cs typeface="Arial"/>
              </a:defRPr>
            </a:lvl5pPr>
            <a:lvl6pPr>
              <a:buNone/>
              <a:defRPr sz="2100" b="0">
                <a:solidFill>
                  <a:srgbClr val="6F7F62"/>
                </a:solidFill>
                <a:latin typeface="Arial"/>
                <a:ea typeface="Arial"/>
                <a:cs typeface="Arial"/>
              </a:defRPr>
            </a:lvl6pPr>
            <a:lvl7pPr>
              <a:buNone/>
              <a:defRPr sz="2100" b="0">
                <a:solidFill>
                  <a:srgbClr val="6F7F62"/>
                </a:solidFill>
                <a:latin typeface="Arial"/>
                <a:ea typeface="Arial"/>
                <a:cs typeface="Arial"/>
              </a:defRPr>
            </a:lvl7pPr>
            <a:lvl8pPr>
              <a:buNone/>
              <a:defRPr sz="2100" b="0">
                <a:solidFill>
                  <a:srgbClr val="6F7F62"/>
                </a:solidFill>
                <a:latin typeface="Arial"/>
                <a:ea typeface="Arial"/>
                <a:cs typeface="Arial"/>
              </a:defRPr>
            </a:lvl8pPr>
            <a:lvl9pPr>
              <a:buNone/>
              <a:defRPr sz="2100" b="0">
                <a:solidFill>
                  <a:srgbClr val="6F7F62"/>
                </a:solidFill>
                <a:latin typeface="Arial"/>
                <a:ea typeface="Arial"/>
                <a:cs typeface="Arial"/>
              </a:defRPr>
            </a:lvl9pPr>
          </a:lstStyle>
          <a:p>
            <a:pPr>
              <a:buNone/>
              <a:defRPr sz="2100" b="0">
                <a:solidFill>
                  <a:srgbClr val="6F7F62"/>
                </a:solidFill>
                <a:latin typeface="Arial"/>
                <a:ea typeface="Arial"/>
                <a:cs typeface="Arial"/>
              </a:defRPr>
            </a:pPr>
            <a:r>
              <a:rPr sz="2100" b="0">
                <a:solidFill>
                  <a:srgbClr val="6F7F62"/>
                </a:solidFill>
                <a:latin typeface="Arial"/>
                <a:ea typeface="Arial"/>
                <a:cs typeface="Arial"/>
              </a:rPr>
              <a:t>Branching and loops; symbolic checking; stronger external ML evaluation; measured learner outcomes.</a:t>
            </a:r>
          </a:p>
        </p:txBody>
      </p:sp>
      <p:sp>
        <p:nvSpPr>
          <p:cNvPr id="9" name="Rectangle 8">
            <a:extLst>
              <a:ext uri="{FF2B5EF4-FFF2-40B4-BE49-F238E27FC236}">
                <a16:creationId xmlns:a16="http://schemas.microsoft.com/office/drawing/2014/main" id="{9744D634-C38F-4DB7-93F2-37C73A16FC79}"/>
              </a:ext>
            </a:extLst>
          </p:cNvPr>
          <p:cNvSpPr>
            <a:spLocks noGrp="1"/>
          </p:cNvSpPr>
          <p:nvPr/>
        </p:nvSpPr>
        <p:spPr>
          <a:xfrm>
            <a:off x="647700" y="5286375"/>
            <a:ext cx="10572750" cy="714375"/>
          </a:xfrm>
          <a:prstGeom prst="rect">
            <a:avLst/>
          </a:prstGeom>
          <a:noFill/>
          <a:ln w="0">
            <a:noFill/>
          </a:ln>
        </p:spPr>
        <p:txBody>
          <a:bodyPr wrap="square" lIns="0" tIns="0" rIns="0" bIns="0" anchor="t">
            <a:noAutofit/>
          </a:bodyPr>
          <a:lstStyle>
            <a:defPPr>
              <a:defRPr sz="1800" b="0">
                <a:solidFill>
                  <a:srgbClr val="6F7F62"/>
                </a:solidFill>
                <a:latin typeface="Arial"/>
                <a:ea typeface="Arial"/>
                <a:cs typeface="Arial"/>
              </a:defRPr>
            </a:defPPr>
            <a:lvl1pPr>
              <a:buNone/>
              <a:defRPr sz="1800" b="0">
                <a:solidFill>
                  <a:srgbClr val="6F7F62"/>
                </a:solidFill>
                <a:latin typeface="Arial"/>
                <a:ea typeface="Arial"/>
                <a:cs typeface="Arial"/>
              </a:defRPr>
            </a:lvl1pPr>
            <a:lvl2pPr>
              <a:buNone/>
              <a:defRPr sz="1800" b="0">
                <a:solidFill>
                  <a:srgbClr val="6F7F62"/>
                </a:solidFill>
                <a:latin typeface="Arial"/>
                <a:ea typeface="Arial"/>
                <a:cs typeface="Arial"/>
              </a:defRPr>
            </a:lvl2pPr>
            <a:lvl3pPr>
              <a:buNone/>
              <a:defRPr sz="1800" b="0">
                <a:solidFill>
                  <a:srgbClr val="6F7F62"/>
                </a:solidFill>
                <a:latin typeface="Arial"/>
                <a:ea typeface="Arial"/>
                <a:cs typeface="Arial"/>
              </a:defRPr>
            </a:lvl3pPr>
            <a:lvl4pPr>
              <a:buNone/>
              <a:defRPr sz="1800" b="0">
                <a:solidFill>
                  <a:srgbClr val="6F7F62"/>
                </a:solidFill>
                <a:latin typeface="Arial"/>
                <a:ea typeface="Arial"/>
                <a:cs typeface="Arial"/>
              </a:defRPr>
            </a:lvl4pPr>
            <a:lvl5pPr>
              <a:buNone/>
              <a:defRPr sz="1800" b="0">
                <a:solidFill>
                  <a:srgbClr val="6F7F62"/>
                </a:solidFill>
                <a:latin typeface="Arial"/>
                <a:ea typeface="Arial"/>
                <a:cs typeface="Arial"/>
              </a:defRPr>
            </a:lvl5pPr>
            <a:lvl6pPr>
              <a:buNone/>
              <a:defRPr sz="1800" b="0">
                <a:solidFill>
                  <a:srgbClr val="6F7F62"/>
                </a:solidFill>
                <a:latin typeface="Arial"/>
                <a:ea typeface="Arial"/>
                <a:cs typeface="Arial"/>
              </a:defRPr>
            </a:lvl6pPr>
            <a:lvl7pPr>
              <a:buNone/>
              <a:defRPr sz="1800" b="0">
                <a:solidFill>
                  <a:srgbClr val="6F7F62"/>
                </a:solidFill>
                <a:latin typeface="Arial"/>
                <a:ea typeface="Arial"/>
                <a:cs typeface="Arial"/>
              </a:defRPr>
            </a:lvl7pPr>
            <a:lvl8pPr>
              <a:buNone/>
              <a:defRPr sz="1800" b="0">
                <a:solidFill>
                  <a:srgbClr val="6F7F62"/>
                </a:solidFill>
                <a:latin typeface="Arial"/>
                <a:ea typeface="Arial"/>
                <a:cs typeface="Arial"/>
              </a:defRPr>
            </a:lvl8pPr>
            <a:lvl9pPr>
              <a:buNone/>
              <a:defRPr sz="1800" b="0">
                <a:solidFill>
                  <a:srgbClr val="6F7F62"/>
                </a:solidFill>
                <a:latin typeface="Arial"/>
                <a:ea typeface="Arial"/>
                <a:cs typeface="Arial"/>
              </a:defRPr>
            </a:lvl9pPr>
          </a:lstStyle>
          <a:p>
            <a:pPr>
              <a:buNone/>
              <a:defRPr sz="1800" b="0">
                <a:solidFill>
                  <a:srgbClr val="6F7F62"/>
                </a:solidFill>
                <a:latin typeface="Arial"/>
                <a:ea typeface="Arial"/>
                <a:cs typeface="Arial"/>
              </a:defRPr>
            </a:pPr>
            <a:r>
              <a:rPr sz="1800" b="0">
                <a:solidFill>
                  <a:srgbClr val="6F7F62"/>
                </a:solidFill>
                <a:latin typeface="Arial"/>
                <a:ea typeface="Arial"/>
                <a:cs typeface="Arial"/>
              </a:rPr>
              <a:t>The integrated workflow is a research direction. Novelty and publication require broader comparison and evaluation.</a:t>
            </a:r>
          </a:p>
        </p:txBody>
      </p:sp>
    </p:spTree>
    <p:extLst>
      <p:ext uri="{BB962C8B-B14F-4D97-AF65-F5344CB8AC3E}">
        <p14:creationId xmlns:p14="http://schemas.microsoft.com/office/powerpoint/2010/main" val="44258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F9F277-8FB7-4C4A-AD9F-CB1F157F8AC5}"/>
              </a:ext>
            </a:extLst>
          </p:cNvPr>
          <p:cNvSpPr>
            <a:spLocks noGrp="1"/>
          </p:cNvSpPr>
          <p:nvPr/>
        </p:nvSpPr>
        <p:spPr>
          <a:xfrm>
            <a:off x="609600" y="400050"/>
            <a:ext cx="10858500" cy="666750"/>
          </a:xfrm>
          <a:prstGeom prst="rect">
            <a:avLst/>
          </a:prstGeom>
          <a:noFill/>
          <a:ln w="0">
            <a:noFill/>
          </a:ln>
        </p:spPr>
        <p:txBody>
          <a:bodyPr wrap="square" lIns="0" tIns="0" rIns="0" bIns="0" anchor="t">
            <a:noAutofit/>
          </a:bodyPr>
          <a:lstStyle>
            <a:defPPr>
              <a:defRPr sz="3150" b="0">
                <a:solidFill>
                  <a:srgbClr val="344638"/>
                </a:solidFill>
                <a:latin typeface="Georgia"/>
                <a:ea typeface="Georgia"/>
                <a:cs typeface="Georgia"/>
              </a:defRPr>
            </a:defPPr>
            <a:lvl1pPr>
              <a:buNone/>
              <a:defRPr sz="3150" b="0">
                <a:solidFill>
                  <a:srgbClr val="344638"/>
                </a:solidFill>
                <a:latin typeface="Georgia"/>
                <a:ea typeface="Georgia"/>
                <a:cs typeface="Georgia"/>
              </a:defRPr>
            </a:lvl1pPr>
            <a:lvl2pPr>
              <a:buNone/>
              <a:defRPr sz="3150" b="0">
                <a:solidFill>
                  <a:srgbClr val="344638"/>
                </a:solidFill>
                <a:latin typeface="Georgia"/>
                <a:ea typeface="Georgia"/>
                <a:cs typeface="Georgia"/>
              </a:defRPr>
            </a:lvl2pPr>
            <a:lvl3pPr>
              <a:buNone/>
              <a:defRPr sz="3150" b="0">
                <a:solidFill>
                  <a:srgbClr val="344638"/>
                </a:solidFill>
                <a:latin typeface="Georgia"/>
                <a:ea typeface="Georgia"/>
                <a:cs typeface="Georgia"/>
              </a:defRPr>
            </a:lvl3pPr>
            <a:lvl4pPr>
              <a:buNone/>
              <a:defRPr sz="3150" b="0">
                <a:solidFill>
                  <a:srgbClr val="344638"/>
                </a:solidFill>
                <a:latin typeface="Georgia"/>
                <a:ea typeface="Georgia"/>
                <a:cs typeface="Georgia"/>
              </a:defRPr>
            </a:lvl4pPr>
            <a:lvl5pPr>
              <a:buNone/>
              <a:defRPr sz="3150" b="0">
                <a:solidFill>
                  <a:srgbClr val="344638"/>
                </a:solidFill>
                <a:latin typeface="Georgia"/>
                <a:ea typeface="Georgia"/>
                <a:cs typeface="Georgia"/>
              </a:defRPr>
            </a:lvl5pPr>
            <a:lvl6pPr>
              <a:buNone/>
              <a:defRPr sz="3150" b="0">
                <a:solidFill>
                  <a:srgbClr val="344638"/>
                </a:solidFill>
                <a:latin typeface="Georgia"/>
                <a:ea typeface="Georgia"/>
                <a:cs typeface="Georgia"/>
              </a:defRPr>
            </a:lvl6pPr>
            <a:lvl7pPr>
              <a:buNone/>
              <a:defRPr sz="3150" b="0">
                <a:solidFill>
                  <a:srgbClr val="344638"/>
                </a:solidFill>
                <a:latin typeface="Georgia"/>
                <a:ea typeface="Georgia"/>
                <a:cs typeface="Georgia"/>
              </a:defRPr>
            </a:lvl7pPr>
            <a:lvl8pPr>
              <a:buNone/>
              <a:defRPr sz="3150" b="0">
                <a:solidFill>
                  <a:srgbClr val="344638"/>
                </a:solidFill>
                <a:latin typeface="Georgia"/>
                <a:ea typeface="Georgia"/>
                <a:cs typeface="Georgia"/>
              </a:defRPr>
            </a:lvl8pPr>
            <a:lvl9pPr>
              <a:buNone/>
              <a:defRPr sz="3150" b="0">
                <a:solidFill>
                  <a:srgbClr val="344638"/>
                </a:solidFill>
                <a:latin typeface="Georgia"/>
                <a:ea typeface="Georgia"/>
                <a:cs typeface="Georgia"/>
              </a:defRPr>
            </a:lvl9pPr>
          </a:lstStyle>
          <a:p>
            <a:pPr>
              <a:buNone/>
              <a:defRPr sz="3150" b="0">
                <a:solidFill>
                  <a:srgbClr val="344638"/>
                </a:solidFill>
                <a:latin typeface="Georgia"/>
                <a:ea typeface="Georgia"/>
                <a:cs typeface="Georgia"/>
              </a:defRPr>
            </a:pPr>
            <a:r>
              <a:rPr sz="3150" b="0">
                <a:solidFill>
                  <a:srgbClr val="344638"/>
                </a:solidFill>
                <a:latin typeface="Georgia"/>
                <a:ea typeface="Georgia"/>
                <a:cs typeface="Georgia"/>
              </a:rPr>
              <a:t>Demonstration route</a:t>
            </a:r>
          </a:p>
        </p:txBody>
      </p:sp>
      <p:sp>
        <p:nvSpPr>
          <p:cNvPr id="3" name="Rectangle 2">
            <a:extLst>
              <a:ext uri="{FF2B5EF4-FFF2-40B4-BE49-F238E27FC236}">
                <a16:creationId xmlns:a16="http://schemas.microsoft.com/office/drawing/2014/main" id="{4F6F1B37-9BE4-49E0-B130-5B5B6B62B764}"/>
              </a:ext>
            </a:extLst>
          </p:cNvPr>
          <p:cNvSpPr>
            <a:spLocks noGrp="1"/>
          </p:cNvSpPr>
          <p:nvPr/>
        </p:nvSpPr>
        <p:spPr>
          <a:xfrm>
            <a:off x="609600" y="6457950"/>
            <a:ext cx="5715000" cy="20955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optiTAC / Compiler Town</a:t>
            </a:r>
          </a:p>
        </p:txBody>
      </p:sp>
      <p:sp>
        <p:nvSpPr>
          <p:cNvPr id="4" name="Rectangle 3">
            <a:extLst>
              <a:ext uri="{FF2B5EF4-FFF2-40B4-BE49-F238E27FC236}">
                <a16:creationId xmlns:a16="http://schemas.microsoft.com/office/drawing/2014/main" id="{87DCB532-F957-4CA7-A331-C693DAE94DA9}"/>
              </a:ext>
            </a:extLst>
          </p:cNvPr>
          <p:cNvSpPr>
            <a:spLocks noGrp="1"/>
          </p:cNvSpPr>
          <p:nvPr/>
        </p:nvSpPr>
        <p:spPr>
          <a:xfrm>
            <a:off x="10953750" y="6438900"/>
            <a:ext cx="619125" cy="228600"/>
          </a:xfrm>
          <a:prstGeom prst="rect">
            <a:avLst/>
          </a:prstGeom>
          <a:noFill/>
          <a:ln w="0">
            <a:noFill/>
          </a:ln>
        </p:spPr>
        <p:txBody>
          <a:bodyPr wrap="square" lIns="0" tIns="0" rIns="0" bIns="0" anchor="t">
            <a:noAutofit/>
          </a:bodyPr>
          <a:lstStyle>
            <a:defPPr>
              <a:defRPr sz="1050" b="0">
                <a:solidFill>
                  <a:srgbClr val="6F7F62"/>
                </a:solidFill>
                <a:latin typeface="Arial"/>
                <a:ea typeface="Arial"/>
                <a:cs typeface="Arial"/>
              </a:defRPr>
            </a:defPPr>
            <a:lvl1pPr>
              <a:buNone/>
              <a:defRPr sz="1050" b="0">
                <a:solidFill>
                  <a:srgbClr val="6F7F62"/>
                </a:solidFill>
                <a:latin typeface="Arial"/>
                <a:ea typeface="Arial"/>
                <a:cs typeface="Arial"/>
              </a:defRPr>
            </a:lvl1pPr>
            <a:lvl2pPr>
              <a:buNone/>
              <a:defRPr sz="1050" b="0">
                <a:solidFill>
                  <a:srgbClr val="6F7F62"/>
                </a:solidFill>
                <a:latin typeface="Arial"/>
                <a:ea typeface="Arial"/>
                <a:cs typeface="Arial"/>
              </a:defRPr>
            </a:lvl2pPr>
            <a:lvl3pPr>
              <a:buNone/>
              <a:defRPr sz="1050" b="0">
                <a:solidFill>
                  <a:srgbClr val="6F7F62"/>
                </a:solidFill>
                <a:latin typeface="Arial"/>
                <a:ea typeface="Arial"/>
                <a:cs typeface="Arial"/>
              </a:defRPr>
            </a:lvl3pPr>
            <a:lvl4pPr>
              <a:buNone/>
              <a:defRPr sz="1050" b="0">
                <a:solidFill>
                  <a:srgbClr val="6F7F62"/>
                </a:solidFill>
                <a:latin typeface="Arial"/>
                <a:ea typeface="Arial"/>
                <a:cs typeface="Arial"/>
              </a:defRPr>
            </a:lvl4pPr>
            <a:lvl5pPr>
              <a:buNone/>
              <a:defRPr sz="1050" b="0">
                <a:solidFill>
                  <a:srgbClr val="6F7F62"/>
                </a:solidFill>
                <a:latin typeface="Arial"/>
                <a:ea typeface="Arial"/>
                <a:cs typeface="Arial"/>
              </a:defRPr>
            </a:lvl5pPr>
            <a:lvl6pPr>
              <a:buNone/>
              <a:defRPr sz="1050" b="0">
                <a:solidFill>
                  <a:srgbClr val="6F7F62"/>
                </a:solidFill>
                <a:latin typeface="Arial"/>
                <a:ea typeface="Arial"/>
                <a:cs typeface="Arial"/>
              </a:defRPr>
            </a:lvl6pPr>
            <a:lvl7pPr>
              <a:buNone/>
              <a:defRPr sz="1050" b="0">
                <a:solidFill>
                  <a:srgbClr val="6F7F62"/>
                </a:solidFill>
                <a:latin typeface="Arial"/>
                <a:ea typeface="Arial"/>
                <a:cs typeface="Arial"/>
              </a:defRPr>
            </a:lvl7pPr>
            <a:lvl8pPr>
              <a:buNone/>
              <a:defRPr sz="1050" b="0">
                <a:solidFill>
                  <a:srgbClr val="6F7F62"/>
                </a:solidFill>
                <a:latin typeface="Arial"/>
                <a:ea typeface="Arial"/>
                <a:cs typeface="Arial"/>
              </a:defRPr>
            </a:lvl8pPr>
            <a:lvl9pPr>
              <a:buNone/>
              <a:defRPr sz="1050" b="0">
                <a:solidFill>
                  <a:srgbClr val="6F7F62"/>
                </a:solidFill>
                <a:latin typeface="Arial"/>
                <a:ea typeface="Arial"/>
                <a:cs typeface="Arial"/>
              </a:defRPr>
            </a:lvl9pPr>
          </a:lstStyle>
          <a:p>
            <a:pPr>
              <a:buNone/>
              <a:defRPr sz="1050" b="0">
                <a:solidFill>
                  <a:srgbClr val="6F7F62"/>
                </a:solidFill>
                <a:latin typeface="Arial"/>
                <a:ea typeface="Arial"/>
                <a:cs typeface="Arial"/>
              </a:defRPr>
            </a:pPr>
            <a:r>
              <a:rPr sz="1050" b="0">
                <a:solidFill>
                  <a:srgbClr val="6F7F62"/>
                </a:solidFill>
                <a:latin typeface="Arial"/>
                <a:ea typeface="Arial"/>
                <a:cs typeface="Arial"/>
              </a:rPr>
              <a:t>19</a:t>
            </a:r>
          </a:p>
        </p:txBody>
      </p:sp>
      <p:sp>
        <p:nvSpPr>
          <p:cNvPr id="5" name="Rectangle 4">
            <a:extLst>
              <a:ext uri="{FF2B5EF4-FFF2-40B4-BE49-F238E27FC236}">
                <a16:creationId xmlns:a16="http://schemas.microsoft.com/office/drawing/2014/main" id="{8AA58BC0-6B69-44CB-B3A1-88F141579369}"/>
              </a:ext>
            </a:extLst>
          </p:cNvPr>
          <p:cNvSpPr>
            <a:spLocks noGrp="1"/>
          </p:cNvSpPr>
          <p:nvPr/>
        </p:nvSpPr>
        <p:spPr>
          <a:xfrm>
            <a:off x="647700" y="1447800"/>
            <a:ext cx="10668000" cy="857250"/>
          </a:xfrm>
          <a:prstGeom prst="rect">
            <a:avLst/>
          </a:prstGeom>
          <a:noFill/>
          <a:ln w="0">
            <a:noFill/>
          </a:ln>
        </p:spPr>
        <p:txBody>
          <a:bodyPr wrap="square" lIns="0" tIns="0" rIns="0" bIns="0" anchor="t">
            <a:noAutofit/>
          </a:bodyPr>
          <a:lstStyle>
            <a:defPPr>
              <a:defRPr sz="3900" b="0">
                <a:solidFill>
                  <a:srgbClr val="344638"/>
                </a:solidFill>
                <a:latin typeface="Consolas"/>
                <a:ea typeface="Consolas"/>
                <a:cs typeface="Consolas"/>
              </a:defRPr>
            </a:defPPr>
            <a:lvl1pPr>
              <a:buNone/>
              <a:defRPr sz="3900" b="0">
                <a:solidFill>
                  <a:srgbClr val="344638"/>
                </a:solidFill>
                <a:latin typeface="Consolas"/>
                <a:ea typeface="Consolas"/>
                <a:cs typeface="Consolas"/>
              </a:defRPr>
            </a:lvl1pPr>
            <a:lvl2pPr>
              <a:buNone/>
              <a:defRPr sz="3900" b="0">
                <a:solidFill>
                  <a:srgbClr val="344638"/>
                </a:solidFill>
                <a:latin typeface="Consolas"/>
                <a:ea typeface="Consolas"/>
                <a:cs typeface="Consolas"/>
              </a:defRPr>
            </a:lvl2pPr>
            <a:lvl3pPr>
              <a:buNone/>
              <a:defRPr sz="3900" b="0">
                <a:solidFill>
                  <a:srgbClr val="344638"/>
                </a:solidFill>
                <a:latin typeface="Consolas"/>
                <a:ea typeface="Consolas"/>
                <a:cs typeface="Consolas"/>
              </a:defRPr>
            </a:lvl3pPr>
            <a:lvl4pPr>
              <a:buNone/>
              <a:defRPr sz="3900" b="0">
                <a:solidFill>
                  <a:srgbClr val="344638"/>
                </a:solidFill>
                <a:latin typeface="Consolas"/>
                <a:ea typeface="Consolas"/>
                <a:cs typeface="Consolas"/>
              </a:defRPr>
            </a:lvl4pPr>
            <a:lvl5pPr>
              <a:buNone/>
              <a:defRPr sz="3900" b="0">
                <a:solidFill>
                  <a:srgbClr val="344638"/>
                </a:solidFill>
                <a:latin typeface="Consolas"/>
                <a:ea typeface="Consolas"/>
                <a:cs typeface="Consolas"/>
              </a:defRPr>
            </a:lvl5pPr>
            <a:lvl6pPr>
              <a:buNone/>
              <a:defRPr sz="3900" b="0">
                <a:solidFill>
                  <a:srgbClr val="344638"/>
                </a:solidFill>
                <a:latin typeface="Consolas"/>
                <a:ea typeface="Consolas"/>
                <a:cs typeface="Consolas"/>
              </a:defRPr>
            </a:lvl6pPr>
            <a:lvl7pPr>
              <a:buNone/>
              <a:defRPr sz="3900" b="0">
                <a:solidFill>
                  <a:srgbClr val="344638"/>
                </a:solidFill>
                <a:latin typeface="Consolas"/>
                <a:ea typeface="Consolas"/>
                <a:cs typeface="Consolas"/>
              </a:defRPr>
            </a:lvl7pPr>
            <a:lvl8pPr>
              <a:buNone/>
              <a:defRPr sz="3900" b="0">
                <a:solidFill>
                  <a:srgbClr val="344638"/>
                </a:solidFill>
                <a:latin typeface="Consolas"/>
                <a:ea typeface="Consolas"/>
                <a:cs typeface="Consolas"/>
              </a:defRPr>
            </a:lvl8pPr>
            <a:lvl9pPr>
              <a:buNone/>
              <a:defRPr sz="3900" b="0">
                <a:solidFill>
                  <a:srgbClr val="344638"/>
                </a:solidFill>
                <a:latin typeface="Consolas"/>
                <a:ea typeface="Consolas"/>
                <a:cs typeface="Consolas"/>
              </a:defRPr>
            </a:lvl9pPr>
          </a:lstStyle>
          <a:p>
            <a:pPr>
              <a:buNone/>
              <a:defRPr sz="3900" b="0">
                <a:solidFill>
                  <a:srgbClr val="344638"/>
                </a:solidFill>
                <a:latin typeface="Consolas"/>
                <a:ea typeface="Consolas"/>
                <a:cs typeface="Consolas"/>
              </a:defRPr>
            </a:pPr>
            <a:r>
              <a:rPr sz="3900" b="0">
                <a:solidFill>
                  <a:srgbClr val="344638"/>
                </a:solidFill>
                <a:latin typeface="Consolas"/>
                <a:ea typeface="Consolas"/>
                <a:cs typeface="Consolas"/>
              </a:rPr>
              <a:t>npm run dev</a:t>
            </a:r>
          </a:p>
        </p:txBody>
      </p:sp>
      <p:sp>
        <p:nvSpPr>
          <p:cNvPr id="6" name="Rectangle 5">
            <a:extLst>
              <a:ext uri="{FF2B5EF4-FFF2-40B4-BE49-F238E27FC236}">
                <a16:creationId xmlns:a16="http://schemas.microsoft.com/office/drawing/2014/main" id="{3B359509-6FC9-4559-9109-09DDD2CA71C3}"/>
              </a:ext>
            </a:extLst>
          </p:cNvPr>
          <p:cNvSpPr>
            <a:spLocks noGrp="1"/>
          </p:cNvSpPr>
          <p:nvPr/>
        </p:nvSpPr>
        <p:spPr>
          <a:xfrm>
            <a:off x="685800" y="2895600"/>
            <a:ext cx="10477500" cy="714375"/>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Market order → visit the frontend shops → replay the pipeline</a:t>
            </a:r>
          </a:p>
        </p:txBody>
      </p:sp>
      <p:sp>
        <p:nvSpPr>
          <p:cNvPr id="7" name="Rectangle 6">
            <a:extLst>
              <a:ext uri="{FF2B5EF4-FFF2-40B4-BE49-F238E27FC236}">
                <a16:creationId xmlns:a16="http://schemas.microsoft.com/office/drawing/2014/main" id="{5A903E22-A70A-46C7-AE1E-ED77A9C96C0B}"/>
              </a:ext>
            </a:extLst>
          </p:cNvPr>
          <p:cNvSpPr>
            <a:spLocks noGrp="1"/>
          </p:cNvSpPr>
          <p:nvPr/>
        </p:nvSpPr>
        <p:spPr>
          <a:xfrm>
            <a:off x="685800" y="3781425"/>
            <a:ext cx="10477500" cy="714375"/>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Repair Garage → inspect intermediate logs → ask the ML scout</a:t>
            </a:r>
          </a:p>
        </p:txBody>
      </p:sp>
      <p:sp>
        <p:nvSpPr>
          <p:cNvPr id="8" name="Rectangle 7">
            <a:extLst>
              <a:ext uri="{FF2B5EF4-FFF2-40B4-BE49-F238E27FC236}">
                <a16:creationId xmlns:a16="http://schemas.microsoft.com/office/drawing/2014/main" id="{26004784-556B-4984-8827-8620492B81B4}"/>
              </a:ext>
            </a:extLst>
          </p:cNvPr>
          <p:cNvSpPr>
            <a:spLocks noGrp="1"/>
          </p:cNvSpPr>
          <p:nvPr/>
        </p:nvSpPr>
        <p:spPr>
          <a:xfrm>
            <a:off x="685800" y="4667250"/>
            <a:ext cx="10477500" cy="714375"/>
          </a:xfrm>
          <a:prstGeom prst="rect">
            <a:avLst/>
          </a:prstGeom>
          <a:noFill/>
          <a:ln w="0">
            <a:noFill/>
          </a:ln>
        </p:spPr>
        <p:txBody>
          <a:bodyPr wrap="square" lIns="0" tIns="0" rIns="0" bIns="0" anchor="t">
            <a:noAutofit/>
          </a:bodyPr>
          <a:lstStyle>
            <a:defPPr>
              <a:defRPr sz="2100" b="0">
                <a:solidFill>
                  <a:srgbClr val="344638"/>
                </a:solidFill>
                <a:latin typeface="Arial"/>
                <a:ea typeface="Arial"/>
                <a:cs typeface="Arial"/>
              </a:defRPr>
            </a:defPPr>
            <a:lvl1pPr>
              <a:buNone/>
              <a:defRPr sz="2100" b="0">
                <a:solidFill>
                  <a:srgbClr val="344638"/>
                </a:solidFill>
                <a:latin typeface="Arial"/>
                <a:ea typeface="Arial"/>
                <a:cs typeface="Arial"/>
              </a:defRPr>
            </a:lvl1pPr>
            <a:lvl2pPr>
              <a:buNone/>
              <a:defRPr sz="2100" b="0">
                <a:solidFill>
                  <a:srgbClr val="344638"/>
                </a:solidFill>
                <a:latin typeface="Arial"/>
                <a:ea typeface="Arial"/>
                <a:cs typeface="Arial"/>
              </a:defRPr>
            </a:lvl2pPr>
            <a:lvl3pPr>
              <a:buNone/>
              <a:defRPr sz="2100" b="0">
                <a:solidFill>
                  <a:srgbClr val="344638"/>
                </a:solidFill>
                <a:latin typeface="Arial"/>
                <a:ea typeface="Arial"/>
                <a:cs typeface="Arial"/>
              </a:defRPr>
            </a:lvl3pPr>
            <a:lvl4pPr>
              <a:buNone/>
              <a:defRPr sz="2100" b="0">
                <a:solidFill>
                  <a:srgbClr val="344638"/>
                </a:solidFill>
                <a:latin typeface="Arial"/>
                <a:ea typeface="Arial"/>
                <a:cs typeface="Arial"/>
              </a:defRPr>
            </a:lvl4pPr>
            <a:lvl5pPr>
              <a:buNone/>
              <a:defRPr sz="2100" b="0">
                <a:solidFill>
                  <a:srgbClr val="344638"/>
                </a:solidFill>
                <a:latin typeface="Arial"/>
                <a:ea typeface="Arial"/>
                <a:cs typeface="Arial"/>
              </a:defRPr>
            </a:lvl5pPr>
            <a:lvl6pPr>
              <a:buNone/>
              <a:defRPr sz="2100" b="0">
                <a:solidFill>
                  <a:srgbClr val="344638"/>
                </a:solidFill>
                <a:latin typeface="Arial"/>
                <a:ea typeface="Arial"/>
                <a:cs typeface="Arial"/>
              </a:defRPr>
            </a:lvl6pPr>
            <a:lvl7pPr>
              <a:buNone/>
              <a:defRPr sz="2100" b="0">
                <a:solidFill>
                  <a:srgbClr val="344638"/>
                </a:solidFill>
                <a:latin typeface="Arial"/>
                <a:ea typeface="Arial"/>
                <a:cs typeface="Arial"/>
              </a:defRPr>
            </a:lvl7pPr>
            <a:lvl8pPr>
              <a:buNone/>
              <a:defRPr sz="2100" b="0">
                <a:solidFill>
                  <a:srgbClr val="344638"/>
                </a:solidFill>
                <a:latin typeface="Arial"/>
                <a:ea typeface="Arial"/>
                <a:cs typeface="Arial"/>
              </a:defRPr>
            </a:lvl8pPr>
            <a:lvl9pPr>
              <a:buNone/>
              <a:defRPr sz="2100" b="0">
                <a:solidFill>
                  <a:srgbClr val="344638"/>
                </a:solidFill>
                <a:latin typeface="Arial"/>
                <a:ea typeface="Arial"/>
                <a:cs typeface="Arial"/>
              </a:defRPr>
            </a:lvl9pPr>
          </a:lstStyle>
          <a:p>
            <a:pPr>
              <a:buNone/>
              <a:defRPr sz="2100" b="0">
                <a:solidFill>
                  <a:srgbClr val="344638"/>
                </a:solidFill>
                <a:latin typeface="Arial"/>
                <a:ea typeface="Arial"/>
                <a:cs typeface="Arial"/>
              </a:defRPr>
            </a:pPr>
            <a:r>
              <a:rPr sz="2100" b="0">
                <a:solidFill>
                  <a:srgbClr val="344638"/>
                </a:solidFill>
                <a:latin typeface="Arial"/>
                <a:ea typeface="Arial"/>
                <a:cs typeface="Arial"/>
              </a:rPr>
              <a:t>Hidden trap → preserve the runtime error → export the evidence</a:t>
            </a:r>
          </a:p>
        </p:txBody>
      </p:sp>
      <p:sp>
        <p:nvSpPr>
          <p:cNvPr id="9" name="Rectangle 8">
            <a:extLst>
              <a:ext uri="{FF2B5EF4-FFF2-40B4-BE49-F238E27FC236}">
                <a16:creationId xmlns:a16="http://schemas.microsoft.com/office/drawing/2014/main" id="{D1305AAA-E134-4D70-8C2D-FEE139F0039E}"/>
              </a:ext>
            </a:extLst>
          </p:cNvPr>
          <p:cNvSpPr>
            <a:spLocks noGrp="1"/>
          </p:cNvSpPr>
          <p:nvPr/>
        </p:nvSpPr>
        <p:spPr>
          <a:xfrm>
            <a:off x="685800" y="5753100"/>
            <a:ext cx="9525000" cy="428625"/>
          </a:xfrm>
          <a:prstGeom prst="rect">
            <a:avLst/>
          </a:prstGeom>
          <a:noFill/>
          <a:ln w="0">
            <a:noFill/>
          </a:ln>
        </p:spPr>
        <p:txBody>
          <a:bodyPr wrap="square" lIns="0" tIns="0" rIns="0" bIns="0" anchor="t">
            <a:noAutofit/>
          </a:bodyPr>
          <a:lstStyle>
            <a:defPPr>
              <a:defRPr sz="2175" b="0">
                <a:solidFill>
                  <a:srgbClr val="344638"/>
                </a:solidFill>
                <a:latin typeface="Georgia"/>
                <a:ea typeface="Georgia"/>
                <a:cs typeface="Georgia"/>
              </a:defRPr>
            </a:defPPr>
            <a:lvl1pPr>
              <a:buNone/>
              <a:defRPr sz="2175" b="0">
                <a:solidFill>
                  <a:srgbClr val="344638"/>
                </a:solidFill>
                <a:latin typeface="Georgia"/>
                <a:ea typeface="Georgia"/>
                <a:cs typeface="Georgia"/>
              </a:defRPr>
            </a:lvl1pPr>
            <a:lvl2pPr>
              <a:buNone/>
              <a:defRPr sz="2175" b="0">
                <a:solidFill>
                  <a:srgbClr val="344638"/>
                </a:solidFill>
                <a:latin typeface="Georgia"/>
                <a:ea typeface="Georgia"/>
                <a:cs typeface="Georgia"/>
              </a:defRPr>
            </a:lvl2pPr>
            <a:lvl3pPr>
              <a:buNone/>
              <a:defRPr sz="2175" b="0">
                <a:solidFill>
                  <a:srgbClr val="344638"/>
                </a:solidFill>
                <a:latin typeface="Georgia"/>
                <a:ea typeface="Georgia"/>
                <a:cs typeface="Georgia"/>
              </a:defRPr>
            </a:lvl3pPr>
            <a:lvl4pPr>
              <a:buNone/>
              <a:defRPr sz="2175" b="0">
                <a:solidFill>
                  <a:srgbClr val="344638"/>
                </a:solidFill>
                <a:latin typeface="Georgia"/>
                <a:ea typeface="Georgia"/>
                <a:cs typeface="Georgia"/>
              </a:defRPr>
            </a:lvl4pPr>
            <a:lvl5pPr>
              <a:buNone/>
              <a:defRPr sz="2175" b="0">
                <a:solidFill>
                  <a:srgbClr val="344638"/>
                </a:solidFill>
                <a:latin typeface="Georgia"/>
                <a:ea typeface="Georgia"/>
                <a:cs typeface="Georgia"/>
              </a:defRPr>
            </a:lvl5pPr>
            <a:lvl6pPr>
              <a:buNone/>
              <a:defRPr sz="2175" b="0">
                <a:solidFill>
                  <a:srgbClr val="344638"/>
                </a:solidFill>
                <a:latin typeface="Georgia"/>
                <a:ea typeface="Georgia"/>
                <a:cs typeface="Georgia"/>
              </a:defRPr>
            </a:lvl6pPr>
            <a:lvl7pPr>
              <a:buNone/>
              <a:defRPr sz="2175" b="0">
                <a:solidFill>
                  <a:srgbClr val="344638"/>
                </a:solidFill>
                <a:latin typeface="Georgia"/>
                <a:ea typeface="Georgia"/>
                <a:cs typeface="Georgia"/>
              </a:defRPr>
            </a:lvl7pPr>
            <a:lvl8pPr>
              <a:buNone/>
              <a:defRPr sz="2175" b="0">
                <a:solidFill>
                  <a:srgbClr val="344638"/>
                </a:solidFill>
                <a:latin typeface="Georgia"/>
                <a:ea typeface="Georgia"/>
                <a:cs typeface="Georgia"/>
              </a:defRPr>
            </a:lvl8pPr>
            <a:lvl9pPr>
              <a:buNone/>
              <a:defRPr sz="2175" b="0">
                <a:solidFill>
                  <a:srgbClr val="344638"/>
                </a:solidFill>
                <a:latin typeface="Georgia"/>
                <a:ea typeface="Georgia"/>
                <a:cs typeface="Georgia"/>
              </a:defRPr>
            </a:lvl9pPr>
          </a:lstStyle>
          <a:p>
            <a:pPr>
              <a:buNone/>
              <a:defRPr sz="2175" b="0">
                <a:solidFill>
                  <a:srgbClr val="344638"/>
                </a:solidFill>
                <a:latin typeface="Georgia"/>
                <a:ea typeface="Georgia"/>
                <a:cs typeface="Georgia"/>
              </a:defRPr>
            </a:pPr>
            <a:endParaRPr sz="2175" b="0" dirty="0">
              <a:solidFill>
                <a:srgbClr val="344638"/>
              </a:solidFill>
              <a:latin typeface="Georgia"/>
              <a:ea typeface="Georgia"/>
              <a:cs typeface="Georgia"/>
            </a:endParaRPr>
          </a:p>
        </p:txBody>
      </p:sp>
    </p:spTree>
    <p:extLst>
      <p:ext uri="{BB962C8B-B14F-4D97-AF65-F5344CB8AC3E}">
        <p14:creationId xmlns:p14="http://schemas.microsoft.com/office/powerpoint/2010/main" val="701091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1778</Words>
  <Application>Microsoft Office PowerPoint</Application>
  <DocSecurity>0</DocSecurity>
  <PresentationFormat>Widescreen</PresentationFormat>
  <Paragraphs>171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Consolas</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Archit Nigam</cp:lastModifiedBy>
  <cp:revision>2</cp:revision>
  <dcterms:created xsi:type="dcterms:W3CDTF">2026-10-23T16:34:18Z</dcterms:created>
  <dcterms:modified xsi:type="dcterms:W3CDTF">2026-10-23T18:30:39Z</dcterms:modified>
</cp:coreProperties>
</file>